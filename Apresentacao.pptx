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18288000" cy="10287000"/>
  <p:notesSz cx="6858000" cy="9144000"/>
  <p:embeddedFontLst>
    <p:embeddedFont>
      <p:font typeface="Anton" charset="1" panose="00000500000000000000"/>
      <p:regular r:id="rId48"/>
    </p:embeddedFont>
    <p:embeddedFont>
      <p:font typeface="Montserrat Bold" charset="1" panose="00000800000000000000"/>
      <p:regular r:id="rId49"/>
    </p:embeddedFont>
    <p:embeddedFont>
      <p:font typeface="Montserrat" charset="1" panose="00000500000000000000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4716"/>
            <a:ext cx="13111953" cy="7435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13"/>
              </a:lnSpc>
            </a:pPr>
            <a:r>
              <a:rPr lang="en-US" sz="2058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ARQUITETURA</a:t>
            </a:r>
          </a:p>
          <a:p>
            <a:pPr algn="l">
              <a:lnSpc>
                <a:spcPts val="28413"/>
              </a:lnSpc>
            </a:pPr>
            <a:r>
              <a:rPr lang="en-US" sz="2058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 SOFTWARE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92392" y="7673588"/>
            <a:ext cx="2917543" cy="12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8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GABRIEL NUNES</a:t>
            </a:r>
          </a:p>
          <a:p>
            <a:pPr algn="l">
              <a:lnSpc>
                <a:spcPts val="3448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JOÃO PEDRO</a:t>
            </a:r>
          </a:p>
          <a:p>
            <a:pPr algn="l">
              <a:lnSpc>
                <a:spcPts val="3448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4879" y="185366"/>
            <a:ext cx="6501346" cy="269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4"/>
              </a:lnSpc>
            </a:pPr>
            <a:r>
              <a:rPr lang="en-US" sz="1356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DEFINIÇÃO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15900" y="3480921"/>
            <a:ext cx="5587241" cy="1095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6"/>
              </a:lnSpc>
            </a:pPr>
            <a:r>
              <a:rPr lang="en-US" sz="2988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IEEE (Standard 1471/ISO/IEC</a:t>
            </a:r>
          </a:p>
          <a:p>
            <a:pPr algn="ctr">
              <a:lnSpc>
                <a:spcPts val="4126"/>
              </a:lnSpc>
            </a:pPr>
            <a:r>
              <a:rPr lang="en-US" sz="2988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42010):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2228" y="4723238"/>
            <a:ext cx="7327106" cy="679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7"/>
              </a:lnSpc>
            </a:pPr>
            <a:r>
              <a:rPr lang="en-US" sz="360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organização fundamental 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2880" y="5375186"/>
            <a:ext cx="8193281" cy="3197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360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um sistema, consubstanciada em seus componentes, nas relações entre eles e com o ambiente, e nos princípios que orientam sua concepção e evolução.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17208" y="5441956"/>
            <a:ext cx="7785192" cy="2603925"/>
            <a:chOff x="0" y="0"/>
            <a:chExt cx="10380256" cy="34719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80345" cy="3471799"/>
            </a:xfrm>
            <a:custGeom>
              <a:avLst/>
              <a:gdLst/>
              <a:ahLst/>
              <a:cxnLst/>
              <a:rect r="r" b="b" t="t" l="l"/>
              <a:pathLst>
                <a:path h="3471799" w="10380345">
                  <a:moveTo>
                    <a:pt x="511429" y="0"/>
                  </a:moveTo>
                  <a:lnTo>
                    <a:pt x="9868789" y="0"/>
                  </a:lnTo>
                  <a:cubicBezTo>
                    <a:pt x="10004425" y="0"/>
                    <a:pt x="10134473" y="53848"/>
                    <a:pt x="10230485" y="149860"/>
                  </a:cubicBezTo>
                  <a:cubicBezTo>
                    <a:pt x="10326497" y="245872"/>
                    <a:pt x="10380345" y="375920"/>
                    <a:pt x="10380345" y="511556"/>
                  </a:cubicBezTo>
                  <a:lnTo>
                    <a:pt x="10380345" y="2960370"/>
                  </a:lnTo>
                  <a:cubicBezTo>
                    <a:pt x="10380345" y="3242818"/>
                    <a:pt x="10151364" y="3471799"/>
                    <a:pt x="9868916" y="3471799"/>
                  </a:cubicBezTo>
                  <a:lnTo>
                    <a:pt x="511429" y="3471799"/>
                  </a:lnTo>
                  <a:cubicBezTo>
                    <a:pt x="228981" y="3471926"/>
                    <a:pt x="0" y="3242945"/>
                    <a:pt x="0" y="2960370"/>
                  </a:cubicBezTo>
                  <a:lnTo>
                    <a:pt x="0" y="511429"/>
                  </a:lnTo>
                  <a:cubicBezTo>
                    <a:pt x="0" y="228981"/>
                    <a:pt x="228981" y="0"/>
                    <a:pt x="51142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103548" y="1790529"/>
            <a:ext cx="6491173" cy="2159079"/>
            <a:chOff x="0" y="0"/>
            <a:chExt cx="8654898" cy="28787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54924" cy="2878709"/>
            </a:xfrm>
            <a:custGeom>
              <a:avLst/>
              <a:gdLst/>
              <a:ahLst/>
              <a:cxnLst/>
              <a:rect r="r" b="b" t="t" l="l"/>
              <a:pathLst>
                <a:path h="2878709" w="8654924">
                  <a:moveTo>
                    <a:pt x="511429" y="0"/>
                  </a:moveTo>
                  <a:lnTo>
                    <a:pt x="8143367" y="0"/>
                  </a:lnTo>
                  <a:cubicBezTo>
                    <a:pt x="8279003" y="0"/>
                    <a:pt x="8409051" y="53848"/>
                    <a:pt x="8505063" y="149860"/>
                  </a:cubicBezTo>
                  <a:cubicBezTo>
                    <a:pt x="8601075" y="245872"/>
                    <a:pt x="8654924" y="375920"/>
                    <a:pt x="8654924" y="511556"/>
                  </a:cubicBezTo>
                  <a:lnTo>
                    <a:pt x="8654924" y="2367280"/>
                  </a:lnTo>
                  <a:cubicBezTo>
                    <a:pt x="8654924" y="2649728"/>
                    <a:pt x="8425942" y="2878709"/>
                    <a:pt x="8143494" y="2878709"/>
                  </a:cubicBezTo>
                  <a:lnTo>
                    <a:pt x="511429" y="2878709"/>
                  </a:lnTo>
                  <a:cubicBezTo>
                    <a:pt x="375793" y="2878709"/>
                    <a:pt x="245745" y="2824861"/>
                    <a:pt x="149733" y="2728849"/>
                  </a:cubicBezTo>
                  <a:cubicBezTo>
                    <a:pt x="53721" y="2632837"/>
                    <a:pt x="0" y="2502916"/>
                    <a:pt x="0" y="2367280"/>
                  </a:cubicBezTo>
                  <a:lnTo>
                    <a:pt x="0" y="511429"/>
                  </a:lnTo>
                  <a:cubicBezTo>
                    <a:pt x="0" y="375793"/>
                    <a:pt x="53848" y="245745"/>
                    <a:pt x="149860" y="149860"/>
                  </a:cubicBezTo>
                  <a:cubicBezTo>
                    <a:pt x="245872" y="53975"/>
                    <a:pt x="375793" y="0"/>
                    <a:pt x="51142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070344" y="1965208"/>
            <a:ext cx="6341126" cy="173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conceito de Arquitetura de Software surgiu nos anos 60 (com Dijkstra), mas se tornou popular nos anos 90.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70344" y="5624751"/>
            <a:ext cx="7278986" cy="216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Arquitetura de software é a forma como um sistema é organizado: quais são suas partes, como essas partes se conectam e interagem, e quais regras orientam a criação e as mudanças desse sistema.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19544" y="5143500"/>
            <a:ext cx="6029325" cy="4791075"/>
            <a:chOff x="0" y="0"/>
            <a:chExt cx="8039100" cy="638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39100" cy="6388100"/>
            </a:xfrm>
            <a:custGeom>
              <a:avLst/>
              <a:gdLst/>
              <a:ahLst/>
              <a:cxnLst/>
              <a:rect r="r" b="b" t="t" l="l"/>
              <a:pathLst>
                <a:path h="6388100" w="8039100">
                  <a:moveTo>
                    <a:pt x="0" y="0"/>
                  </a:moveTo>
                  <a:lnTo>
                    <a:pt x="8039100" y="0"/>
                  </a:lnTo>
                  <a:lnTo>
                    <a:pt x="8039100" y="6388100"/>
                  </a:lnTo>
                  <a:lnTo>
                    <a:pt x="0" y="638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1" t="0" r="-8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92213" y="214065"/>
            <a:ext cx="14193155" cy="313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72"/>
              </a:lnSpc>
            </a:pPr>
            <a:r>
              <a:rPr lang="en-US" sz="8355">
                <a:solidFill>
                  <a:srgbClr val="F5E8C7"/>
                </a:solidFill>
                <a:latin typeface="Anton"/>
                <a:ea typeface="Anton"/>
                <a:cs typeface="Anton"/>
                <a:sym typeface="Anton"/>
              </a:rPr>
              <a:t>QUAL É O OBJETIVO DA ARQUITETURA</a:t>
            </a:r>
          </a:p>
          <a:p>
            <a:pPr algn="l">
              <a:lnSpc>
                <a:spcPts val="11672"/>
              </a:lnSpc>
            </a:pPr>
            <a:r>
              <a:rPr lang="en-US" sz="8355">
                <a:solidFill>
                  <a:srgbClr val="F5E8C7"/>
                </a:solidFill>
                <a:latin typeface="Anton"/>
                <a:ea typeface="Anton"/>
                <a:cs typeface="Anton"/>
                <a:sym typeface="Anton"/>
              </a:rPr>
              <a:t>DE SOFTWARE?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2213" y="3455499"/>
            <a:ext cx="14302349" cy="60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3"/>
              </a:lnSpc>
            </a:pPr>
            <a:r>
              <a:rPr lang="en-US" sz="3501">
                <a:solidFill>
                  <a:srgbClr val="F5E8C7"/>
                </a:solidFill>
                <a:latin typeface="Montserrat"/>
                <a:ea typeface="Montserrat"/>
                <a:cs typeface="Montserrat"/>
                <a:sym typeface="Montserrat"/>
              </a:rPr>
              <a:t>A arquitetura de software tem como principal objetivo definir 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2213" y="4091083"/>
            <a:ext cx="13889069" cy="120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3501">
                <a:solidFill>
                  <a:srgbClr val="F5E8C7"/>
                </a:solidFill>
                <a:latin typeface="Montserrat"/>
                <a:ea typeface="Montserrat"/>
                <a:cs typeface="Montserrat"/>
                <a:sym typeface="Montserrat"/>
              </a:rPr>
              <a:t>estrutura e o comportamento de um sistema e, a partir disso, assegurar que ele maximize indicadores de: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266469"/>
            <a:ext cx="5570953" cy="2991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41"/>
              </a:lnSpc>
            </a:pPr>
            <a:r>
              <a:rPr lang="en-US" b="true" sz="5501" spc="5">
                <a:solidFill>
                  <a:srgbClr val="F5E8C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Desempenho; Segurança; Escalabilidade.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6845" y="-560260"/>
            <a:ext cx="18732541" cy="11522345"/>
          </a:xfrm>
          <a:custGeom>
            <a:avLst/>
            <a:gdLst/>
            <a:ahLst/>
            <a:cxnLst/>
            <a:rect r="r" b="b" t="t" l="l"/>
            <a:pathLst>
              <a:path h="11522345" w="18732541">
                <a:moveTo>
                  <a:pt x="0" y="0"/>
                </a:moveTo>
                <a:lnTo>
                  <a:pt x="18732541" y="0"/>
                </a:lnTo>
                <a:lnTo>
                  <a:pt x="18732541" y="11522344"/>
                </a:lnTo>
                <a:lnTo>
                  <a:pt x="0" y="11522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" r="0" b="-4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40405" y="943604"/>
            <a:ext cx="12791532" cy="2798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46"/>
              </a:lnSpc>
            </a:pPr>
            <a:r>
              <a:rPr lang="en-US" sz="3116" b="true">
                <a:solidFill>
                  <a:srgbClr val="F5E8C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Um sistema de software possui muitos stakeholders (partes interessadas), com diferentes funções e interesses em relação a esse sistema. Esses diferentes interesses são chamados de concerns (preocupações), seguindo o conceito de “separação de preocupações” de Dijkstra.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12101" y="5107238"/>
            <a:ext cx="15030679" cy="8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0"/>
              </a:lnSpc>
            </a:pPr>
            <a:r>
              <a:rPr lang="en-US" sz="2385">
                <a:solidFill>
                  <a:srgbClr val="F5E8C7"/>
                </a:solidFill>
                <a:latin typeface="Montserrat"/>
                <a:ea typeface="Montserrat"/>
                <a:cs typeface="Montserrat"/>
                <a:sym typeface="Montserrat"/>
              </a:rPr>
              <a:t>O cliente de um sistema de software, por exemplo, está principalmente interessado em quando o sistema ficará pronto e quanto custará para desenvolvê-lo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40978" y="7086895"/>
            <a:ext cx="11972925" cy="39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0"/>
              </a:lnSpc>
            </a:pPr>
            <a:r>
              <a:rPr lang="en-US" sz="2385">
                <a:solidFill>
                  <a:srgbClr val="F5E8C7"/>
                </a:solidFill>
                <a:latin typeface="Montserrat"/>
                <a:ea typeface="Montserrat"/>
                <a:cs typeface="Montserrat"/>
                <a:sym typeface="Montserrat"/>
              </a:rPr>
              <a:t>Os usuários estão mais interessados no que o sistema faz e em como utiliza-los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12101" y="8638480"/>
            <a:ext cx="15030679" cy="802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0"/>
              </a:lnSpc>
            </a:pPr>
            <a:r>
              <a:rPr lang="en-US" sz="2385">
                <a:solidFill>
                  <a:srgbClr val="F5E8C7"/>
                </a:solidFill>
                <a:latin typeface="Montserrat"/>
                <a:ea typeface="Montserrat"/>
                <a:cs typeface="Montserrat"/>
                <a:sym typeface="Montserrat"/>
              </a:rPr>
              <a:t>Os designers e programadores responsáveis pela construção do sistema possuem outras preocupações, como verificar se determinado algoritmo atende aos resquisitos do sistema.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62499"/>
            <a:ext cx="5785519" cy="3754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41"/>
              </a:lnSpc>
            </a:pPr>
            <a:r>
              <a:rPr lang="en-US" sz="10814">
                <a:solidFill>
                  <a:srgbClr val="F5E8C7"/>
                </a:solidFill>
                <a:latin typeface="Anton"/>
                <a:ea typeface="Anton"/>
                <a:cs typeface="Anton"/>
                <a:sym typeface="Anton"/>
              </a:rPr>
              <a:t>EM OUTRAS PALAVRAS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086350"/>
            <a:ext cx="6267752" cy="3745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3605" b="true">
                <a:solidFill>
                  <a:srgbClr val="F5E8C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Arquitetar um software é converter características de software em uma solução estruturada que atenda às expectativas técnicas e de negócios.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80398" y="1969444"/>
            <a:ext cx="9287329" cy="1083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2"/>
              </a:lnSpc>
              <a:spcBef>
                <a:spcPct val="0"/>
              </a:spcBef>
            </a:pPr>
            <a:r>
              <a:rPr lang="en-US" b="true" sz="316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Essa definição nos leva a perguntar sobre as características de um software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80398" y="4004200"/>
            <a:ext cx="9678902" cy="337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3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"Onde fica a regra de negócio?"</a:t>
            </a:r>
          </a:p>
          <a:p>
            <a:pPr algn="ctr">
              <a:lnSpc>
                <a:spcPts val="3863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"Quem pode acessar o banco?"</a:t>
            </a:r>
          </a:p>
          <a:p>
            <a:pPr algn="ctr">
              <a:lnSpc>
                <a:spcPts val="3863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"Como os componentes se comunicam?"</a:t>
            </a:r>
          </a:p>
          <a:p>
            <a:pPr algn="ctr">
              <a:lnSpc>
                <a:spcPts val="3863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"O sistema será distribuído ou centralizado?"</a:t>
            </a:r>
          </a:p>
          <a:p>
            <a:pPr algn="ctr">
              <a:lnSpc>
                <a:spcPts val="3863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"Como ele escala?"</a:t>
            </a:r>
          </a:p>
          <a:p>
            <a:pPr algn="ctr">
              <a:lnSpc>
                <a:spcPts val="3863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"Como lidamos com falhas?"</a:t>
            </a:r>
          </a:p>
          <a:p>
            <a:pPr algn="ctr">
              <a:lnSpc>
                <a:spcPts val="3863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"Quais partes podem mudar independentemente?"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0848" y="-617672"/>
            <a:ext cx="18732541" cy="11522345"/>
          </a:xfrm>
          <a:custGeom>
            <a:avLst/>
            <a:gdLst/>
            <a:ahLst/>
            <a:cxnLst/>
            <a:rect r="r" b="b" t="t" l="l"/>
            <a:pathLst>
              <a:path h="11522345" w="18732541">
                <a:moveTo>
                  <a:pt x="0" y="0"/>
                </a:moveTo>
                <a:lnTo>
                  <a:pt x="18732541" y="0"/>
                </a:lnTo>
                <a:lnTo>
                  <a:pt x="18732541" y="11522344"/>
                </a:lnTo>
                <a:lnTo>
                  <a:pt x="0" y="11522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" r="0" b="-4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79561" y="597487"/>
            <a:ext cx="13182515" cy="3797063"/>
            <a:chOff x="0" y="0"/>
            <a:chExt cx="9537306" cy="27471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537319" cy="2747105"/>
            </a:xfrm>
            <a:custGeom>
              <a:avLst/>
              <a:gdLst/>
              <a:ahLst/>
              <a:cxnLst/>
              <a:rect r="r" b="b" t="t" l="l"/>
              <a:pathLst>
                <a:path h="2747105" w="9537319">
                  <a:moveTo>
                    <a:pt x="265684" y="0"/>
                  </a:moveTo>
                  <a:lnTo>
                    <a:pt x="9271635" y="0"/>
                  </a:lnTo>
                  <a:cubicBezTo>
                    <a:pt x="9418320" y="0"/>
                    <a:pt x="9537319" y="92319"/>
                    <a:pt x="9537319" y="206117"/>
                  </a:cubicBezTo>
                  <a:lnTo>
                    <a:pt x="9537319" y="2540989"/>
                  </a:lnTo>
                  <a:cubicBezTo>
                    <a:pt x="9537319" y="2654786"/>
                    <a:pt x="9418320" y="2747105"/>
                    <a:pt x="9271635" y="2747105"/>
                  </a:cubicBezTo>
                  <a:lnTo>
                    <a:pt x="265684" y="2747105"/>
                  </a:lnTo>
                  <a:cubicBezTo>
                    <a:pt x="118999" y="2747105"/>
                    <a:pt x="0" y="2654786"/>
                    <a:pt x="0" y="2540989"/>
                  </a:cubicBezTo>
                  <a:lnTo>
                    <a:pt x="0" y="206117"/>
                  </a:lnTo>
                  <a:cubicBezTo>
                    <a:pt x="0" y="92319"/>
                    <a:pt x="118999" y="0"/>
                    <a:pt x="265684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3927426" y="2858752"/>
            <a:ext cx="10764423" cy="1129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60"/>
              </a:lnSpc>
            </a:pPr>
            <a:r>
              <a:rPr lang="en-US" sz="6629">
                <a:solidFill>
                  <a:srgbClr val="F5E8C7"/>
                </a:solidFill>
                <a:latin typeface="Anton"/>
                <a:ea typeface="Anton"/>
                <a:cs typeface="Anton"/>
                <a:sym typeface="Anton"/>
              </a:rPr>
              <a:t>Arquitetura      Design      Codigo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11613" y="2970682"/>
            <a:ext cx="467332" cy="101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74"/>
              </a:lnSpc>
              <a:spcBef>
                <a:spcPct val="0"/>
              </a:spcBef>
            </a:pPr>
            <a:r>
              <a:rPr lang="en-US" b="true" sz="6140">
                <a:solidFill>
                  <a:srgbClr val="F5E8C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≠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57178" y="2970682"/>
            <a:ext cx="467332" cy="101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74"/>
              </a:lnSpc>
              <a:spcBef>
                <a:spcPct val="0"/>
              </a:spcBef>
            </a:pPr>
            <a:r>
              <a:rPr lang="en-US" b="true" sz="6140">
                <a:solidFill>
                  <a:srgbClr val="F5E8C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≠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87226" y="5075092"/>
            <a:ext cx="14367184" cy="821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  <a:spcBef>
                <a:spcPct val="0"/>
              </a:spcBef>
            </a:pPr>
            <a:r>
              <a:rPr lang="en-US" b="true" sz="2400">
                <a:solidFill>
                  <a:srgbClr val="F5E8C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arquitetura do software é responsável pelo esqueleto e pela infraestrutura de alto nível de um software, o design do software é responsável pelo design do nível de código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28669" y="1164901"/>
            <a:ext cx="11756624" cy="1041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2"/>
              </a:lnSpc>
              <a:spcBef>
                <a:spcPct val="0"/>
              </a:spcBef>
            </a:pPr>
            <a:r>
              <a:rPr lang="en-US" b="true" sz="3103">
                <a:solidFill>
                  <a:srgbClr val="F5E8C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Devido a sua semelhança, muitas vezes Arquitetura de software pode ser confundida com Design de software!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8322" y="6973930"/>
            <a:ext cx="12010966" cy="50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0"/>
              </a:lnSpc>
              <a:spcBef>
                <a:spcPct val="0"/>
              </a:spcBef>
            </a:pPr>
            <a:r>
              <a:rPr lang="en-US" b="true" sz="3000">
                <a:solidFill>
                  <a:srgbClr val="F5E8C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Arquitetura: Decisões estruturais e de alto impacto.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78322" y="8755437"/>
            <a:ext cx="15680978" cy="50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0"/>
              </a:lnSpc>
              <a:spcBef>
                <a:spcPct val="0"/>
              </a:spcBef>
            </a:pPr>
            <a:r>
              <a:rPr lang="en-US" b="true" sz="3000">
                <a:solidFill>
                  <a:srgbClr val="F5E8C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Design: Decisões mais locais sobre como implementar componentes.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4438" y="766762"/>
            <a:ext cx="15859125" cy="8753475"/>
            <a:chOff x="0" y="0"/>
            <a:chExt cx="21145500" cy="11671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45500" cy="11671300"/>
            </a:xfrm>
            <a:custGeom>
              <a:avLst/>
              <a:gdLst/>
              <a:ahLst/>
              <a:cxnLst/>
              <a:rect r="r" b="b" t="t" l="l"/>
              <a:pathLst>
                <a:path h="11671300" w="21145500">
                  <a:moveTo>
                    <a:pt x="0" y="0"/>
                  </a:moveTo>
                  <a:lnTo>
                    <a:pt x="21145500" y="0"/>
                  </a:lnTo>
                  <a:lnTo>
                    <a:pt x="21145500" y="11671300"/>
                  </a:lnTo>
                  <a:lnTo>
                    <a:pt x="0" y="1167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769" r="0" b="-10769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02108" y="5676519"/>
            <a:ext cx="5957192" cy="1711083"/>
            <a:chOff x="0" y="0"/>
            <a:chExt cx="7138810" cy="2050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38797" cy="2050542"/>
            </a:xfrm>
            <a:custGeom>
              <a:avLst/>
              <a:gdLst/>
              <a:ahLst/>
              <a:cxnLst/>
              <a:rect r="r" b="b" t="t" l="l"/>
              <a:pathLst>
                <a:path h="2050542" w="7138797">
                  <a:moveTo>
                    <a:pt x="381000" y="0"/>
                  </a:moveTo>
                  <a:lnTo>
                    <a:pt x="6757797" y="0"/>
                  </a:lnTo>
                  <a:cubicBezTo>
                    <a:pt x="6968236" y="0"/>
                    <a:pt x="7138797" y="170561"/>
                    <a:pt x="7138797" y="381000"/>
                  </a:cubicBezTo>
                  <a:lnTo>
                    <a:pt x="7138797" y="1669542"/>
                  </a:lnTo>
                  <a:cubicBezTo>
                    <a:pt x="7138797" y="1770634"/>
                    <a:pt x="7098665" y="1867535"/>
                    <a:pt x="7027164" y="1938909"/>
                  </a:cubicBezTo>
                  <a:cubicBezTo>
                    <a:pt x="6955663" y="2010283"/>
                    <a:pt x="6858762" y="2050542"/>
                    <a:pt x="6757797" y="2050542"/>
                  </a:cubicBezTo>
                  <a:lnTo>
                    <a:pt x="381000" y="2050542"/>
                  </a:lnTo>
                  <a:cubicBezTo>
                    <a:pt x="170561" y="2050542"/>
                    <a:pt x="0" y="1879981"/>
                    <a:pt x="0" y="1669542"/>
                  </a:cubicBezTo>
                  <a:lnTo>
                    <a:pt x="0" y="381000"/>
                  </a:lnTo>
                  <a:cubicBezTo>
                    <a:pt x="0" y="170561"/>
                    <a:pt x="170561" y="0"/>
                    <a:pt x="381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58861" y="7719231"/>
            <a:ext cx="6910740" cy="1752390"/>
            <a:chOff x="0" y="0"/>
            <a:chExt cx="9214320" cy="23365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214231" cy="2336419"/>
            </a:xfrm>
            <a:custGeom>
              <a:avLst/>
              <a:gdLst/>
              <a:ahLst/>
              <a:cxnLst/>
              <a:rect r="r" b="b" t="t" l="l"/>
              <a:pathLst>
                <a:path h="2336419" w="9214231">
                  <a:moveTo>
                    <a:pt x="376936" y="0"/>
                  </a:moveTo>
                  <a:lnTo>
                    <a:pt x="8837295" y="0"/>
                  </a:lnTo>
                  <a:cubicBezTo>
                    <a:pt x="9045448" y="0"/>
                    <a:pt x="9214231" y="168783"/>
                    <a:pt x="9214231" y="376936"/>
                  </a:cubicBezTo>
                  <a:lnTo>
                    <a:pt x="9214231" y="1959483"/>
                  </a:lnTo>
                  <a:cubicBezTo>
                    <a:pt x="9214231" y="2059432"/>
                    <a:pt x="9174480" y="2155317"/>
                    <a:pt x="9103868" y="2226056"/>
                  </a:cubicBezTo>
                  <a:cubicBezTo>
                    <a:pt x="9033256" y="2296795"/>
                    <a:pt x="8937244" y="2336419"/>
                    <a:pt x="8837295" y="2336419"/>
                  </a:cubicBezTo>
                  <a:lnTo>
                    <a:pt x="376936" y="2336419"/>
                  </a:lnTo>
                  <a:cubicBezTo>
                    <a:pt x="276987" y="2336419"/>
                    <a:pt x="181102" y="2296668"/>
                    <a:pt x="110363" y="2226056"/>
                  </a:cubicBezTo>
                  <a:cubicBezTo>
                    <a:pt x="39624" y="2155444"/>
                    <a:pt x="0" y="2059559"/>
                    <a:pt x="0" y="1959483"/>
                  </a:cubicBezTo>
                  <a:lnTo>
                    <a:pt x="0" y="376936"/>
                  </a:lnTo>
                  <a:cubicBezTo>
                    <a:pt x="0" y="276987"/>
                    <a:pt x="39751" y="181102"/>
                    <a:pt x="110363" y="110363"/>
                  </a:cubicBezTo>
                  <a:cubicBezTo>
                    <a:pt x="180975" y="39624"/>
                    <a:pt x="276987" y="0"/>
                    <a:pt x="37693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503031" y="5101904"/>
            <a:ext cx="5300996" cy="2038521"/>
            <a:chOff x="0" y="0"/>
            <a:chExt cx="7067994" cy="27180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67931" cy="2717927"/>
            </a:xfrm>
            <a:custGeom>
              <a:avLst/>
              <a:gdLst/>
              <a:ahLst/>
              <a:cxnLst/>
              <a:rect r="r" b="b" t="t" l="l"/>
              <a:pathLst>
                <a:path h="2717927" w="7067931">
                  <a:moveTo>
                    <a:pt x="418592" y="0"/>
                  </a:moveTo>
                  <a:lnTo>
                    <a:pt x="6649466" y="0"/>
                  </a:lnTo>
                  <a:cubicBezTo>
                    <a:pt x="6760464" y="0"/>
                    <a:pt x="6866890" y="44069"/>
                    <a:pt x="6945376" y="122555"/>
                  </a:cubicBezTo>
                  <a:cubicBezTo>
                    <a:pt x="7023862" y="201041"/>
                    <a:pt x="7067931" y="307467"/>
                    <a:pt x="7067931" y="418465"/>
                  </a:cubicBezTo>
                  <a:lnTo>
                    <a:pt x="7067931" y="2299335"/>
                  </a:lnTo>
                  <a:cubicBezTo>
                    <a:pt x="7067931" y="2530475"/>
                    <a:pt x="6880479" y="2717927"/>
                    <a:pt x="6649339" y="2717927"/>
                  </a:cubicBezTo>
                  <a:lnTo>
                    <a:pt x="418592" y="2717927"/>
                  </a:lnTo>
                  <a:cubicBezTo>
                    <a:pt x="187452" y="2718054"/>
                    <a:pt x="0" y="2530602"/>
                    <a:pt x="0" y="2299462"/>
                  </a:cubicBezTo>
                  <a:lnTo>
                    <a:pt x="0" y="418592"/>
                  </a:lnTo>
                  <a:cubicBezTo>
                    <a:pt x="0" y="187452"/>
                    <a:pt x="187452" y="0"/>
                    <a:pt x="4185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8166" y="3060592"/>
            <a:ext cx="4384605" cy="6121184"/>
            <a:chOff x="0" y="0"/>
            <a:chExt cx="5846140" cy="81615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46191" cy="8161528"/>
            </a:xfrm>
            <a:custGeom>
              <a:avLst/>
              <a:gdLst/>
              <a:ahLst/>
              <a:cxnLst/>
              <a:rect r="r" b="b" t="t" l="l"/>
              <a:pathLst>
                <a:path h="8161528" w="5846191">
                  <a:moveTo>
                    <a:pt x="0" y="0"/>
                  </a:moveTo>
                  <a:lnTo>
                    <a:pt x="5846191" y="0"/>
                  </a:lnTo>
                  <a:lnTo>
                    <a:pt x="5846191" y="8161528"/>
                  </a:lnTo>
                  <a:lnTo>
                    <a:pt x="0" y="8161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9865" t="0" r="-79864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98166" y="-107937"/>
            <a:ext cx="7255459" cy="2114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9"/>
              </a:lnSpc>
            </a:pPr>
            <a:r>
              <a:rPr lang="en-US" sz="10535" spc="8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1. MONOLITICA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42482" y="5868498"/>
            <a:ext cx="5276443" cy="128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Facilidade de gerenciamento</a:t>
            </a:r>
          </a:p>
          <a:p>
            <a:pPr algn="just">
              <a:lnSpc>
                <a:spcPts val="3498"/>
              </a:lnSpc>
            </a:pPr>
          </a:p>
          <a:p>
            <a:pPr algn="just">
              <a:lnSpc>
                <a:spcPts val="349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Simples de implementar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71836" y="5216300"/>
            <a:ext cx="4763433" cy="173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Falta de flexibilidade</a:t>
            </a:r>
          </a:p>
          <a:p>
            <a:pPr algn="just">
              <a:lnSpc>
                <a:spcPts val="3448"/>
              </a:lnSpc>
            </a:pPr>
          </a:p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Dificuldade em escalar ou modificar partes específicas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10623" y="7904531"/>
            <a:ext cx="6676301" cy="130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“God-Class”, ou “Classe-Deus”, conceito que representa o código todo em um único arquivo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151712" y="2156736"/>
            <a:ext cx="7325201" cy="2436495"/>
            <a:chOff x="0" y="0"/>
            <a:chExt cx="9766935" cy="32486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66935" cy="3248660"/>
            </a:xfrm>
            <a:custGeom>
              <a:avLst/>
              <a:gdLst/>
              <a:ahLst/>
              <a:cxnLst/>
              <a:rect r="r" b="b" t="t" l="l"/>
              <a:pathLst>
                <a:path h="3248660" w="9766935">
                  <a:moveTo>
                    <a:pt x="511429" y="0"/>
                  </a:moveTo>
                  <a:lnTo>
                    <a:pt x="9255379" y="0"/>
                  </a:lnTo>
                  <a:cubicBezTo>
                    <a:pt x="9391015" y="0"/>
                    <a:pt x="9521063" y="53848"/>
                    <a:pt x="9617075" y="149860"/>
                  </a:cubicBezTo>
                  <a:cubicBezTo>
                    <a:pt x="9713087" y="245872"/>
                    <a:pt x="9766935" y="375920"/>
                    <a:pt x="9766935" y="511556"/>
                  </a:cubicBezTo>
                  <a:lnTo>
                    <a:pt x="9766935" y="2737231"/>
                  </a:lnTo>
                  <a:cubicBezTo>
                    <a:pt x="9766935" y="3019679"/>
                    <a:pt x="9537954" y="3248660"/>
                    <a:pt x="9255506" y="3248660"/>
                  </a:cubicBezTo>
                  <a:lnTo>
                    <a:pt x="511429" y="3248660"/>
                  </a:lnTo>
                  <a:cubicBezTo>
                    <a:pt x="375793" y="3248660"/>
                    <a:pt x="245745" y="3194812"/>
                    <a:pt x="149733" y="3098800"/>
                  </a:cubicBezTo>
                  <a:cubicBezTo>
                    <a:pt x="53721" y="3002788"/>
                    <a:pt x="0" y="2872867"/>
                    <a:pt x="0" y="2737231"/>
                  </a:cubicBezTo>
                  <a:lnTo>
                    <a:pt x="0" y="511429"/>
                  </a:lnTo>
                  <a:cubicBezTo>
                    <a:pt x="0" y="375793"/>
                    <a:pt x="53848" y="245745"/>
                    <a:pt x="149860" y="149860"/>
                  </a:cubicBezTo>
                  <a:cubicBezTo>
                    <a:pt x="245872" y="53975"/>
                    <a:pt x="375793" y="0"/>
                    <a:pt x="51142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283957" y="2470128"/>
            <a:ext cx="7060768" cy="173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arquitetura monolítica foi a abordagem padrão, em que todas as funcionalidades do sistema eram integradas em um único bloco de código.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2381" y="2797235"/>
            <a:ext cx="7577528" cy="6461065"/>
            <a:chOff x="0" y="0"/>
            <a:chExt cx="10103371" cy="86147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03358" cy="8614791"/>
            </a:xfrm>
            <a:custGeom>
              <a:avLst/>
              <a:gdLst/>
              <a:ahLst/>
              <a:cxnLst/>
              <a:rect r="r" b="b" t="t" l="l"/>
              <a:pathLst>
                <a:path h="8614791" w="10103358">
                  <a:moveTo>
                    <a:pt x="0" y="0"/>
                  </a:moveTo>
                  <a:lnTo>
                    <a:pt x="10103358" y="0"/>
                  </a:lnTo>
                  <a:lnTo>
                    <a:pt x="10103358" y="8614791"/>
                  </a:lnTo>
                  <a:lnTo>
                    <a:pt x="0" y="8614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9317" t="0" r="-2931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968425" y="2290458"/>
            <a:ext cx="5952001" cy="1329080"/>
            <a:chOff x="0" y="0"/>
            <a:chExt cx="7936001" cy="17721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935976" cy="1772158"/>
            </a:xfrm>
            <a:custGeom>
              <a:avLst/>
              <a:gdLst/>
              <a:ahLst/>
              <a:cxnLst/>
              <a:rect r="r" b="b" t="t" l="l"/>
              <a:pathLst>
                <a:path h="1772158" w="7935976">
                  <a:moveTo>
                    <a:pt x="324866" y="0"/>
                  </a:moveTo>
                  <a:lnTo>
                    <a:pt x="7611110" y="0"/>
                  </a:lnTo>
                  <a:cubicBezTo>
                    <a:pt x="7790561" y="0"/>
                    <a:pt x="7935976" y="145415"/>
                    <a:pt x="7935976" y="324866"/>
                  </a:cubicBezTo>
                  <a:lnTo>
                    <a:pt x="7935976" y="1447292"/>
                  </a:lnTo>
                  <a:cubicBezTo>
                    <a:pt x="7935976" y="1533398"/>
                    <a:pt x="7901813" y="1616075"/>
                    <a:pt x="7840853" y="1677035"/>
                  </a:cubicBezTo>
                  <a:cubicBezTo>
                    <a:pt x="7779893" y="1737995"/>
                    <a:pt x="7697343" y="1772158"/>
                    <a:pt x="7611110" y="1772158"/>
                  </a:cubicBezTo>
                  <a:lnTo>
                    <a:pt x="324866" y="1772158"/>
                  </a:lnTo>
                  <a:cubicBezTo>
                    <a:pt x="145415" y="1772158"/>
                    <a:pt x="0" y="1626616"/>
                    <a:pt x="0" y="1447292"/>
                  </a:cubicBezTo>
                  <a:lnTo>
                    <a:pt x="0" y="324866"/>
                  </a:lnTo>
                  <a:cubicBezTo>
                    <a:pt x="0" y="145415"/>
                    <a:pt x="145415" y="0"/>
                    <a:pt x="3248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911355" y="3784683"/>
            <a:ext cx="6131195" cy="1555699"/>
            <a:chOff x="0" y="0"/>
            <a:chExt cx="8174927" cy="20742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74990" cy="2074291"/>
            </a:xfrm>
            <a:custGeom>
              <a:avLst/>
              <a:gdLst/>
              <a:ahLst/>
              <a:cxnLst/>
              <a:rect r="r" b="b" t="t" l="l"/>
              <a:pathLst>
                <a:path h="2074291" w="8174990">
                  <a:moveTo>
                    <a:pt x="324866" y="0"/>
                  </a:moveTo>
                  <a:lnTo>
                    <a:pt x="7850124" y="0"/>
                  </a:lnTo>
                  <a:cubicBezTo>
                    <a:pt x="8029575" y="0"/>
                    <a:pt x="8174990" y="145415"/>
                    <a:pt x="8174990" y="324866"/>
                  </a:cubicBezTo>
                  <a:lnTo>
                    <a:pt x="8174990" y="1749425"/>
                  </a:lnTo>
                  <a:cubicBezTo>
                    <a:pt x="8174990" y="1835531"/>
                    <a:pt x="8140827" y="1918208"/>
                    <a:pt x="8079867" y="1979168"/>
                  </a:cubicBezTo>
                  <a:cubicBezTo>
                    <a:pt x="8018907" y="2040128"/>
                    <a:pt x="7936357" y="2074291"/>
                    <a:pt x="7850124" y="2074291"/>
                  </a:cubicBezTo>
                  <a:lnTo>
                    <a:pt x="324866" y="2074291"/>
                  </a:lnTo>
                  <a:cubicBezTo>
                    <a:pt x="238760" y="2074291"/>
                    <a:pt x="156083" y="2040128"/>
                    <a:pt x="95123" y="1979168"/>
                  </a:cubicBezTo>
                  <a:cubicBezTo>
                    <a:pt x="34163" y="1918208"/>
                    <a:pt x="0" y="1835531"/>
                    <a:pt x="0" y="1749425"/>
                  </a:cubicBezTo>
                  <a:lnTo>
                    <a:pt x="0" y="324866"/>
                  </a:lnTo>
                  <a:cubicBezTo>
                    <a:pt x="0" y="238633"/>
                    <a:pt x="34163" y="156083"/>
                    <a:pt x="95123" y="95123"/>
                  </a:cubicBezTo>
                  <a:cubicBezTo>
                    <a:pt x="156083" y="34163"/>
                    <a:pt x="238633" y="0"/>
                    <a:pt x="3248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68425" y="5673785"/>
            <a:ext cx="6581261" cy="2008880"/>
            <a:chOff x="0" y="0"/>
            <a:chExt cx="8775014" cy="26785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74938" cy="2678430"/>
            </a:xfrm>
            <a:custGeom>
              <a:avLst/>
              <a:gdLst/>
              <a:ahLst/>
              <a:cxnLst/>
              <a:rect r="r" b="b" t="t" l="l"/>
              <a:pathLst>
                <a:path h="2678430" w="8774938">
                  <a:moveTo>
                    <a:pt x="307594" y="0"/>
                  </a:moveTo>
                  <a:lnTo>
                    <a:pt x="8467344" y="0"/>
                  </a:lnTo>
                  <a:cubicBezTo>
                    <a:pt x="8548878" y="0"/>
                    <a:pt x="8627237" y="32385"/>
                    <a:pt x="8684895" y="90043"/>
                  </a:cubicBezTo>
                  <a:cubicBezTo>
                    <a:pt x="8742553" y="147701"/>
                    <a:pt x="8774938" y="225933"/>
                    <a:pt x="8774938" y="307594"/>
                  </a:cubicBezTo>
                  <a:lnTo>
                    <a:pt x="8774938" y="2370836"/>
                  </a:lnTo>
                  <a:cubicBezTo>
                    <a:pt x="8774938" y="2452370"/>
                    <a:pt x="8742553" y="2530729"/>
                    <a:pt x="8684895" y="2588387"/>
                  </a:cubicBezTo>
                  <a:cubicBezTo>
                    <a:pt x="8627237" y="2646045"/>
                    <a:pt x="8549005" y="2678430"/>
                    <a:pt x="8467344" y="2678430"/>
                  </a:cubicBezTo>
                  <a:lnTo>
                    <a:pt x="307594" y="2678430"/>
                  </a:lnTo>
                  <a:cubicBezTo>
                    <a:pt x="226060" y="2678430"/>
                    <a:pt x="147701" y="2646045"/>
                    <a:pt x="90043" y="2588387"/>
                  </a:cubicBezTo>
                  <a:cubicBezTo>
                    <a:pt x="32385" y="2530729"/>
                    <a:pt x="0" y="2452497"/>
                    <a:pt x="0" y="2370836"/>
                  </a:cubicBezTo>
                  <a:lnTo>
                    <a:pt x="0" y="307594"/>
                  </a:lnTo>
                  <a:cubicBezTo>
                    <a:pt x="0" y="226060"/>
                    <a:pt x="32385" y="147828"/>
                    <a:pt x="90043" y="90043"/>
                  </a:cubicBezTo>
                  <a:cubicBezTo>
                    <a:pt x="147701" y="32258"/>
                    <a:pt x="226060" y="0"/>
                    <a:pt x="3075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035371" y="7842980"/>
            <a:ext cx="5808221" cy="1499864"/>
            <a:chOff x="0" y="0"/>
            <a:chExt cx="7744295" cy="19998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44333" cy="1999869"/>
            </a:xfrm>
            <a:custGeom>
              <a:avLst/>
              <a:gdLst/>
              <a:ahLst/>
              <a:cxnLst/>
              <a:rect r="r" b="b" t="t" l="l"/>
              <a:pathLst>
                <a:path h="1999869" w="7744333">
                  <a:moveTo>
                    <a:pt x="372999" y="0"/>
                  </a:moveTo>
                  <a:lnTo>
                    <a:pt x="7371334" y="0"/>
                  </a:lnTo>
                  <a:cubicBezTo>
                    <a:pt x="7470267" y="0"/>
                    <a:pt x="7565136" y="39243"/>
                    <a:pt x="7635113" y="109220"/>
                  </a:cubicBezTo>
                  <a:cubicBezTo>
                    <a:pt x="7705090" y="179197"/>
                    <a:pt x="7744333" y="274066"/>
                    <a:pt x="7744333" y="372999"/>
                  </a:cubicBezTo>
                  <a:lnTo>
                    <a:pt x="7744333" y="1626870"/>
                  </a:lnTo>
                  <a:cubicBezTo>
                    <a:pt x="7744333" y="1832864"/>
                    <a:pt x="7577328" y="1999869"/>
                    <a:pt x="7371334" y="1999869"/>
                  </a:cubicBezTo>
                  <a:lnTo>
                    <a:pt x="372999" y="1999869"/>
                  </a:lnTo>
                  <a:cubicBezTo>
                    <a:pt x="274066" y="1999869"/>
                    <a:pt x="179197" y="1960626"/>
                    <a:pt x="109220" y="1890649"/>
                  </a:cubicBezTo>
                  <a:cubicBezTo>
                    <a:pt x="39243" y="1820672"/>
                    <a:pt x="0" y="1725803"/>
                    <a:pt x="0" y="1626870"/>
                  </a:cubicBezTo>
                  <a:lnTo>
                    <a:pt x="0" y="372999"/>
                  </a:lnTo>
                  <a:cubicBezTo>
                    <a:pt x="0" y="274066"/>
                    <a:pt x="39243" y="179197"/>
                    <a:pt x="109220" y="109220"/>
                  </a:cubicBezTo>
                  <a:cubicBezTo>
                    <a:pt x="179197" y="39243"/>
                    <a:pt x="274066" y="0"/>
                    <a:pt x="3729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80044" y="-107937"/>
            <a:ext cx="10092880" cy="2114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9"/>
              </a:lnSpc>
            </a:pPr>
            <a:r>
              <a:rPr lang="en-US" sz="10535" spc="6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2. MICROSSERVIÇOS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59783" y="3875094"/>
            <a:ext cx="5834386" cy="130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Segmenta o sistema em serviços independentes que se comunicam entre si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99984" y="2457117"/>
            <a:ext cx="5688930" cy="87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Ideal para sistemas que precisam evoluir rapidamente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18815" y="5777360"/>
            <a:ext cx="6430928" cy="173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Permite uma escalabilidade granular (Cada serviço poder ser desenvolvido, implementado e escalado de forma independente)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85761" y="7873508"/>
            <a:ext cx="5507498" cy="130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Extremamente útil em grandes sistemas de streaming online ou plataformas de CRM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35400" y="2813533"/>
            <a:ext cx="5103828" cy="1280827"/>
            <a:chOff x="0" y="0"/>
            <a:chExt cx="6805104" cy="17077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05168" cy="1707769"/>
            </a:xfrm>
            <a:custGeom>
              <a:avLst/>
              <a:gdLst/>
              <a:ahLst/>
              <a:cxnLst/>
              <a:rect r="r" b="b" t="t" l="l"/>
              <a:pathLst>
                <a:path h="1707769" w="6805168">
                  <a:moveTo>
                    <a:pt x="261747" y="0"/>
                  </a:moveTo>
                  <a:lnTo>
                    <a:pt x="6543421" y="0"/>
                  </a:lnTo>
                  <a:cubicBezTo>
                    <a:pt x="6687947" y="0"/>
                    <a:pt x="6805168" y="117221"/>
                    <a:pt x="6805168" y="261747"/>
                  </a:cubicBezTo>
                  <a:lnTo>
                    <a:pt x="6805168" y="1446022"/>
                  </a:lnTo>
                  <a:cubicBezTo>
                    <a:pt x="6805168" y="1590548"/>
                    <a:pt x="6687947" y="1707769"/>
                    <a:pt x="6543421" y="1707769"/>
                  </a:cubicBezTo>
                  <a:lnTo>
                    <a:pt x="261747" y="1707769"/>
                  </a:lnTo>
                  <a:cubicBezTo>
                    <a:pt x="192278" y="1707769"/>
                    <a:pt x="125730" y="1680210"/>
                    <a:pt x="76708" y="1631061"/>
                  </a:cubicBezTo>
                  <a:cubicBezTo>
                    <a:pt x="27686" y="1581912"/>
                    <a:pt x="0" y="1515491"/>
                    <a:pt x="0" y="1446022"/>
                  </a:cubicBezTo>
                  <a:lnTo>
                    <a:pt x="0" y="261747"/>
                  </a:lnTo>
                  <a:cubicBezTo>
                    <a:pt x="0" y="117221"/>
                    <a:pt x="117221" y="0"/>
                    <a:pt x="2617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728505" y="1902047"/>
            <a:ext cx="4708312" cy="727996"/>
            <a:chOff x="0" y="0"/>
            <a:chExt cx="6277750" cy="9706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77737" cy="970661"/>
            </a:xfrm>
            <a:custGeom>
              <a:avLst/>
              <a:gdLst/>
              <a:ahLst/>
              <a:cxnLst/>
              <a:rect r="r" b="b" t="t" l="l"/>
              <a:pathLst>
                <a:path h="970661" w="6277737">
                  <a:moveTo>
                    <a:pt x="301498" y="0"/>
                  </a:moveTo>
                  <a:lnTo>
                    <a:pt x="5976239" y="0"/>
                  </a:lnTo>
                  <a:cubicBezTo>
                    <a:pt x="6142736" y="0"/>
                    <a:pt x="6277737" y="135001"/>
                    <a:pt x="6277737" y="301498"/>
                  </a:cubicBezTo>
                  <a:lnTo>
                    <a:pt x="6277737" y="669163"/>
                  </a:lnTo>
                  <a:cubicBezTo>
                    <a:pt x="6277737" y="749173"/>
                    <a:pt x="6245987" y="825881"/>
                    <a:pt x="6189472" y="882396"/>
                  </a:cubicBezTo>
                  <a:cubicBezTo>
                    <a:pt x="6132957" y="938911"/>
                    <a:pt x="6056249" y="970661"/>
                    <a:pt x="5976239" y="970661"/>
                  </a:cubicBezTo>
                  <a:lnTo>
                    <a:pt x="301498" y="970661"/>
                  </a:lnTo>
                  <a:cubicBezTo>
                    <a:pt x="135001" y="970661"/>
                    <a:pt x="0" y="835660"/>
                    <a:pt x="0" y="669163"/>
                  </a:cubicBezTo>
                  <a:lnTo>
                    <a:pt x="0" y="301498"/>
                  </a:lnTo>
                  <a:cubicBezTo>
                    <a:pt x="0" y="135001"/>
                    <a:pt x="135001" y="0"/>
                    <a:pt x="30149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93445" y="8119682"/>
            <a:ext cx="14049861" cy="1244594"/>
            <a:chOff x="0" y="0"/>
            <a:chExt cx="18733148" cy="16594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733136" cy="1659382"/>
            </a:xfrm>
            <a:custGeom>
              <a:avLst/>
              <a:gdLst/>
              <a:ahLst/>
              <a:cxnLst/>
              <a:rect r="r" b="b" t="t" l="l"/>
              <a:pathLst>
                <a:path h="1659382" w="18733136">
                  <a:moveTo>
                    <a:pt x="109601" y="0"/>
                  </a:moveTo>
                  <a:lnTo>
                    <a:pt x="18623535" y="0"/>
                  </a:lnTo>
                  <a:cubicBezTo>
                    <a:pt x="18684114" y="0"/>
                    <a:pt x="18733136" y="49149"/>
                    <a:pt x="18733136" y="109601"/>
                  </a:cubicBezTo>
                  <a:lnTo>
                    <a:pt x="18733136" y="1549781"/>
                  </a:lnTo>
                  <a:cubicBezTo>
                    <a:pt x="18733136" y="1610360"/>
                    <a:pt x="18683987" y="1659382"/>
                    <a:pt x="18623535" y="1659382"/>
                  </a:cubicBezTo>
                  <a:lnTo>
                    <a:pt x="109601" y="1659382"/>
                  </a:lnTo>
                  <a:cubicBezTo>
                    <a:pt x="80518" y="1659382"/>
                    <a:pt x="52578" y="1647825"/>
                    <a:pt x="32131" y="1627251"/>
                  </a:cubicBezTo>
                  <a:cubicBezTo>
                    <a:pt x="11684" y="1606677"/>
                    <a:pt x="0" y="1578864"/>
                    <a:pt x="0" y="1549781"/>
                  </a:cubicBezTo>
                  <a:lnTo>
                    <a:pt x="0" y="109601"/>
                  </a:lnTo>
                  <a:cubicBezTo>
                    <a:pt x="0" y="49149"/>
                    <a:pt x="49149" y="0"/>
                    <a:pt x="10960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552817" y="4342028"/>
            <a:ext cx="5641534" cy="1210132"/>
            <a:chOff x="0" y="0"/>
            <a:chExt cx="7522045" cy="16135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21956" cy="1613408"/>
            </a:xfrm>
            <a:custGeom>
              <a:avLst/>
              <a:gdLst/>
              <a:ahLst/>
              <a:cxnLst/>
              <a:rect r="r" b="b" t="t" l="l"/>
              <a:pathLst>
                <a:path h="1613408" w="7521956">
                  <a:moveTo>
                    <a:pt x="258953" y="0"/>
                  </a:moveTo>
                  <a:lnTo>
                    <a:pt x="7263003" y="0"/>
                  </a:lnTo>
                  <a:cubicBezTo>
                    <a:pt x="7406005" y="0"/>
                    <a:pt x="7521956" y="115951"/>
                    <a:pt x="7521956" y="258953"/>
                  </a:cubicBezTo>
                  <a:lnTo>
                    <a:pt x="7521956" y="1354455"/>
                  </a:lnTo>
                  <a:cubicBezTo>
                    <a:pt x="7521956" y="1497457"/>
                    <a:pt x="7406005" y="1613408"/>
                    <a:pt x="7263003" y="1613408"/>
                  </a:cubicBezTo>
                  <a:lnTo>
                    <a:pt x="258953" y="1613408"/>
                  </a:lnTo>
                  <a:cubicBezTo>
                    <a:pt x="115951" y="1613535"/>
                    <a:pt x="0" y="1497584"/>
                    <a:pt x="0" y="1354455"/>
                  </a:cubicBezTo>
                  <a:lnTo>
                    <a:pt x="0" y="258953"/>
                  </a:lnTo>
                  <a:cubicBezTo>
                    <a:pt x="0" y="115951"/>
                    <a:pt x="115951" y="0"/>
                    <a:pt x="25895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135400" y="5822442"/>
            <a:ext cx="6830530" cy="1639986"/>
            <a:chOff x="0" y="0"/>
            <a:chExt cx="9107373" cy="21866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07424" cy="2186686"/>
            </a:xfrm>
            <a:custGeom>
              <a:avLst/>
              <a:gdLst/>
              <a:ahLst/>
              <a:cxnLst/>
              <a:rect r="r" b="b" t="t" l="l"/>
              <a:pathLst>
                <a:path h="2186686" w="9107424">
                  <a:moveTo>
                    <a:pt x="243586" y="0"/>
                  </a:moveTo>
                  <a:lnTo>
                    <a:pt x="8863838" y="0"/>
                  </a:lnTo>
                  <a:cubicBezTo>
                    <a:pt x="8928481" y="0"/>
                    <a:pt x="8990330" y="25654"/>
                    <a:pt x="9036050" y="71374"/>
                  </a:cubicBezTo>
                  <a:cubicBezTo>
                    <a:pt x="9081770" y="117094"/>
                    <a:pt x="9107424" y="178943"/>
                    <a:pt x="9107424" y="243586"/>
                  </a:cubicBezTo>
                  <a:lnTo>
                    <a:pt x="9107424" y="1943100"/>
                  </a:lnTo>
                  <a:cubicBezTo>
                    <a:pt x="9107424" y="2007743"/>
                    <a:pt x="9081770" y="2069592"/>
                    <a:pt x="9036050" y="2115312"/>
                  </a:cubicBezTo>
                  <a:cubicBezTo>
                    <a:pt x="8990330" y="2161032"/>
                    <a:pt x="8928481" y="2186686"/>
                    <a:pt x="8863838" y="2186686"/>
                  </a:cubicBezTo>
                  <a:lnTo>
                    <a:pt x="243586" y="2186686"/>
                  </a:lnTo>
                  <a:cubicBezTo>
                    <a:pt x="178943" y="2186686"/>
                    <a:pt x="117094" y="2161032"/>
                    <a:pt x="71374" y="2115312"/>
                  </a:cubicBezTo>
                  <a:cubicBezTo>
                    <a:pt x="25654" y="2069592"/>
                    <a:pt x="0" y="2007743"/>
                    <a:pt x="0" y="1943100"/>
                  </a:cubicBezTo>
                  <a:lnTo>
                    <a:pt x="0" y="243586"/>
                  </a:lnTo>
                  <a:cubicBezTo>
                    <a:pt x="0" y="178943"/>
                    <a:pt x="25654" y="116967"/>
                    <a:pt x="71374" y="71374"/>
                  </a:cubicBezTo>
                  <a:cubicBezTo>
                    <a:pt x="117094" y="25781"/>
                    <a:pt x="178943" y="0"/>
                    <a:pt x="2435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34747" y="3068203"/>
            <a:ext cx="9537125" cy="4004139"/>
            <a:chOff x="0" y="0"/>
            <a:chExt cx="12716167" cy="533885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16129" cy="5338826"/>
            </a:xfrm>
            <a:custGeom>
              <a:avLst/>
              <a:gdLst/>
              <a:ahLst/>
              <a:cxnLst/>
              <a:rect r="r" b="b" t="t" l="l"/>
              <a:pathLst>
                <a:path h="5338826" w="12716129">
                  <a:moveTo>
                    <a:pt x="0" y="0"/>
                  </a:moveTo>
                  <a:lnTo>
                    <a:pt x="12716129" y="0"/>
                  </a:lnTo>
                  <a:lnTo>
                    <a:pt x="12716129" y="5338826"/>
                  </a:lnTo>
                  <a:lnTo>
                    <a:pt x="0" y="53388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81692" y="-106718"/>
            <a:ext cx="14375587" cy="2114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9"/>
              </a:lnSpc>
            </a:pPr>
            <a:r>
              <a:rPr lang="en-US" sz="1053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3. MODEL-VIEW-CONTROLLER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91991" y="2923222"/>
            <a:ext cx="4790684" cy="88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Modelo: cuida das regras de negócio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73801" y="8272034"/>
            <a:ext cx="13689254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9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Facilita a manutenção e evolução do software, permitindo que cada componente seja desenvolvido de forma independente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87017" y="4459081"/>
            <a:ext cx="5287470" cy="87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Visão: gerencia o que é mostrado ao usuário, interface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98919" y="5930236"/>
            <a:ext cx="6417840" cy="130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Controller: lida com a interação entre a visão e o modelo, respotas a interação do usuário com o sistema.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94247" y="1966179"/>
            <a:ext cx="4576867" cy="46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Separa a aplicação em três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707" y="2807056"/>
            <a:ext cx="9604915" cy="5336067"/>
            <a:chOff x="0" y="0"/>
            <a:chExt cx="12806553" cy="7114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6553" cy="7114794"/>
            </a:xfrm>
            <a:custGeom>
              <a:avLst/>
              <a:gdLst/>
              <a:ahLst/>
              <a:cxnLst/>
              <a:rect r="r" b="b" t="t" l="l"/>
              <a:pathLst>
                <a:path h="7114794" w="12806553">
                  <a:moveTo>
                    <a:pt x="0" y="0"/>
                  </a:moveTo>
                  <a:lnTo>
                    <a:pt x="12806553" y="0"/>
                  </a:lnTo>
                  <a:lnTo>
                    <a:pt x="12806553" y="7114794"/>
                  </a:lnTo>
                  <a:lnTo>
                    <a:pt x="0" y="7114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970837" y="2630053"/>
            <a:ext cx="7042842" cy="1671514"/>
            <a:chOff x="0" y="0"/>
            <a:chExt cx="9390456" cy="22286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0507" cy="2228723"/>
            </a:xfrm>
            <a:custGeom>
              <a:avLst/>
              <a:gdLst/>
              <a:ahLst/>
              <a:cxnLst/>
              <a:rect r="r" b="b" t="t" l="l"/>
              <a:pathLst>
                <a:path h="2228723" w="9390507">
                  <a:moveTo>
                    <a:pt x="269367" y="0"/>
                  </a:moveTo>
                  <a:lnTo>
                    <a:pt x="9121140" y="0"/>
                  </a:lnTo>
                  <a:cubicBezTo>
                    <a:pt x="9269857" y="0"/>
                    <a:pt x="9390507" y="120523"/>
                    <a:pt x="9390507" y="269367"/>
                  </a:cubicBezTo>
                  <a:lnTo>
                    <a:pt x="9390507" y="1959356"/>
                  </a:lnTo>
                  <a:cubicBezTo>
                    <a:pt x="9390507" y="2108073"/>
                    <a:pt x="9269984" y="2228723"/>
                    <a:pt x="9121140" y="2228723"/>
                  </a:cubicBezTo>
                  <a:lnTo>
                    <a:pt x="269367" y="2228723"/>
                  </a:lnTo>
                  <a:cubicBezTo>
                    <a:pt x="197993" y="2228723"/>
                    <a:pt x="129413" y="2200402"/>
                    <a:pt x="78867" y="2149856"/>
                  </a:cubicBezTo>
                  <a:cubicBezTo>
                    <a:pt x="28321" y="2099310"/>
                    <a:pt x="0" y="2030730"/>
                    <a:pt x="0" y="1959356"/>
                  </a:cubicBezTo>
                  <a:lnTo>
                    <a:pt x="0" y="269367"/>
                  </a:lnTo>
                  <a:cubicBezTo>
                    <a:pt x="0" y="197993"/>
                    <a:pt x="28321" y="129413"/>
                    <a:pt x="78867" y="78867"/>
                  </a:cubicBezTo>
                  <a:cubicBezTo>
                    <a:pt x="129413" y="28321"/>
                    <a:pt x="197866" y="0"/>
                    <a:pt x="2693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81692" y="-106718"/>
            <a:ext cx="15335250" cy="20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9"/>
              </a:lnSpc>
            </a:pPr>
            <a:r>
              <a:rPr lang="en-US" sz="1053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4. Orientada a serviços (SOA)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81263" y="2730856"/>
            <a:ext cx="6670072" cy="130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Similar a Microsserviços. </a:t>
            </a:r>
          </a:p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Deu origem a esse subtipo. Porém com maior foco em serviços reutilizaveis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181263" y="5015970"/>
            <a:ext cx="7264136" cy="2436209"/>
            <a:chOff x="0" y="0"/>
            <a:chExt cx="9685515" cy="32482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85528" cy="3248279"/>
            </a:xfrm>
            <a:custGeom>
              <a:avLst/>
              <a:gdLst/>
              <a:ahLst/>
              <a:cxnLst/>
              <a:rect r="r" b="b" t="t" l="l"/>
              <a:pathLst>
                <a:path h="3248279" w="9685528">
                  <a:moveTo>
                    <a:pt x="261112" y="0"/>
                  </a:moveTo>
                  <a:lnTo>
                    <a:pt x="9424416" y="0"/>
                  </a:lnTo>
                  <a:cubicBezTo>
                    <a:pt x="9568688" y="0"/>
                    <a:pt x="9685528" y="116967"/>
                    <a:pt x="9685528" y="261112"/>
                  </a:cubicBezTo>
                  <a:lnTo>
                    <a:pt x="9685528" y="2987167"/>
                  </a:lnTo>
                  <a:cubicBezTo>
                    <a:pt x="9685528" y="3056382"/>
                    <a:pt x="9657969" y="3122803"/>
                    <a:pt x="9609074" y="3171825"/>
                  </a:cubicBezTo>
                  <a:cubicBezTo>
                    <a:pt x="9560179" y="3220847"/>
                    <a:pt x="9493631" y="3248279"/>
                    <a:pt x="9424416" y="3248279"/>
                  </a:cubicBezTo>
                  <a:lnTo>
                    <a:pt x="261112" y="3248279"/>
                  </a:lnTo>
                  <a:cubicBezTo>
                    <a:pt x="191897" y="3248279"/>
                    <a:pt x="125476" y="3220720"/>
                    <a:pt x="76454" y="3171825"/>
                  </a:cubicBezTo>
                  <a:cubicBezTo>
                    <a:pt x="27432" y="3122930"/>
                    <a:pt x="0" y="3056382"/>
                    <a:pt x="0" y="2987167"/>
                  </a:cubicBezTo>
                  <a:lnTo>
                    <a:pt x="0" y="261112"/>
                  </a:lnTo>
                  <a:cubicBezTo>
                    <a:pt x="0" y="191897"/>
                    <a:pt x="27559" y="125476"/>
                    <a:pt x="76454" y="76454"/>
                  </a:cubicBezTo>
                  <a:cubicBezTo>
                    <a:pt x="125349" y="27432"/>
                    <a:pt x="191897" y="0"/>
                    <a:pt x="26111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418435" y="5056527"/>
            <a:ext cx="6805727" cy="216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principal diferença: está em como os serviços estão expostos e consumidos, por meio de um barramento de serviços, que facilita a integração de sistemas legados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0577" y="2438819"/>
            <a:ext cx="8033423" cy="5900195"/>
            <a:chOff x="0" y="0"/>
            <a:chExt cx="10711231" cy="78669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11180" cy="7866888"/>
            </a:xfrm>
            <a:custGeom>
              <a:avLst/>
              <a:gdLst/>
              <a:ahLst/>
              <a:cxnLst/>
              <a:rect r="r" b="b" t="t" l="l"/>
              <a:pathLst>
                <a:path h="7866888" w="10711180">
                  <a:moveTo>
                    <a:pt x="0" y="0"/>
                  </a:moveTo>
                  <a:lnTo>
                    <a:pt x="10711180" y="0"/>
                  </a:lnTo>
                  <a:lnTo>
                    <a:pt x="10711180" y="7866888"/>
                  </a:lnTo>
                  <a:lnTo>
                    <a:pt x="0" y="7866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81692" y="-106718"/>
            <a:ext cx="12708255" cy="20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9"/>
              </a:lnSpc>
            </a:pPr>
            <a:r>
              <a:rPr lang="en-US" sz="1053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5. Em camadas (Layers)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082422" y="3068203"/>
            <a:ext cx="7176821" cy="1334910"/>
            <a:chOff x="0" y="0"/>
            <a:chExt cx="9569094" cy="1779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69069" cy="1779905"/>
            </a:xfrm>
            <a:custGeom>
              <a:avLst/>
              <a:gdLst/>
              <a:ahLst/>
              <a:cxnLst/>
              <a:rect r="r" b="b" t="t" l="l"/>
              <a:pathLst>
                <a:path h="1779905" w="9569069">
                  <a:moveTo>
                    <a:pt x="214630" y="0"/>
                  </a:moveTo>
                  <a:lnTo>
                    <a:pt x="9354439" y="0"/>
                  </a:lnTo>
                  <a:cubicBezTo>
                    <a:pt x="9411335" y="0"/>
                    <a:pt x="9465945" y="22606"/>
                    <a:pt x="9506204" y="62865"/>
                  </a:cubicBezTo>
                  <a:cubicBezTo>
                    <a:pt x="9546463" y="103124"/>
                    <a:pt x="9569069" y="157734"/>
                    <a:pt x="9569069" y="214630"/>
                  </a:cubicBezTo>
                  <a:lnTo>
                    <a:pt x="9569069" y="1565275"/>
                  </a:lnTo>
                  <a:cubicBezTo>
                    <a:pt x="9569069" y="1622171"/>
                    <a:pt x="9546463" y="1676781"/>
                    <a:pt x="9506204" y="1717040"/>
                  </a:cubicBezTo>
                  <a:cubicBezTo>
                    <a:pt x="9465945" y="1757299"/>
                    <a:pt x="9411335" y="1779905"/>
                    <a:pt x="9354439" y="1779905"/>
                  </a:cubicBezTo>
                  <a:lnTo>
                    <a:pt x="214630" y="1779905"/>
                  </a:lnTo>
                  <a:cubicBezTo>
                    <a:pt x="96139" y="1779905"/>
                    <a:pt x="0" y="1683766"/>
                    <a:pt x="0" y="1565275"/>
                  </a:cubicBezTo>
                  <a:lnTo>
                    <a:pt x="0" y="214630"/>
                  </a:lnTo>
                  <a:cubicBezTo>
                    <a:pt x="0" y="96139"/>
                    <a:pt x="96139" y="0"/>
                    <a:pt x="2146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334215" y="3168929"/>
            <a:ext cx="6857648" cy="87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Ogarnização em diferentes niveis, desde a interface de usuário até o back-end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51272" y="5066595"/>
            <a:ext cx="6977891" cy="1615469"/>
            <a:chOff x="0" y="0"/>
            <a:chExt cx="9303855" cy="21539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03893" cy="2153920"/>
            </a:xfrm>
            <a:custGeom>
              <a:avLst/>
              <a:gdLst/>
              <a:ahLst/>
              <a:cxnLst/>
              <a:rect r="r" b="b" t="t" l="l"/>
              <a:pathLst>
                <a:path h="2153920" w="9303893">
                  <a:moveTo>
                    <a:pt x="203962" y="0"/>
                  </a:moveTo>
                  <a:lnTo>
                    <a:pt x="9099931" y="0"/>
                  </a:lnTo>
                  <a:cubicBezTo>
                    <a:pt x="9212580" y="0"/>
                    <a:pt x="9303893" y="91313"/>
                    <a:pt x="9303893" y="203962"/>
                  </a:cubicBezTo>
                  <a:lnTo>
                    <a:pt x="9303893" y="1950085"/>
                  </a:lnTo>
                  <a:cubicBezTo>
                    <a:pt x="9303893" y="2004187"/>
                    <a:pt x="9282430" y="2056003"/>
                    <a:pt x="9244203" y="2094230"/>
                  </a:cubicBezTo>
                  <a:cubicBezTo>
                    <a:pt x="9205976" y="2132457"/>
                    <a:pt x="9154161" y="2153920"/>
                    <a:pt x="9100058" y="2153920"/>
                  </a:cubicBezTo>
                  <a:lnTo>
                    <a:pt x="203962" y="2153920"/>
                  </a:lnTo>
                  <a:cubicBezTo>
                    <a:pt x="91313" y="2153920"/>
                    <a:pt x="0" y="2062607"/>
                    <a:pt x="0" y="1950085"/>
                  </a:cubicBezTo>
                  <a:lnTo>
                    <a:pt x="0" y="203962"/>
                  </a:lnTo>
                  <a:cubicBezTo>
                    <a:pt x="0" y="149860"/>
                    <a:pt x="21463" y="97917"/>
                    <a:pt x="59690" y="59690"/>
                  </a:cubicBezTo>
                  <a:cubicBezTo>
                    <a:pt x="97917" y="21463"/>
                    <a:pt x="149860" y="0"/>
                    <a:pt x="2039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170795" y="5153873"/>
            <a:ext cx="6453645" cy="130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organização em camadas permite uma manutenção e atualização do sistema facilitada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692" y="2438819"/>
            <a:ext cx="7950451" cy="5972775"/>
            <a:chOff x="0" y="0"/>
            <a:chExt cx="10600601" cy="7963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00563" cy="7963662"/>
            </a:xfrm>
            <a:custGeom>
              <a:avLst/>
              <a:gdLst/>
              <a:ahLst/>
              <a:cxnLst/>
              <a:rect r="r" b="b" t="t" l="l"/>
              <a:pathLst>
                <a:path h="7963662" w="10600563">
                  <a:moveTo>
                    <a:pt x="0" y="0"/>
                  </a:moveTo>
                  <a:lnTo>
                    <a:pt x="10600563" y="0"/>
                  </a:lnTo>
                  <a:lnTo>
                    <a:pt x="10600563" y="7963662"/>
                  </a:lnTo>
                  <a:lnTo>
                    <a:pt x="0" y="7963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84766" y="2202609"/>
            <a:ext cx="8196786" cy="1348702"/>
            <a:chOff x="0" y="0"/>
            <a:chExt cx="10929048" cy="17982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29112" cy="1798320"/>
            </a:xfrm>
            <a:custGeom>
              <a:avLst/>
              <a:gdLst/>
              <a:ahLst/>
              <a:cxnLst/>
              <a:rect r="r" b="b" t="t" l="l"/>
              <a:pathLst>
                <a:path h="1798320" w="10929112">
                  <a:moveTo>
                    <a:pt x="269367" y="0"/>
                  </a:moveTo>
                  <a:lnTo>
                    <a:pt x="10659745" y="0"/>
                  </a:lnTo>
                  <a:cubicBezTo>
                    <a:pt x="10808462" y="0"/>
                    <a:pt x="10929112" y="120523"/>
                    <a:pt x="10929112" y="269367"/>
                  </a:cubicBezTo>
                  <a:lnTo>
                    <a:pt x="10929112" y="1528953"/>
                  </a:lnTo>
                  <a:cubicBezTo>
                    <a:pt x="10929112" y="1677670"/>
                    <a:pt x="10808588" y="1798320"/>
                    <a:pt x="10659745" y="1798320"/>
                  </a:cubicBezTo>
                  <a:lnTo>
                    <a:pt x="269367" y="1798320"/>
                  </a:lnTo>
                  <a:cubicBezTo>
                    <a:pt x="197993" y="1798320"/>
                    <a:pt x="129413" y="1769999"/>
                    <a:pt x="78867" y="1719453"/>
                  </a:cubicBezTo>
                  <a:cubicBezTo>
                    <a:pt x="28321" y="1668907"/>
                    <a:pt x="0" y="1600327"/>
                    <a:pt x="0" y="1528953"/>
                  </a:cubicBezTo>
                  <a:lnTo>
                    <a:pt x="0" y="269367"/>
                  </a:lnTo>
                  <a:cubicBezTo>
                    <a:pt x="0" y="120523"/>
                    <a:pt x="120523" y="0"/>
                    <a:pt x="2693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81692" y="-106718"/>
            <a:ext cx="10052999" cy="20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9"/>
              </a:lnSpc>
            </a:pPr>
            <a:r>
              <a:rPr lang="en-US" sz="1053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6. CLiente-servidor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30892" y="2373325"/>
            <a:ext cx="7835484" cy="87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Separado em duas partes:</a:t>
            </a:r>
          </a:p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Cliente, solicita serviços e Servidor, os fornece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605267" y="6835845"/>
            <a:ext cx="6931628" cy="2465318"/>
            <a:chOff x="0" y="0"/>
            <a:chExt cx="9242171" cy="32870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42172" cy="3287141"/>
            </a:xfrm>
            <a:custGeom>
              <a:avLst/>
              <a:gdLst/>
              <a:ahLst/>
              <a:cxnLst/>
              <a:rect r="r" b="b" t="t" l="l"/>
              <a:pathLst>
                <a:path h="3287141" w="9242172">
                  <a:moveTo>
                    <a:pt x="318516" y="0"/>
                  </a:moveTo>
                  <a:lnTo>
                    <a:pt x="8923655" y="0"/>
                  </a:lnTo>
                  <a:cubicBezTo>
                    <a:pt x="9008111" y="0"/>
                    <a:pt x="9089137" y="33528"/>
                    <a:pt x="9148826" y="93345"/>
                  </a:cubicBezTo>
                  <a:cubicBezTo>
                    <a:pt x="9208516" y="153162"/>
                    <a:pt x="9242172" y="234061"/>
                    <a:pt x="9242172" y="318516"/>
                  </a:cubicBezTo>
                  <a:lnTo>
                    <a:pt x="9242172" y="2968625"/>
                  </a:lnTo>
                  <a:cubicBezTo>
                    <a:pt x="9242172" y="3053080"/>
                    <a:pt x="9208643" y="3134106"/>
                    <a:pt x="9148826" y="3193796"/>
                  </a:cubicBezTo>
                  <a:cubicBezTo>
                    <a:pt x="9089010" y="3253486"/>
                    <a:pt x="9008111" y="3287141"/>
                    <a:pt x="8923655" y="3287141"/>
                  </a:cubicBezTo>
                  <a:lnTo>
                    <a:pt x="318516" y="3287141"/>
                  </a:lnTo>
                  <a:cubicBezTo>
                    <a:pt x="234061" y="3287141"/>
                    <a:pt x="153035" y="3253613"/>
                    <a:pt x="93345" y="3193796"/>
                  </a:cubicBezTo>
                  <a:cubicBezTo>
                    <a:pt x="33655" y="3133979"/>
                    <a:pt x="0" y="3053080"/>
                    <a:pt x="0" y="2968625"/>
                  </a:cubicBezTo>
                  <a:lnTo>
                    <a:pt x="0" y="318516"/>
                  </a:lnTo>
                  <a:cubicBezTo>
                    <a:pt x="0" y="234061"/>
                    <a:pt x="33528" y="153035"/>
                    <a:pt x="93345" y="93345"/>
                  </a:cubicBezTo>
                  <a:cubicBezTo>
                    <a:pt x="153162" y="33655"/>
                    <a:pt x="234061" y="0"/>
                    <a:pt x="31851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845497" y="6980482"/>
            <a:ext cx="6453645" cy="216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Mais comum em aplicações web e empresariais. O servidor centraliza a lógica de negócios e dados, enquanto os clientes executam a interface do usúario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327615" y="4075205"/>
            <a:ext cx="6931628" cy="2465318"/>
            <a:chOff x="0" y="0"/>
            <a:chExt cx="9242171" cy="32870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42172" cy="3287141"/>
            </a:xfrm>
            <a:custGeom>
              <a:avLst/>
              <a:gdLst/>
              <a:ahLst/>
              <a:cxnLst/>
              <a:rect r="r" b="b" t="t" l="l"/>
              <a:pathLst>
                <a:path h="3287141" w="9242172">
                  <a:moveTo>
                    <a:pt x="318516" y="0"/>
                  </a:moveTo>
                  <a:lnTo>
                    <a:pt x="8923655" y="0"/>
                  </a:lnTo>
                  <a:cubicBezTo>
                    <a:pt x="9008111" y="0"/>
                    <a:pt x="9089137" y="33528"/>
                    <a:pt x="9148826" y="93345"/>
                  </a:cubicBezTo>
                  <a:cubicBezTo>
                    <a:pt x="9208516" y="153162"/>
                    <a:pt x="9242172" y="234061"/>
                    <a:pt x="9242172" y="318516"/>
                  </a:cubicBezTo>
                  <a:lnTo>
                    <a:pt x="9242172" y="2968625"/>
                  </a:lnTo>
                  <a:cubicBezTo>
                    <a:pt x="9242172" y="3053080"/>
                    <a:pt x="9208643" y="3134106"/>
                    <a:pt x="9148826" y="3193796"/>
                  </a:cubicBezTo>
                  <a:cubicBezTo>
                    <a:pt x="9089010" y="3253486"/>
                    <a:pt x="9008111" y="3287141"/>
                    <a:pt x="8923655" y="3287141"/>
                  </a:cubicBezTo>
                  <a:lnTo>
                    <a:pt x="318516" y="3287141"/>
                  </a:lnTo>
                  <a:cubicBezTo>
                    <a:pt x="234061" y="3287141"/>
                    <a:pt x="153035" y="3253613"/>
                    <a:pt x="93345" y="3193796"/>
                  </a:cubicBezTo>
                  <a:cubicBezTo>
                    <a:pt x="33655" y="3133979"/>
                    <a:pt x="0" y="3053080"/>
                    <a:pt x="0" y="2968625"/>
                  </a:cubicBezTo>
                  <a:lnTo>
                    <a:pt x="0" y="318516"/>
                  </a:lnTo>
                  <a:cubicBezTo>
                    <a:pt x="0" y="234061"/>
                    <a:pt x="33528" y="153035"/>
                    <a:pt x="93345" y="93345"/>
                  </a:cubicBezTo>
                  <a:cubicBezTo>
                    <a:pt x="153162" y="33655"/>
                    <a:pt x="234061" y="0"/>
                    <a:pt x="31851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573741" y="4188695"/>
            <a:ext cx="6453645" cy="216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Esse modelo funcionava bem para realizar atualizações mais simples em dados e se precisasse exibir informações. Enquanto até cálculos, ficam mais difíceis de implementar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06346" y="2876969"/>
            <a:ext cx="6277861" cy="1705013"/>
            <a:chOff x="0" y="0"/>
            <a:chExt cx="8370481" cy="22733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70443" cy="2273300"/>
            </a:xfrm>
            <a:custGeom>
              <a:avLst/>
              <a:gdLst/>
              <a:ahLst/>
              <a:cxnLst/>
              <a:rect r="r" b="b" t="t" l="l"/>
              <a:pathLst>
                <a:path h="2273300" w="8370443">
                  <a:moveTo>
                    <a:pt x="245364" y="0"/>
                  </a:moveTo>
                  <a:lnTo>
                    <a:pt x="8125079" y="0"/>
                  </a:lnTo>
                  <a:cubicBezTo>
                    <a:pt x="8260588" y="0"/>
                    <a:pt x="8370443" y="109855"/>
                    <a:pt x="8370443" y="245364"/>
                  </a:cubicBezTo>
                  <a:lnTo>
                    <a:pt x="8370443" y="2027936"/>
                  </a:lnTo>
                  <a:cubicBezTo>
                    <a:pt x="8370443" y="2092960"/>
                    <a:pt x="8344536" y="2155444"/>
                    <a:pt x="8298561" y="2201418"/>
                  </a:cubicBezTo>
                  <a:cubicBezTo>
                    <a:pt x="8252587" y="2247392"/>
                    <a:pt x="8190230" y="2273300"/>
                    <a:pt x="8125079" y="2273300"/>
                  </a:cubicBezTo>
                  <a:lnTo>
                    <a:pt x="245364" y="2273300"/>
                  </a:lnTo>
                  <a:cubicBezTo>
                    <a:pt x="109855" y="2273300"/>
                    <a:pt x="0" y="2163445"/>
                    <a:pt x="0" y="2027936"/>
                  </a:cubicBezTo>
                  <a:lnTo>
                    <a:pt x="0" y="245364"/>
                  </a:lnTo>
                  <a:cubicBezTo>
                    <a:pt x="0" y="109855"/>
                    <a:pt x="109855" y="0"/>
                    <a:pt x="2453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6435" y="2876969"/>
            <a:ext cx="10357695" cy="4232586"/>
            <a:chOff x="0" y="0"/>
            <a:chExt cx="13810259" cy="56434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810235" cy="5643499"/>
            </a:xfrm>
            <a:custGeom>
              <a:avLst/>
              <a:gdLst/>
              <a:ahLst/>
              <a:cxnLst/>
              <a:rect r="r" b="b" t="t" l="l"/>
              <a:pathLst>
                <a:path h="5643499" w="13810235">
                  <a:moveTo>
                    <a:pt x="0" y="0"/>
                  </a:moveTo>
                  <a:lnTo>
                    <a:pt x="13810235" y="0"/>
                  </a:lnTo>
                  <a:lnTo>
                    <a:pt x="13810235" y="5643499"/>
                  </a:lnTo>
                  <a:lnTo>
                    <a:pt x="0" y="5643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81692" y="-106718"/>
            <a:ext cx="12455204" cy="20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9"/>
              </a:lnSpc>
            </a:pPr>
            <a:r>
              <a:rPr lang="en-US" sz="1053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7. Pipes-and-filters (PF)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41071" y="2986973"/>
            <a:ext cx="5934075" cy="130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Funciona em série, que cada parte é um componente que transforma os dados de forma linear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700910" y="5457758"/>
            <a:ext cx="5401628" cy="1704061"/>
            <a:chOff x="0" y="0"/>
            <a:chExt cx="7202170" cy="22720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02170" cy="2272157"/>
            </a:xfrm>
            <a:custGeom>
              <a:avLst/>
              <a:gdLst/>
              <a:ahLst/>
              <a:cxnLst/>
              <a:rect r="r" b="b" t="t" l="l"/>
              <a:pathLst>
                <a:path h="2272157" w="7202170">
                  <a:moveTo>
                    <a:pt x="285242" y="0"/>
                  </a:moveTo>
                  <a:lnTo>
                    <a:pt x="6916928" y="0"/>
                  </a:lnTo>
                  <a:cubicBezTo>
                    <a:pt x="7074408" y="0"/>
                    <a:pt x="7202170" y="127635"/>
                    <a:pt x="7202170" y="285242"/>
                  </a:cubicBezTo>
                  <a:lnTo>
                    <a:pt x="7202170" y="1986915"/>
                  </a:lnTo>
                  <a:cubicBezTo>
                    <a:pt x="7202170" y="2144395"/>
                    <a:pt x="7074535" y="2272157"/>
                    <a:pt x="6916928" y="2272157"/>
                  </a:cubicBezTo>
                  <a:lnTo>
                    <a:pt x="285242" y="2272157"/>
                  </a:lnTo>
                  <a:cubicBezTo>
                    <a:pt x="127635" y="2272030"/>
                    <a:pt x="0" y="2144395"/>
                    <a:pt x="0" y="1986915"/>
                  </a:cubicBezTo>
                  <a:lnTo>
                    <a:pt x="0" y="285242"/>
                  </a:lnTo>
                  <a:cubicBezTo>
                    <a:pt x="0" y="127635"/>
                    <a:pt x="127635" y="0"/>
                    <a:pt x="2852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893763" y="5619236"/>
            <a:ext cx="5015970" cy="130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Frequentemente utilizada em processamento de dados e pipelines de ETL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285537" y="7799918"/>
            <a:ext cx="9475984" cy="1704061"/>
            <a:chOff x="0" y="0"/>
            <a:chExt cx="12634646" cy="22720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634595" cy="2272030"/>
            </a:xfrm>
            <a:custGeom>
              <a:avLst/>
              <a:gdLst/>
              <a:ahLst/>
              <a:cxnLst/>
              <a:rect r="r" b="b" t="t" l="l"/>
              <a:pathLst>
                <a:path h="2272030" w="12634595">
                  <a:moveTo>
                    <a:pt x="162560" y="0"/>
                  </a:moveTo>
                  <a:lnTo>
                    <a:pt x="12472035" y="0"/>
                  </a:lnTo>
                  <a:cubicBezTo>
                    <a:pt x="12515088" y="0"/>
                    <a:pt x="12556490" y="17145"/>
                    <a:pt x="12586970" y="47625"/>
                  </a:cubicBezTo>
                  <a:cubicBezTo>
                    <a:pt x="12617450" y="78105"/>
                    <a:pt x="12634595" y="119507"/>
                    <a:pt x="12634595" y="162560"/>
                  </a:cubicBezTo>
                  <a:lnTo>
                    <a:pt x="12634595" y="2109470"/>
                  </a:lnTo>
                  <a:cubicBezTo>
                    <a:pt x="12634595" y="2152523"/>
                    <a:pt x="12617450" y="2193925"/>
                    <a:pt x="12586970" y="2224405"/>
                  </a:cubicBezTo>
                  <a:cubicBezTo>
                    <a:pt x="12556490" y="2254885"/>
                    <a:pt x="12515088" y="2272030"/>
                    <a:pt x="12472035" y="2272030"/>
                  </a:cubicBezTo>
                  <a:lnTo>
                    <a:pt x="162560" y="2272030"/>
                  </a:lnTo>
                  <a:cubicBezTo>
                    <a:pt x="119507" y="2272030"/>
                    <a:pt x="78105" y="2254885"/>
                    <a:pt x="47625" y="2224405"/>
                  </a:cubicBezTo>
                  <a:cubicBezTo>
                    <a:pt x="17145" y="2193925"/>
                    <a:pt x="0" y="2152650"/>
                    <a:pt x="0" y="2109470"/>
                  </a:cubicBezTo>
                  <a:lnTo>
                    <a:pt x="0" y="162560"/>
                  </a:lnTo>
                  <a:cubicBezTo>
                    <a:pt x="0" y="119507"/>
                    <a:pt x="17145" y="78105"/>
                    <a:pt x="47625" y="47625"/>
                  </a:cubicBezTo>
                  <a:cubicBezTo>
                    <a:pt x="78105" y="17145"/>
                    <a:pt x="119507" y="0"/>
                    <a:pt x="16256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681777" y="7961395"/>
            <a:ext cx="8794680" cy="130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Cada componente é independente, pode ser modificado ou substituído sem afetar outros filtros. O que facilita a manutenção  e evolução do sistema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662" y="2135572"/>
            <a:ext cx="9354893" cy="5262124"/>
            <a:chOff x="0" y="0"/>
            <a:chExt cx="12473191" cy="70161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73178" cy="7016115"/>
            </a:xfrm>
            <a:custGeom>
              <a:avLst/>
              <a:gdLst/>
              <a:ahLst/>
              <a:cxnLst/>
              <a:rect r="r" b="b" t="t" l="l"/>
              <a:pathLst>
                <a:path h="7016115" w="12473178">
                  <a:moveTo>
                    <a:pt x="0" y="0"/>
                  </a:moveTo>
                  <a:lnTo>
                    <a:pt x="12473178" y="0"/>
                  </a:lnTo>
                  <a:lnTo>
                    <a:pt x="12473178" y="7016115"/>
                  </a:lnTo>
                  <a:lnTo>
                    <a:pt x="0" y="7016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81692" y="-106718"/>
            <a:ext cx="11996423" cy="20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9"/>
              </a:lnSpc>
            </a:pPr>
            <a:r>
              <a:rPr lang="en-US" sz="1053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8. Orientado a eventos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52453" y="2606754"/>
            <a:ext cx="7352614" cy="1651759"/>
            <a:chOff x="0" y="0"/>
            <a:chExt cx="9803486" cy="22023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03511" cy="2202434"/>
            </a:xfrm>
            <a:custGeom>
              <a:avLst/>
              <a:gdLst/>
              <a:ahLst/>
              <a:cxnLst/>
              <a:rect r="r" b="b" t="t" l="l"/>
              <a:pathLst>
                <a:path h="2202434" w="9803511">
                  <a:moveTo>
                    <a:pt x="209550" y="0"/>
                  </a:moveTo>
                  <a:lnTo>
                    <a:pt x="9593961" y="0"/>
                  </a:lnTo>
                  <a:cubicBezTo>
                    <a:pt x="9709658" y="0"/>
                    <a:pt x="9803511" y="93853"/>
                    <a:pt x="9803511" y="209550"/>
                  </a:cubicBezTo>
                  <a:lnTo>
                    <a:pt x="9803511" y="1992884"/>
                  </a:lnTo>
                  <a:cubicBezTo>
                    <a:pt x="9803511" y="2108581"/>
                    <a:pt x="9709658" y="2202434"/>
                    <a:pt x="9593961" y="2202434"/>
                  </a:cubicBezTo>
                  <a:lnTo>
                    <a:pt x="209550" y="2202434"/>
                  </a:lnTo>
                  <a:cubicBezTo>
                    <a:pt x="93853" y="2202434"/>
                    <a:pt x="0" y="2108581"/>
                    <a:pt x="0" y="1992884"/>
                  </a:cubicBezTo>
                  <a:lnTo>
                    <a:pt x="0" y="209550"/>
                  </a:lnTo>
                  <a:cubicBezTo>
                    <a:pt x="0" y="93853"/>
                    <a:pt x="93853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442743" y="2742086"/>
            <a:ext cx="6998008" cy="130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Os componentes se comunicam entre si a partir de eventos, permitindo um sistema altamente desacoplado e reativo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79370" y="4885573"/>
            <a:ext cx="7352614" cy="1972789"/>
            <a:chOff x="0" y="0"/>
            <a:chExt cx="9803486" cy="26303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803511" cy="2630424"/>
            </a:xfrm>
            <a:custGeom>
              <a:avLst/>
              <a:gdLst/>
              <a:ahLst/>
              <a:cxnLst/>
              <a:rect r="r" b="b" t="t" l="l"/>
              <a:pathLst>
                <a:path h="2630424" w="9803511">
                  <a:moveTo>
                    <a:pt x="209550" y="0"/>
                  </a:moveTo>
                  <a:lnTo>
                    <a:pt x="9593961" y="0"/>
                  </a:lnTo>
                  <a:cubicBezTo>
                    <a:pt x="9709658" y="0"/>
                    <a:pt x="9803511" y="93853"/>
                    <a:pt x="9803511" y="209550"/>
                  </a:cubicBezTo>
                  <a:lnTo>
                    <a:pt x="9803511" y="2420874"/>
                  </a:lnTo>
                  <a:cubicBezTo>
                    <a:pt x="9803511" y="2536571"/>
                    <a:pt x="9709658" y="2630424"/>
                    <a:pt x="9593961" y="2630424"/>
                  </a:cubicBezTo>
                  <a:lnTo>
                    <a:pt x="209550" y="2630424"/>
                  </a:lnTo>
                  <a:cubicBezTo>
                    <a:pt x="93853" y="2630424"/>
                    <a:pt x="0" y="2536571"/>
                    <a:pt x="0" y="2420874"/>
                  </a:cubicBezTo>
                  <a:lnTo>
                    <a:pt x="0" y="209550"/>
                  </a:lnTo>
                  <a:cubicBezTo>
                    <a:pt x="0" y="93853"/>
                    <a:pt x="93853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513114" y="4967107"/>
            <a:ext cx="6885184" cy="173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Mais comum em sistemas distribuídos, especialmente em ambientes que necessitam de alta escalabilidade e resistência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088481" y="7626296"/>
            <a:ext cx="14708419" cy="2270884"/>
            <a:chOff x="0" y="0"/>
            <a:chExt cx="19611226" cy="30278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11339" cy="3027934"/>
            </a:xfrm>
            <a:custGeom>
              <a:avLst/>
              <a:gdLst/>
              <a:ahLst/>
              <a:cxnLst/>
              <a:rect r="r" b="b" t="t" l="l"/>
              <a:pathLst>
                <a:path h="3027934" w="19611339">
                  <a:moveTo>
                    <a:pt x="104775" y="0"/>
                  </a:moveTo>
                  <a:lnTo>
                    <a:pt x="19506564" y="0"/>
                  </a:lnTo>
                  <a:cubicBezTo>
                    <a:pt x="19564350" y="0"/>
                    <a:pt x="19611339" y="46863"/>
                    <a:pt x="19611339" y="104775"/>
                  </a:cubicBezTo>
                  <a:lnTo>
                    <a:pt x="19611339" y="2923159"/>
                  </a:lnTo>
                  <a:cubicBezTo>
                    <a:pt x="19611339" y="2980944"/>
                    <a:pt x="19564477" y="3027934"/>
                    <a:pt x="19506564" y="3027934"/>
                  </a:cubicBezTo>
                  <a:lnTo>
                    <a:pt x="104775" y="3027934"/>
                  </a:lnTo>
                  <a:cubicBezTo>
                    <a:pt x="46990" y="3027934"/>
                    <a:pt x="0" y="2981071"/>
                    <a:pt x="0" y="2923159"/>
                  </a:cubicBezTo>
                  <a:lnTo>
                    <a:pt x="0" y="104775"/>
                  </a:lnTo>
                  <a:cubicBezTo>
                    <a:pt x="0" y="46863"/>
                    <a:pt x="46863" y="0"/>
                    <a:pt x="1047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238452" y="7845371"/>
            <a:ext cx="14366672" cy="173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acoplamento fraco permite uma maior agilidade. Os microsserviços podem ser dimensionados de forma idependente, falhas nao afetam outros serviços e reduz a complexidade de fluxo de trabalho. Os eventos podem ser armazenados em buffers e registrados de maneira flexivel. Os eventos baseados em push operam em tempo real.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692" y="2531974"/>
            <a:ext cx="9607820" cy="4845082"/>
            <a:chOff x="0" y="0"/>
            <a:chExt cx="12810426" cy="64601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10363" cy="6460109"/>
            </a:xfrm>
            <a:custGeom>
              <a:avLst/>
              <a:gdLst/>
              <a:ahLst/>
              <a:cxnLst/>
              <a:rect r="r" b="b" t="t" l="l"/>
              <a:pathLst>
                <a:path h="6460109" w="12810363">
                  <a:moveTo>
                    <a:pt x="0" y="0"/>
                  </a:moveTo>
                  <a:lnTo>
                    <a:pt x="12810363" y="0"/>
                  </a:lnTo>
                  <a:lnTo>
                    <a:pt x="12810363" y="6460109"/>
                  </a:lnTo>
                  <a:lnTo>
                    <a:pt x="0" y="6460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7" r="0" b="-47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81692" y="-106718"/>
            <a:ext cx="12068813" cy="20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9"/>
              </a:lnSpc>
            </a:pPr>
            <a:r>
              <a:rPr lang="en-US" sz="1053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9. Baseado em espaço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607650" y="2662676"/>
            <a:ext cx="7267394" cy="2172338"/>
            <a:chOff x="0" y="0"/>
            <a:chExt cx="9689859" cy="28964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89847" cy="2896489"/>
            </a:xfrm>
            <a:custGeom>
              <a:avLst/>
              <a:gdLst/>
              <a:ahLst/>
              <a:cxnLst/>
              <a:rect r="r" b="b" t="t" l="l"/>
              <a:pathLst>
                <a:path h="2896489" w="9689847">
                  <a:moveTo>
                    <a:pt x="269367" y="0"/>
                  </a:moveTo>
                  <a:lnTo>
                    <a:pt x="9420479" y="0"/>
                  </a:lnTo>
                  <a:cubicBezTo>
                    <a:pt x="9491853" y="0"/>
                    <a:pt x="9560433" y="28321"/>
                    <a:pt x="9610979" y="78867"/>
                  </a:cubicBezTo>
                  <a:cubicBezTo>
                    <a:pt x="9661525" y="129413"/>
                    <a:pt x="9689847" y="197866"/>
                    <a:pt x="9689847" y="269367"/>
                  </a:cubicBezTo>
                  <a:lnTo>
                    <a:pt x="9689847" y="2627122"/>
                  </a:lnTo>
                  <a:cubicBezTo>
                    <a:pt x="9689847" y="2698496"/>
                    <a:pt x="9661525" y="2767076"/>
                    <a:pt x="9610979" y="2817622"/>
                  </a:cubicBezTo>
                  <a:cubicBezTo>
                    <a:pt x="9560433" y="2868168"/>
                    <a:pt x="9491980" y="2896489"/>
                    <a:pt x="9420479" y="2896489"/>
                  </a:cubicBezTo>
                  <a:lnTo>
                    <a:pt x="269367" y="2896489"/>
                  </a:lnTo>
                  <a:cubicBezTo>
                    <a:pt x="197993" y="2896489"/>
                    <a:pt x="129413" y="2868168"/>
                    <a:pt x="78867" y="2817622"/>
                  </a:cubicBezTo>
                  <a:cubicBezTo>
                    <a:pt x="28321" y="2767076"/>
                    <a:pt x="0" y="2698496"/>
                    <a:pt x="0" y="2627122"/>
                  </a:cubicBezTo>
                  <a:lnTo>
                    <a:pt x="0" y="269367"/>
                  </a:lnTo>
                  <a:cubicBezTo>
                    <a:pt x="0" y="197993"/>
                    <a:pt x="28321" y="129413"/>
                    <a:pt x="78867" y="78867"/>
                  </a:cubicBezTo>
                  <a:cubicBezTo>
                    <a:pt x="129413" y="28321"/>
                    <a:pt x="197866" y="0"/>
                    <a:pt x="2693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822448" y="2843984"/>
            <a:ext cx="6732803" cy="173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Lida com escalabilidade de sistemas distribuidos. Utiliza a noção de espaços como repositórios compartilhados de dados e processos.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555129" y="5358917"/>
            <a:ext cx="7267394" cy="1753600"/>
            <a:chOff x="0" y="0"/>
            <a:chExt cx="9689859" cy="23381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89847" cy="2338197"/>
            </a:xfrm>
            <a:custGeom>
              <a:avLst/>
              <a:gdLst/>
              <a:ahLst/>
              <a:cxnLst/>
              <a:rect r="r" b="b" t="t" l="l"/>
              <a:pathLst>
                <a:path h="2338197" w="9689847">
                  <a:moveTo>
                    <a:pt x="269367" y="0"/>
                  </a:moveTo>
                  <a:lnTo>
                    <a:pt x="9420479" y="0"/>
                  </a:lnTo>
                  <a:cubicBezTo>
                    <a:pt x="9491853" y="0"/>
                    <a:pt x="9560433" y="28321"/>
                    <a:pt x="9610979" y="78867"/>
                  </a:cubicBezTo>
                  <a:cubicBezTo>
                    <a:pt x="9661525" y="129413"/>
                    <a:pt x="9689847" y="197866"/>
                    <a:pt x="9689847" y="269367"/>
                  </a:cubicBezTo>
                  <a:lnTo>
                    <a:pt x="9689847" y="2068830"/>
                  </a:lnTo>
                  <a:cubicBezTo>
                    <a:pt x="9689847" y="2140204"/>
                    <a:pt x="9661525" y="2208784"/>
                    <a:pt x="9610979" y="2259330"/>
                  </a:cubicBezTo>
                  <a:cubicBezTo>
                    <a:pt x="9560433" y="2309876"/>
                    <a:pt x="9491980" y="2338197"/>
                    <a:pt x="9420479" y="2338197"/>
                  </a:cubicBezTo>
                  <a:lnTo>
                    <a:pt x="269367" y="2338197"/>
                  </a:lnTo>
                  <a:cubicBezTo>
                    <a:pt x="197993" y="2338197"/>
                    <a:pt x="129413" y="2309876"/>
                    <a:pt x="78867" y="2259330"/>
                  </a:cubicBezTo>
                  <a:cubicBezTo>
                    <a:pt x="28321" y="2208784"/>
                    <a:pt x="0" y="2140204"/>
                    <a:pt x="0" y="2068830"/>
                  </a:cubicBezTo>
                  <a:lnTo>
                    <a:pt x="0" y="269367"/>
                  </a:lnTo>
                  <a:cubicBezTo>
                    <a:pt x="0" y="197993"/>
                    <a:pt x="28321" y="129413"/>
                    <a:pt x="78867" y="78867"/>
                  </a:cubicBezTo>
                  <a:cubicBezTo>
                    <a:pt x="129413" y="28321"/>
                    <a:pt x="197866" y="0"/>
                    <a:pt x="2693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822448" y="5471703"/>
            <a:ext cx="6732803" cy="130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escolha para sistemas que precisam escalar horizontalmente sem centralizar a carga de trabalho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873247" y="7900940"/>
            <a:ext cx="11468710" cy="1753600"/>
            <a:chOff x="0" y="0"/>
            <a:chExt cx="15291613" cy="23381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91690" cy="2338197"/>
            </a:xfrm>
            <a:custGeom>
              <a:avLst/>
              <a:gdLst/>
              <a:ahLst/>
              <a:cxnLst/>
              <a:rect r="r" b="b" t="t" l="l"/>
              <a:pathLst>
                <a:path h="2338197" w="15291690">
                  <a:moveTo>
                    <a:pt x="170688" y="0"/>
                  </a:moveTo>
                  <a:lnTo>
                    <a:pt x="15121001" y="0"/>
                  </a:lnTo>
                  <a:cubicBezTo>
                    <a:pt x="15215236" y="0"/>
                    <a:pt x="15291690" y="76454"/>
                    <a:pt x="15291690" y="170688"/>
                  </a:cubicBezTo>
                  <a:lnTo>
                    <a:pt x="15291690" y="2167509"/>
                  </a:lnTo>
                  <a:cubicBezTo>
                    <a:pt x="15291690" y="2261743"/>
                    <a:pt x="15215236" y="2338197"/>
                    <a:pt x="15121001" y="2338197"/>
                  </a:cubicBezTo>
                  <a:lnTo>
                    <a:pt x="170688" y="2338197"/>
                  </a:lnTo>
                  <a:cubicBezTo>
                    <a:pt x="76454" y="2338197"/>
                    <a:pt x="0" y="2261743"/>
                    <a:pt x="0" y="2167509"/>
                  </a:cubicBezTo>
                  <a:lnTo>
                    <a:pt x="0" y="170688"/>
                  </a:lnTo>
                  <a:cubicBezTo>
                    <a:pt x="0" y="76454"/>
                    <a:pt x="76454" y="0"/>
                    <a:pt x="1706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129022" y="8087192"/>
            <a:ext cx="10852537" cy="130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Perde seu banco de dados central e no lugar são utilizados grids de dados replicados em memória. Com serviços replicando banco de dados com o mesmo nome para outros serviçoes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692" y="2438819"/>
            <a:ext cx="6896262" cy="7346623"/>
            <a:chOff x="0" y="0"/>
            <a:chExt cx="9195016" cy="97954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95054" cy="9795510"/>
            </a:xfrm>
            <a:custGeom>
              <a:avLst/>
              <a:gdLst/>
              <a:ahLst/>
              <a:cxnLst/>
              <a:rect r="r" b="b" t="t" l="l"/>
              <a:pathLst>
                <a:path h="9795510" w="9195054">
                  <a:moveTo>
                    <a:pt x="0" y="0"/>
                  </a:moveTo>
                  <a:lnTo>
                    <a:pt x="9195054" y="0"/>
                  </a:lnTo>
                  <a:lnTo>
                    <a:pt x="9195054" y="9795510"/>
                  </a:lnTo>
                  <a:lnTo>
                    <a:pt x="0" y="9795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81692" y="-106718"/>
            <a:ext cx="17544574" cy="20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9"/>
              </a:lnSpc>
            </a:pPr>
            <a:r>
              <a:rPr lang="en-US" sz="1053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10. Publicador-Inscrito (Pub/Sub)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443999" y="2678268"/>
            <a:ext cx="7055282" cy="2054733"/>
            <a:chOff x="0" y="0"/>
            <a:chExt cx="9407042" cy="27396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07017" cy="2739644"/>
            </a:xfrm>
            <a:custGeom>
              <a:avLst/>
              <a:gdLst/>
              <a:ahLst/>
              <a:cxnLst/>
              <a:rect r="r" b="b" t="t" l="l"/>
              <a:pathLst>
                <a:path h="2739644" w="9407017">
                  <a:moveTo>
                    <a:pt x="269367" y="0"/>
                  </a:moveTo>
                  <a:lnTo>
                    <a:pt x="9137650" y="0"/>
                  </a:lnTo>
                  <a:cubicBezTo>
                    <a:pt x="9209024" y="0"/>
                    <a:pt x="9277604" y="28321"/>
                    <a:pt x="9328150" y="78867"/>
                  </a:cubicBezTo>
                  <a:cubicBezTo>
                    <a:pt x="9378696" y="129413"/>
                    <a:pt x="9407017" y="197866"/>
                    <a:pt x="9407017" y="269367"/>
                  </a:cubicBezTo>
                  <a:lnTo>
                    <a:pt x="9407017" y="2470277"/>
                  </a:lnTo>
                  <a:cubicBezTo>
                    <a:pt x="9407017" y="2541651"/>
                    <a:pt x="9378696" y="2610231"/>
                    <a:pt x="9328150" y="2660777"/>
                  </a:cubicBezTo>
                  <a:cubicBezTo>
                    <a:pt x="9277604" y="2711323"/>
                    <a:pt x="9209151" y="2739644"/>
                    <a:pt x="9137650" y="2739644"/>
                  </a:cubicBezTo>
                  <a:lnTo>
                    <a:pt x="269367" y="2739644"/>
                  </a:lnTo>
                  <a:cubicBezTo>
                    <a:pt x="197993" y="2739644"/>
                    <a:pt x="129413" y="2711323"/>
                    <a:pt x="78867" y="2660777"/>
                  </a:cubicBezTo>
                  <a:cubicBezTo>
                    <a:pt x="28321" y="2610231"/>
                    <a:pt x="0" y="2541778"/>
                    <a:pt x="0" y="2470277"/>
                  </a:cubicBezTo>
                  <a:lnTo>
                    <a:pt x="0" y="269367"/>
                  </a:lnTo>
                  <a:cubicBezTo>
                    <a:pt x="0" y="197993"/>
                    <a:pt x="28321" y="129413"/>
                    <a:pt x="78867" y="78867"/>
                  </a:cubicBezTo>
                  <a:cubicBezTo>
                    <a:pt x="129413" y="28321"/>
                    <a:pt x="197866" y="0"/>
                    <a:pt x="2693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9744847" y="2800769"/>
            <a:ext cx="6453645" cy="173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Os produtores de mensagens(Pub) não enviam mensagens diretamente aos consumidores(Sub), mas por meio de um intermédio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625460" y="5695055"/>
            <a:ext cx="7152980" cy="2655760"/>
            <a:chOff x="0" y="0"/>
            <a:chExt cx="9537306" cy="35410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37319" cy="3541014"/>
            </a:xfrm>
            <a:custGeom>
              <a:avLst/>
              <a:gdLst/>
              <a:ahLst/>
              <a:cxnLst/>
              <a:rect r="r" b="b" t="t" l="l"/>
              <a:pathLst>
                <a:path h="3541014" w="9537319">
                  <a:moveTo>
                    <a:pt x="265684" y="0"/>
                  </a:moveTo>
                  <a:lnTo>
                    <a:pt x="9271635" y="0"/>
                  </a:lnTo>
                  <a:cubicBezTo>
                    <a:pt x="9418320" y="0"/>
                    <a:pt x="9537319" y="118999"/>
                    <a:pt x="9537319" y="265684"/>
                  </a:cubicBezTo>
                  <a:lnTo>
                    <a:pt x="9537319" y="3275330"/>
                  </a:lnTo>
                  <a:cubicBezTo>
                    <a:pt x="9537319" y="3422015"/>
                    <a:pt x="9418320" y="3541014"/>
                    <a:pt x="9271635" y="3541014"/>
                  </a:cubicBezTo>
                  <a:lnTo>
                    <a:pt x="265684" y="3541014"/>
                  </a:lnTo>
                  <a:cubicBezTo>
                    <a:pt x="118999" y="3541014"/>
                    <a:pt x="0" y="3422015"/>
                    <a:pt x="0" y="3275330"/>
                  </a:cubicBezTo>
                  <a:lnTo>
                    <a:pt x="0" y="265684"/>
                  </a:lnTo>
                  <a:cubicBezTo>
                    <a:pt x="0" y="118999"/>
                    <a:pt x="118999" y="0"/>
                    <a:pt x="26568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6298" y="5903766"/>
            <a:ext cx="6453645" cy="216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Distribui as mensagens para todos os inscritos. Útil para sistemas que exigem comunicação assíncrona e alta flexibilidade na adição ou remoção dos componentes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838916"/>
            <a:ext cx="7970987" cy="8448084"/>
            <a:chOff x="0" y="0"/>
            <a:chExt cx="10627982" cy="112641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27995" cy="11264138"/>
            </a:xfrm>
            <a:custGeom>
              <a:avLst/>
              <a:gdLst/>
              <a:ahLst/>
              <a:cxnLst/>
              <a:rect r="r" b="b" t="t" l="l"/>
              <a:pathLst>
                <a:path h="11264138" w="10627995">
                  <a:moveTo>
                    <a:pt x="0" y="0"/>
                  </a:moveTo>
                  <a:lnTo>
                    <a:pt x="10627995" y="0"/>
                  </a:lnTo>
                  <a:lnTo>
                    <a:pt x="10627995" y="11264138"/>
                  </a:lnTo>
                  <a:lnTo>
                    <a:pt x="0" y="11264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209" t="0" r="-44209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94936" y="591731"/>
            <a:ext cx="2780700" cy="874271"/>
          </a:xfrm>
          <a:custGeom>
            <a:avLst/>
            <a:gdLst/>
            <a:ahLst/>
            <a:cxnLst/>
            <a:rect r="r" b="b" t="t" l="l"/>
            <a:pathLst>
              <a:path h="874271" w="2780700">
                <a:moveTo>
                  <a:pt x="0" y="0"/>
                </a:moveTo>
                <a:lnTo>
                  <a:pt x="2780700" y="0"/>
                </a:lnTo>
                <a:lnTo>
                  <a:pt x="2780700" y="874271"/>
                </a:lnTo>
                <a:lnTo>
                  <a:pt x="0" y="874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11478" y="-536896"/>
            <a:ext cx="10688183" cy="259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39"/>
              </a:lnSpc>
            </a:pPr>
            <a:r>
              <a:rPr lang="en-US" sz="135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Qual escolher?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33867" y="2757002"/>
            <a:ext cx="9134161" cy="130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8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Como foi apresentado, existem vários tipos de padrões de Arquitetura de Software. Outros além dos citados nesta aula. Então, como escolher um padrão?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33867" y="4758023"/>
            <a:ext cx="9134161" cy="130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8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Infelizmente não é apenas pegar o modelo que estiver mais em alta. A chance dele ser a escolha correta para o seu problema é bem pequena.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33867" y="6666243"/>
            <a:ext cx="9134161" cy="2590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8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escolha correta começa pelo entendimento do problema que precisa de uma solução. É necessário ter compreensão do seu modelo de negócio, limitações e vantagens de cada padrão. Além de ter total liberdade de mudar aquilo que não encaixar 100% no seu caso.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551519"/>
            <a:ext cx="2238242" cy="935993"/>
          </a:xfrm>
          <a:custGeom>
            <a:avLst/>
            <a:gdLst/>
            <a:ahLst/>
            <a:cxnLst/>
            <a:rect r="r" b="b" t="t" l="l"/>
            <a:pathLst>
              <a:path h="935993" w="2238242">
                <a:moveTo>
                  <a:pt x="0" y="0"/>
                </a:moveTo>
                <a:lnTo>
                  <a:pt x="2238242" y="0"/>
                </a:lnTo>
                <a:lnTo>
                  <a:pt x="2238242" y="935993"/>
                </a:lnTo>
                <a:lnTo>
                  <a:pt x="0" y="9359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31126" y="1535649"/>
            <a:ext cx="12251312" cy="9214742"/>
            <a:chOff x="0" y="0"/>
            <a:chExt cx="16335083" cy="122863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335121" cy="12286361"/>
            </a:xfrm>
            <a:custGeom>
              <a:avLst/>
              <a:gdLst/>
              <a:ahLst/>
              <a:cxnLst/>
              <a:rect r="r" b="b" t="t" l="l"/>
              <a:pathLst>
                <a:path h="12286361" w="16335121">
                  <a:moveTo>
                    <a:pt x="0" y="0"/>
                  </a:moveTo>
                  <a:lnTo>
                    <a:pt x="16335121" y="0"/>
                  </a:lnTo>
                  <a:lnTo>
                    <a:pt x="16335121" y="12286361"/>
                  </a:lnTo>
                  <a:lnTo>
                    <a:pt x="0" y="12286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379134" y="4153881"/>
            <a:ext cx="1322194" cy="1123693"/>
          </a:xfrm>
          <a:custGeom>
            <a:avLst/>
            <a:gdLst/>
            <a:ahLst/>
            <a:cxnLst/>
            <a:rect r="r" b="b" t="t" l="l"/>
            <a:pathLst>
              <a:path h="1123693" w="1322194">
                <a:moveTo>
                  <a:pt x="0" y="0"/>
                </a:moveTo>
                <a:lnTo>
                  <a:pt x="1322194" y="0"/>
                </a:lnTo>
                <a:lnTo>
                  <a:pt x="1322194" y="1123693"/>
                </a:lnTo>
                <a:lnTo>
                  <a:pt x="0" y="11236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565498" y="8334756"/>
            <a:ext cx="1946148" cy="923544"/>
          </a:xfrm>
          <a:custGeom>
            <a:avLst/>
            <a:gdLst/>
            <a:ahLst/>
            <a:cxnLst/>
            <a:rect r="r" b="b" t="t" l="l"/>
            <a:pathLst>
              <a:path h="923544" w="1946148">
                <a:moveTo>
                  <a:pt x="0" y="0"/>
                </a:moveTo>
                <a:lnTo>
                  <a:pt x="1946148" y="0"/>
                </a:lnTo>
                <a:lnTo>
                  <a:pt x="1946148" y="923544"/>
                </a:lnTo>
                <a:lnTo>
                  <a:pt x="0" y="9235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65197" y="24213"/>
            <a:ext cx="14970871" cy="2546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67"/>
              </a:lnSpc>
            </a:pPr>
            <a:r>
              <a:rPr lang="en-US" sz="13599">
                <a:solidFill>
                  <a:srgbClr val="1E3A8A"/>
                </a:solidFill>
                <a:latin typeface="Anton"/>
                <a:ea typeface="Anton"/>
                <a:cs typeface="Anton"/>
                <a:sym typeface="Anton"/>
              </a:rPr>
              <a:t>Complemento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2444" y="6968919"/>
            <a:ext cx="7668568" cy="216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8"/>
              </a:lnSpc>
            </a:pPr>
            <a:r>
              <a:rPr lang="en-US" sz="2499" b="true">
                <a:solidFill>
                  <a:srgbClr val="1E3A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Como pode ser visto. Arquitetura de Software não é definida apenas por uma descrição, ela é meio que tudo em todo lugar ao mesmo tempo, sendo mais fácil definir o que ela não é.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2444" y="4024312"/>
            <a:ext cx="7668568" cy="216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8"/>
              </a:lnSpc>
            </a:pPr>
            <a:r>
              <a:rPr lang="en-US" sz="2499" b="true">
                <a:solidFill>
                  <a:srgbClr val="1E3A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Nem todo dev sênior é um arquiteto de software. Afinal, é necessário estudos mais focados, com conhecimento em diferentes aspectos do desenvolvimento e estudo continuo.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2340226" cy="723652"/>
          </a:xfrm>
          <a:custGeom>
            <a:avLst/>
            <a:gdLst/>
            <a:ahLst/>
            <a:cxnLst/>
            <a:rect r="r" b="b" t="t" l="l"/>
            <a:pathLst>
              <a:path h="723652" w="2340226">
                <a:moveTo>
                  <a:pt x="0" y="0"/>
                </a:moveTo>
                <a:lnTo>
                  <a:pt x="2340226" y="0"/>
                </a:lnTo>
                <a:lnTo>
                  <a:pt x="2340226" y="723652"/>
                </a:lnTo>
                <a:lnTo>
                  <a:pt x="0" y="723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00513" y="1028700"/>
            <a:ext cx="960882" cy="981075"/>
          </a:xfrm>
          <a:custGeom>
            <a:avLst/>
            <a:gdLst/>
            <a:ahLst/>
            <a:cxnLst/>
            <a:rect r="r" b="b" t="t" l="l"/>
            <a:pathLst>
              <a:path h="981075" w="960882">
                <a:moveTo>
                  <a:pt x="0" y="0"/>
                </a:moveTo>
                <a:lnTo>
                  <a:pt x="960883" y="0"/>
                </a:lnTo>
                <a:lnTo>
                  <a:pt x="960883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36850" y="3868817"/>
            <a:ext cx="7152980" cy="2655760"/>
            <a:chOff x="0" y="0"/>
            <a:chExt cx="9537306" cy="35410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37319" cy="3541014"/>
            </a:xfrm>
            <a:custGeom>
              <a:avLst/>
              <a:gdLst/>
              <a:ahLst/>
              <a:cxnLst/>
              <a:rect r="r" b="b" t="t" l="l"/>
              <a:pathLst>
                <a:path h="3541014" w="9537319">
                  <a:moveTo>
                    <a:pt x="265684" y="0"/>
                  </a:moveTo>
                  <a:lnTo>
                    <a:pt x="9271635" y="0"/>
                  </a:lnTo>
                  <a:cubicBezTo>
                    <a:pt x="9418320" y="0"/>
                    <a:pt x="9537319" y="118999"/>
                    <a:pt x="9537319" y="265684"/>
                  </a:cubicBezTo>
                  <a:lnTo>
                    <a:pt x="9537319" y="3275330"/>
                  </a:lnTo>
                  <a:cubicBezTo>
                    <a:pt x="9537319" y="3422015"/>
                    <a:pt x="9418320" y="3541014"/>
                    <a:pt x="9271635" y="3541014"/>
                  </a:cubicBezTo>
                  <a:lnTo>
                    <a:pt x="265684" y="3541014"/>
                  </a:lnTo>
                  <a:cubicBezTo>
                    <a:pt x="118999" y="3541014"/>
                    <a:pt x="0" y="3422015"/>
                    <a:pt x="0" y="3275330"/>
                  </a:cubicBezTo>
                  <a:lnTo>
                    <a:pt x="0" y="265684"/>
                  </a:lnTo>
                  <a:cubicBezTo>
                    <a:pt x="0" y="118999"/>
                    <a:pt x="118999" y="0"/>
                    <a:pt x="26568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23273" y="3868817"/>
            <a:ext cx="7152980" cy="2655760"/>
            <a:chOff x="0" y="0"/>
            <a:chExt cx="9537306" cy="35410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37319" cy="3541014"/>
            </a:xfrm>
            <a:custGeom>
              <a:avLst/>
              <a:gdLst/>
              <a:ahLst/>
              <a:cxnLst/>
              <a:rect r="r" b="b" t="t" l="l"/>
              <a:pathLst>
                <a:path h="3541014" w="9537319">
                  <a:moveTo>
                    <a:pt x="265684" y="0"/>
                  </a:moveTo>
                  <a:lnTo>
                    <a:pt x="9271635" y="0"/>
                  </a:lnTo>
                  <a:cubicBezTo>
                    <a:pt x="9418320" y="0"/>
                    <a:pt x="9537319" y="118999"/>
                    <a:pt x="9537319" y="265684"/>
                  </a:cubicBezTo>
                  <a:lnTo>
                    <a:pt x="9537319" y="3275330"/>
                  </a:lnTo>
                  <a:cubicBezTo>
                    <a:pt x="9537319" y="3422015"/>
                    <a:pt x="9418320" y="3541014"/>
                    <a:pt x="9271635" y="3541014"/>
                  </a:cubicBezTo>
                  <a:lnTo>
                    <a:pt x="265684" y="3541014"/>
                  </a:lnTo>
                  <a:cubicBezTo>
                    <a:pt x="118999" y="3541014"/>
                    <a:pt x="0" y="3422015"/>
                    <a:pt x="0" y="3275330"/>
                  </a:cubicBezTo>
                  <a:lnTo>
                    <a:pt x="0" y="265684"/>
                  </a:lnTo>
                  <a:cubicBezTo>
                    <a:pt x="0" y="118999"/>
                    <a:pt x="118999" y="0"/>
                    <a:pt x="26568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4813373" y="423081"/>
            <a:ext cx="8834304" cy="259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39"/>
              </a:lnSpc>
            </a:pPr>
            <a:r>
              <a:rPr lang="en-US" sz="135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Atividade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36850" y="6699999"/>
            <a:ext cx="7152980" cy="2655760"/>
            <a:chOff x="0" y="0"/>
            <a:chExt cx="9537306" cy="35410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37319" cy="3541014"/>
            </a:xfrm>
            <a:custGeom>
              <a:avLst/>
              <a:gdLst/>
              <a:ahLst/>
              <a:cxnLst/>
              <a:rect r="r" b="b" t="t" l="l"/>
              <a:pathLst>
                <a:path h="3541014" w="9537319">
                  <a:moveTo>
                    <a:pt x="265684" y="0"/>
                  </a:moveTo>
                  <a:lnTo>
                    <a:pt x="9271635" y="0"/>
                  </a:lnTo>
                  <a:cubicBezTo>
                    <a:pt x="9418320" y="0"/>
                    <a:pt x="9537319" y="118999"/>
                    <a:pt x="9537319" y="265684"/>
                  </a:cubicBezTo>
                  <a:lnTo>
                    <a:pt x="9537319" y="3275330"/>
                  </a:lnTo>
                  <a:cubicBezTo>
                    <a:pt x="9537319" y="3422015"/>
                    <a:pt x="9418320" y="3541014"/>
                    <a:pt x="9271635" y="3541014"/>
                  </a:cubicBezTo>
                  <a:lnTo>
                    <a:pt x="265684" y="3541014"/>
                  </a:lnTo>
                  <a:cubicBezTo>
                    <a:pt x="118999" y="3541014"/>
                    <a:pt x="0" y="3422015"/>
                    <a:pt x="0" y="3275330"/>
                  </a:cubicBezTo>
                  <a:lnTo>
                    <a:pt x="0" y="265684"/>
                  </a:lnTo>
                  <a:cubicBezTo>
                    <a:pt x="0" y="118999"/>
                    <a:pt x="118999" y="0"/>
                    <a:pt x="26568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725722" y="6908721"/>
            <a:ext cx="5327056" cy="216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que fazer:</a:t>
            </a:r>
          </a:p>
          <a:p>
            <a:pPr algn="l">
              <a:lnSpc>
                <a:spcPts val="3448"/>
              </a:lnSpc>
            </a:pPr>
            <a:r>
              <a:rPr lang="en-US" sz="2499">
                <a:solidFill>
                  <a:srgbClr val="47423E"/>
                </a:solidFill>
                <a:latin typeface="Montserrat"/>
                <a:ea typeface="Montserrat"/>
                <a:cs typeface="Montserrat"/>
                <a:sym typeface="Montserrat"/>
              </a:rPr>
              <a:t>Serão dadas ações de um software genérico. Cada uma dessas ações deve ser colocada nas 3 arquiteturas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25722" y="4506163"/>
            <a:ext cx="5243312" cy="130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Separar em grupos: </a:t>
            </a:r>
          </a:p>
          <a:p>
            <a:pPr algn="l">
              <a:lnSpc>
                <a:spcPts val="3448"/>
              </a:lnSpc>
            </a:pPr>
            <a:r>
              <a:rPr lang="en-US" sz="2499">
                <a:solidFill>
                  <a:srgbClr val="47423E"/>
                </a:solidFill>
                <a:latin typeface="Montserrat"/>
                <a:ea typeface="Montserrat"/>
                <a:cs typeface="Montserrat"/>
                <a:sym typeface="Montserrat"/>
              </a:rPr>
              <a:t>Se separem em grupos de até 3 pessoas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423273" y="6699999"/>
            <a:ext cx="7152980" cy="2655760"/>
            <a:chOff x="0" y="0"/>
            <a:chExt cx="9537306" cy="35410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37319" cy="3541014"/>
            </a:xfrm>
            <a:custGeom>
              <a:avLst/>
              <a:gdLst/>
              <a:ahLst/>
              <a:cxnLst/>
              <a:rect r="r" b="b" t="t" l="l"/>
              <a:pathLst>
                <a:path h="3541014" w="9537319">
                  <a:moveTo>
                    <a:pt x="265684" y="0"/>
                  </a:moveTo>
                  <a:lnTo>
                    <a:pt x="9271635" y="0"/>
                  </a:lnTo>
                  <a:cubicBezTo>
                    <a:pt x="9418320" y="0"/>
                    <a:pt x="9537319" y="118999"/>
                    <a:pt x="9537319" y="265684"/>
                  </a:cubicBezTo>
                  <a:lnTo>
                    <a:pt x="9537319" y="3275330"/>
                  </a:lnTo>
                  <a:cubicBezTo>
                    <a:pt x="9537319" y="3422015"/>
                    <a:pt x="9418320" y="3541014"/>
                    <a:pt x="9271635" y="3541014"/>
                  </a:cubicBezTo>
                  <a:lnTo>
                    <a:pt x="265684" y="3541014"/>
                  </a:lnTo>
                  <a:cubicBezTo>
                    <a:pt x="118999" y="3541014"/>
                    <a:pt x="0" y="3422015"/>
                    <a:pt x="0" y="3275330"/>
                  </a:cubicBezTo>
                  <a:lnTo>
                    <a:pt x="0" y="265684"/>
                  </a:lnTo>
                  <a:cubicBezTo>
                    <a:pt x="0" y="118999"/>
                    <a:pt x="118999" y="0"/>
                    <a:pt x="26568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720540" y="6908721"/>
            <a:ext cx="5668870" cy="216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Exemplo e Correção:</a:t>
            </a:r>
          </a:p>
          <a:p>
            <a:pPr algn="l">
              <a:lnSpc>
                <a:spcPts val="3448"/>
              </a:lnSpc>
            </a:pPr>
            <a:r>
              <a:rPr lang="en-US" sz="2499">
                <a:solidFill>
                  <a:srgbClr val="47423E"/>
                </a:solidFill>
                <a:latin typeface="Montserrat"/>
                <a:ea typeface="Montserrat"/>
                <a:cs typeface="Montserrat"/>
                <a:sym typeface="Montserrat"/>
              </a:rPr>
              <a:t>Tera um exemplo, meio guia dos 3 modelos.</a:t>
            </a:r>
          </a:p>
          <a:p>
            <a:pPr algn="l">
              <a:lnSpc>
                <a:spcPts val="3448"/>
              </a:lnSpc>
            </a:pPr>
            <a:r>
              <a:rPr lang="en-US" sz="2499">
                <a:solidFill>
                  <a:srgbClr val="47423E"/>
                </a:solidFill>
                <a:latin typeface="Montserrat"/>
                <a:ea typeface="Montserrat"/>
                <a:cs typeface="Montserrat"/>
                <a:sym typeface="Montserrat"/>
              </a:rPr>
              <a:t>Ao final será corrigido em geral como cada uma deveria ter ficado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20540" y="4291851"/>
            <a:ext cx="5318274" cy="173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8"/>
              </a:lnSpc>
            </a:pPr>
            <a:r>
              <a:rPr lang="en-US" sz="2499" b="true">
                <a:solidFill>
                  <a:srgbClr val="4742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Material:</a:t>
            </a:r>
          </a:p>
          <a:p>
            <a:pPr algn="l">
              <a:lnSpc>
                <a:spcPts val="3448"/>
              </a:lnSpc>
            </a:pPr>
            <a:r>
              <a:rPr lang="en-US" sz="2499">
                <a:solidFill>
                  <a:srgbClr val="47423E"/>
                </a:solidFill>
                <a:latin typeface="Montserrat"/>
                <a:ea typeface="Montserrat"/>
                <a:cs typeface="Montserrat"/>
                <a:sym typeface="Montserrat"/>
              </a:rPr>
              <a:t>Irão receber uma folha com 3 tipos de arquiteturas. Precisarão de lápis ou caneta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39513" y="5916492"/>
            <a:ext cx="831828" cy="2603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47"/>
              </a:lnSpc>
            </a:pPr>
            <a:r>
              <a:rPr lang="en-US" sz="6498">
                <a:solidFill>
                  <a:srgbClr val="47423E"/>
                </a:solidFill>
                <a:latin typeface="Anton"/>
                <a:ea typeface="Anton"/>
                <a:cs typeface="Anton"/>
                <a:sym typeface="Anton"/>
              </a:rPr>
              <a:t>3°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39513" y="3085309"/>
            <a:ext cx="831828" cy="2603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47"/>
              </a:lnSpc>
            </a:pPr>
            <a:r>
              <a:rPr lang="en-US" sz="6498">
                <a:solidFill>
                  <a:srgbClr val="47423E"/>
                </a:solidFill>
                <a:latin typeface="Anton"/>
                <a:ea typeface="Anton"/>
                <a:cs typeface="Anton"/>
                <a:sym typeface="Anton"/>
              </a:rPr>
              <a:t>1°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36312" y="3085309"/>
            <a:ext cx="831828" cy="2603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47"/>
              </a:lnSpc>
            </a:pPr>
            <a:r>
              <a:rPr lang="en-US" sz="6498">
                <a:solidFill>
                  <a:srgbClr val="47423E"/>
                </a:solidFill>
                <a:latin typeface="Anton"/>
                <a:ea typeface="Anton"/>
                <a:cs typeface="Anton"/>
                <a:sym typeface="Anton"/>
              </a:rPr>
              <a:t>2°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36312" y="5916492"/>
            <a:ext cx="831828" cy="2603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47"/>
              </a:lnSpc>
            </a:pPr>
            <a:r>
              <a:rPr lang="en-US" sz="6498">
                <a:solidFill>
                  <a:srgbClr val="47423E"/>
                </a:solidFill>
                <a:latin typeface="Anton"/>
                <a:ea typeface="Anton"/>
                <a:cs typeface="Anton"/>
                <a:sym typeface="Anton"/>
              </a:rPr>
              <a:t>4°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D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1725" y="1377296"/>
            <a:ext cx="10118855" cy="8318459"/>
            <a:chOff x="0" y="0"/>
            <a:chExt cx="13491807" cy="110912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91845" cy="11091291"/>
            </a:xfrm>
            <a:custGeom>
              <a:avLst/>
              <a:gdLst/>
              <a:ahLst/>
              <a:cxnLst/>
              <a:rect r="r" b="b" t="t" l="l"/>
              <a:pathLst>
                <a:path h="11091291" w="13491845">
                  <a:moveTo>
                    <a:pt x="0" y="0"/>
                  </a:moveTo>
                  <a:lnTo>
                    <a:pt x="13491845" y="0"/>
                  </a:lnTo>
                  <a:lnTo>
                    <a:pt x="13491845" y="11091291"/>
                  </a:lnTo>
                  <a:lnTo>
                    <a:pt x="0" y="11091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781050"/>
            <a:ext cx="3474434" cy="25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Exemplos: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D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6224" y="4109190"/>
            <a:ext cx="17755543" cy="5149110"/>
            <a:chOff x="0" y="0"/>
            <a:chExt cx="23674057" cy="6865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74070" cy="6865493"/>
            </a:xfrm>
            <a:custGeom>
              <a:avLst/>
              <a:gdLst/>
              <a:ahLst/>
              <a:cxnLst/>
              <a:rect r="r" b="b" t="t" l="l"/>
              <a:pathLst>
                <a:path h="6865493" w="23674070">
                  <a:moveTo>
                    <a:pt x="0" y="0"/>
                  </a:moveTo>
                  <a:lnTo>
                    <a:pt x="23674070" y="0"/>
                  </a:lnTo>
                  <a:lnTo>
                    <a:pt x="23674070" y="6865493"/>
                  </a:lnTo>
                  <a:lnTo>
                    <a:pt x="0" y="6865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2" r="0" b="-5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46567" y="5695369"/>
            <a:ext cx="16994876" cy="3230766"/>
          </a:xfrm>
          <a:custGeom>
            <a:avLst/>
            <a:gdLst/>
            <a:ahLst/>
            <a:cxnLst/>
            <a:rect r="r" b="b" t="t" l="l"/>
            <a:pathLst>
              <a:path h="3230766" w="16994876">
                <a:moveTo>
                  <a:pt x="0" y="0"/>
                </a:moveTo>
                <a:lnTo>
                  <a:pt x="16994876" y="0"/>
                </a:lnTo>
                <a:lnTo>
                  <a:pt x="16994876" y="3230766"/>
                </a:lnTo>
                <a:lnTo>
                  <a:pt x="0" y="32307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45261" y="3964534"/>
            <a:ext cx="10296173" cy="3230756"/>
          </a:xfrm>
          <a:custGeom>
            <a:avLst/>
            <a:gdLst/>
            <a:ahLst/>
            <a:cxnLst/>
            <a:rect r="r" b="b" t="t" l="l"/>
            <a:pathLst>
              <a:path h="3230756" w="10296173">
                <a:moveTo>
                  <a:pt x="0" y="0"/>
                </a:moveTo>
                <a:lnTo>
                  <a:pt x="10296172" y="0"/>
                </a:lnTo>
                <a:lnTo>
                  <a:pt x="10296172" y="3230756"/>
                </a:lnTo>
                <a:lnTo>
                  <a:pt x="0" y="32307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D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6224" y="4109190"/>
            <a:ext cx="17755543" cy="5149110"/>
            <a:chOff x="0" y="0"/>
            <a:chExt cx="23674057" cy="6865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74070" cy="6865493"/>
            </a:xfrm>
            <a:custGeom>
              <a:avLst/>
              <a:gdLst/>
              <a:ahLst/>
              <a:cxnLst/>
              <a:rect r="r" b="b" t="t" l="l"/>
              <a:pathLst>
                <a:path h="6865493" w="23674070">
                  <a:moveTo>
                    <a:pt x="0" y="0"/>
                  </a:moveTo>
                  <a:lnTo>
                    <a:pt x="23674070" y="0"/>
                  </a:lnTo>
                  <a:lnTo>
                    <a:pt x="23674070" y="6865493"/>
                  </a:lnTo>
                  <a:lnTo>
                    <a:pt x="0" y="6865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2" r="0" b="-5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46567" y="5695369"/>
            <a:ext cx="16994876" cy="3230766"/>
          </a:xfrm>
          <a:custGeom>
            <a:avLst/>
            <a:gdLst/>
            <a:ahLst/>
            <a:cxnLst/>
            <a:rect r="r" b="b" t="t" l="l"/>
            <a:pathLst>
              <a:path h="3230766" w="16994876">
                <a:moveTo>
                  <a:pt x="0" y="0"/>
                </a:moveTo>
                <a:lnTo>
                  <a:pt x="16994876" y="0"/>
                </a:lnTo>
                <a:lnTo>
                  <a:pt x="16994876" y="3230766"/>
                </a:lnTo>
                <a:lnTo>
                  <a:pt x="0" y="32307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74532" y="3964534"/>
            <a:ext cx="6066901" cy="3230756"/>
          </a:xfrm>
          <a:custGeom>
            <a:avLst/>
            <a:gdLst/>
            <a:ahLst/>
            <a:cxnLst/>
            <a:rect r="r" b="b" t="t" l="l"/>
            <a:pathLst>
              <a:path h="3230756" w="6066901">
                <a:moveTo>
                  <a:pt x="0" y="0"/>
                </a:moveTo>
                <a:lnTo>
                  <a:pt x="6066901" y="0"/>
                </a:lnTo>
                <a:lnTo>
                  <a:pt x="6066901" y="3230756"/>
                </a:lnTo>
                <a:lnTo>
                  <a:pt x="0" y="32307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D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6224" y="4109190"/>
            <a:ext cx="17755543" cy="5149110"/>
            <a:chOff x="0" y="0"/>
            <a:chExt cx="23674057" cy="6865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74070" cy="6865493"/>
            </a:xfrm>
            <a:custGeom>
              <a:avLst/>
              <a:gdLst/>
              <a:ahLst/>
              <a:cxnLst/>
              <a:rect r="r" b="b" t="t" l="l"/>
              <a:pathLst>
                <a:path h="6865493" w="23674070">
                  <a:moveTo>
                    <a:pt x="0" y="0"/>
                  </a:moveTo>
                  <a:lnTo>
                    <a:pt x="23674070" y="0"/>
                  </a:lnTo>
                  <a:lnTo>
                    <a:pt x="23674070" y="6865493"/>
                  </a:lnTo>
                  <a:lnTo>
                    <a:pt x="0" y="6865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2" r="0" b="-5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46567" y="5695369"/>
            <a:ext cx="16994876" cy="3230766"/>
          </a:xfrm>
          <a:custGeom>
            <a:avLst/>
            <a:gdLst/>
            <a:ahLst/>
            <a:cxnLst/>
            <a:rect r="r" b="b" t="t" l="l"/>
            <a:pathLst>
              <a:path h="3230766" w="16994876">
                <a:moveTo>
                  <a:pt x="0" y="0"/>
                </a:moveTo>
                <a:lnTo>
                  <a:pt x="16994876" y="0"/>
                </a:lnTo>
                <a:lnTo>
                  <a:pt x="16994876" y="3230766"/>
                </a:lnTo>
                <a:lnTo>
                  <a:pt x="0" y="32307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D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6224" y="4109190"/>
            <a:ext cx="17755543" cy="5149110"/>
            <a:chOff x="0" y="0"/>
            <a:chExt cx="23674057" cy="6865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74070" cy="6865493"/>
            </a:xfrm>
            <a:custGeom>
              <a:avLst/>
              <a:gdLst/>
              <a:ahLst/>
              <a:cxnLst/>
              <a:rect r="r" b="b" t="t" l="l"/>
              <a:pathLst>
                <a:path h="6865493" w="23674070">
                  <a:moveTo>
                    <a:pt x="0" y="0"/>
                  </a:moveTo>
                  <a:lnTo>
                    <a:pt x="23674070" y="0"/>
                  </a:lnTo>
                  <a:lnTo>
                    <a:pt x="23674070" y="6865493"/>
                  </a:lnTo>
                  <a:lnTo>
                    <a:pt x="0" y="6865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2" r="0" b="-5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46567" y="6393266"/>
            <a:ext cx="16994876" cy="3230766"/>
          </a:xfrm>
          <a:custGeom>
            <a:avLst/>
            <a:gdLst/>
            <a:ahLst/>
            <a:cxnLst/>
            <a:rect r="r" b="b" t="t" l="l"/>
            <a:pathLst>
              <a:path h="3230766" w="16994876">
                <a:moveTo>
                  <a:pt x="0" y="0"/>
                </a:moveTo>
                <a:lnTo>
                  <a:pt x="16994876" y="0"/>
                </a:lnTo>
                <a:lnTo>
                  <a:pt x="16994876" y="3230765"/>
                </a:lnTo>
                <a:lnTo>
                  <a:pt x="0" y="3230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13702" y="5624436"/>
            <a:ext cx="10727731" cy="3230766"/>
          </a:xfrm>
          <a:custGeom>
            <a:avLst/>
            <a:gdLst/>
            <a:ahLst/>
            <a:cxnLst/>
            <a:rect r="r" b="b" t="t" l="l"/>
            <a:pathLst>
              <a:path h="3230766" w="10727731">
                <a:moveTo>
                  <a:pt x="0" y="0"/>
                </a:moveTo>
                <a:lnTo>
                  <a:pt x="10727731" y="0"/>
                </a:lnTo>
                <a:lnTo>
                  <a:pt x="10727731" y="3230766"/>
                </a:lnTo>
                <a:lnTo>
                  <a:pt x="0" y="3230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D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6224" y="4109190"/>
            <a:ext cx="17755543" cy="5149110"/>
            <a:chOff x="0" y="0"/>
            <a:chExt cx="23674057" cy="6865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74070" cy="6865493"/>
            </a:xfrm>
            <a:custGeom>
              <a:avLst/>
              <a:gdLst/>
              <a:ahLst/>
              <a:cxnLst/>
              <a:rect r="r" b="b" t="t" l="l"/>
              <a:pathLst>
                <a:path h="6865493" w="23674070">
                  <a:moveTo>
                    <a:pt x="0" y="0"/>
                  </a:moveTo>
                  <a:lnTo>
                    <a:pt x="23674070" y="0"/>
                  </a:lnTo>
                  <a:lnTo>
                    <a:pt x="23674070" y="6865493"/>
                  </a:lnTo>
                  <a:lnTo>
                    <a:pt x="0" y="6865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2" r="0" b="-5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46567" y="6393266"/>
            <a:ext cx="16994876" cy="3230766"/>
          </a:xfrm>
          <a:custGeom>
            <a:avLst/>
            <a:gdLst/>
            <a:ahLst/>
            <a:cxnLst/>
            <a:rect r="r" b="b" t="t" l="l"/>
            <a:pathLst>
              <a:path h="3230766" w="16994876">
                <a:moveTo>
                  <a:pt x="0" y="0"/>
                </a:moveTo>
                <a:lnTo>
                  <a:pt x="16994876" y="0"/>
                </a:lnTo>
                <a:lnTo>
                  <a:pt x="16994876" y="3230765"/>
                </a:lnTo>
                <a:lnTo>
                  <a:pt x="0" y="3230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296517" y="5624436"/>
            <a:ext cx="6344926" cy="3230766"/>
          </a:xfrm>
          <a:custGeom>
            <a:avLst/>
            <a:gdLst/>
            <a:ahLst/>
            <a:cxnLst/>
            <a:rect r="r" b="b" t="t" l="l"/>
            <a:pathLst>
              <a:path h="3230766" w="6344926">
                <a:moveTo>
                  <a:pt x="0" y="0"/>
                </a:moveTo>
                <a:lnTo>
                  <a:pt x="6344926" y="0"/>
                </a:lnTo>
                <a:lnTo>
                  <a:pt x="6344926" y="3230766"/>
                </a:lnTo>
                <a:lnTo>
                  <a:pt x="0" y="3230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D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6224" y="4109190"/>
            <a:ext cx="17755543" cy="5149110"/>
            <a:chOff x="0" y="0"/>
            <a:chExt cx="23674057" cy="6865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74070" cy="6865493"/>
            </a:xfrm>
            <a:custGeom>
              <a:avLst/>
              <a:gdLst/>
              <a:ahLst/>
              <a:cxnLst/>
              <a:rect r="r" b="b" t="t" l="l"/>
              <a:pathLst>
                <a:path h="6865493" w="23674070">
                  <a:moveTo>
                    <a:pt x="0" y="0"/>
                  </a:moveTo>
                  <a:lnTo>
                    <a:pt x="23674070" y="0"/>
                  </a:lnTo>
                  <a:lnTo>
                    <a:pt x="23674070" y="6865493"/>
                  </a:lnTo>
                  <a:lnTo>
                    <a:pt x="0" y="6865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2" r="0" b="-5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46567" y="6393266"/>
            <a:ext cx="16994876" cy="3230766"/>
          </a:xfrm>
          <a:custGeom>
            <a:avLst/>
            <a:gdLst/>
            <a:ahLst/>
            <a:cxnLst/>
            <a:rect r="r" b="b" t="t" l="l"/>
            <a:pathLst>
              <a:path h="3230766" w="16994876">
                <a:moveTo>
                  <a:pt x="0" y="0"/>
                </a:moveTo>
                <a:lnTo>
                  <a:pt x="16994876" y="0"/>
                </a:lnTo>
                <a:lnTo>
                  <a:pt x="16994876" y="3230765"/>
                </a:lnTo>
                <a:lnTo>
                  <a:pt x="0" y="3230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D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6224" y="4109190"/>
            <a:ext cx="17755543" cy="5149110"/>
            <a:chOff x="0" y="0"/>
            <a:chExt cx="23674057" cy="6865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74070" cy="6865493"/>
            </a:xfrm>
            <a:custGeom>
              <a:avLst/>
              <a:gdLst/>
              <a:ahLst/>
              <a:cxnLst/>
              <a:rect r="r" b="b" t="t" l="l"/>
              <a:pathLst>
                <a:path h="6865493" w="23674070">
                  <a:moveTo>
                    <a:pt x="0" y="0"/>
                  </a:moveTo>
                  <a:lnTo>
                    <a:pt x="23674070" y="0"/>
                  </a:lnTo>
                  <a:lnTo>
                    <a:pt x="23674070" y="6865493"/>
                  </a:lnTo>
                  <a:lnTo>
                    <a:pt x="0" y="6865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2" r="0" b="-5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46567" y="7056244"/>
            <a:ext cx="16994876" cy="3230766"/>
          </a:xfrm>
          <a:custGeom>
            <a:avLst/>
            <a:gdLst/>
            <a:ahLst/>
            <a:cxnLst/>
            <a:rect r="r" b="b" t="t" l="l"/>
            <a:pathLst>
              <a:path h="3230766" w="16994876">
                <a:moveTo>
                  <a:pt x="0" y="0"/>
                </a:moveTo>
                <a:lnTo>
                  <a:pt x="16994876" y="0"/>
                </a:lnTo>
                <a:lnTo>
                  <a:pt x="16994876" y="3230766"/>
                </a:lnTo>
                <a:lnTo>
                  <a:pt x="0" y="32307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73934" y="6371158"/>
            <a:ext cx="11467509" cy="3230766"/>
          </a:xfrm>
          <a:custGeom>
            <a:avLst/>
            <a:gdLst/>
            <a:ahLst/>
            <a:cxnLst/>
            <a:rect r="r" b="b" t="t" l="l"/>
            <a:pathLst>
              <a:path h="3230766" w="11467509">
                <a:moveTo>
                  <a:pt x="0" y="0"/>
                </a:moveTo>
                <a:lnTo>
                  <a:pt x="11467509" y="0"/>
                </a:lnTo>
                <a:lnTo>
                  <a:pt x="11467509" y="3230766"/>
                </a:lnTo>
                <a:lnTo>
                  <a:pt x="0" y="3230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D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6224" y="4109190"/>
            <a:ext cx="17755543" cy="5149110"/>
            <a:chOff x="0" y="0"/>
            <a:chExt cx="23674057" cy="6865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74070" cy="6865493"/>
            </a:xfrm>
            <a:custGeom>
              <a:avLst/>
              <a:gdLst/>
              <a:ahLst/>
              <a:cxnLst/>
              <a:rect r="r" b="b" t="t" l="l"/>
              <a:pathLst>
                <a:path h="6865493" w="23674070">
                  <a:moveTo>
                    <a:pt x="0" y="0"/>
                  </a:moveTo>
                  <a:lnTo>
                    <a:pt x="23674070" y="0"/>
                  </a:lnTo>
                  <a:lnTo>
                    <a:pt x="23674070" y="6865493"/>
                  </a:lnTo>
                  <a:lnTo>
                    <a:pt x="0" y="6865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2" r="0" b="-5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46567" y="7056244"/>
            <a:ext cx="16994876" cy="3230766"/>
          </a:xfrm>
          <a:custGeom>
            <a:avLst/>
            <a:gdLst/>
            <a:ahLst/>
            <a:cxnLst/>
            <a:rect r="r" b="b" t="t" l="l"/>
            <a:pathLst>
              <a:path h="3230766" w="16994876">
                <a:moveTo>
                  <a:pt x="0" y="0"/>
                </a:moveTo>
                <a:lnTo>
                  <a:pt x="16994876" y="0"/>
                </a:lnTo>
                <a:lnTo>
                  <a:pt x="16994876" y="3230766"/>
                </a:lnTo>
                <a:lnTo>
                  <a:pt x="0" y="32307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408178" y="6371158"/>
            <a:ext cx="6233255" cy="3230766"/>
          </a:xfrm>
          <a:custGeom>
            <a:avLst/>
            <a:gdLst/>
            <a:ahLst/>
            <a:cxnLst/>
            <a:rect r="r" b="b" t="t" l="l"/>
            <a:pathLst>
              <a:path h="3230766" w="6233255">
                <a:moveTo>
                  <a:pt x="0" y="0"/>
                </a:moveTo>
                <a:lnTo>
                  <a:pt x="6233255" y="0"/>
                </a:lnTo>
                <a:lnTo>
                  <a:pt x="6233255" y="3230766"/>
                </a:lnTo>
                <a:lnTo>
                  <a:pt x="0" y="3230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D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6224" y="4109190"/>
            <a:ext cx="17755543" cy="5149110"/>
            <a:chOff x="0" y="0"/>
            <a:chExt cx="23674057" cy="6865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74070" cy="6865493"/>
            </a:xfrm>
            <a:custGeom>
              <a:avLst/>
              <a:gdLst/>
              <a:ahLst/>
              <a:cxnLst/>
              <a:rect r="r" b="b" t="t" l="l"/>
              <a:pathLst>
                <a:path h="6865493" w="23674070">
                  <a:moveTo>
                    <a:pt x="0" y="0"/>
                  </a:moveTo>
                  <a:lnTo>
                    <a:pt x="23674070" y="0"/>
                  </a:lnTo>
                  <a:lnTo>
                    <a:pt x="23674070" y="6865493"/>
                  </a:lnTo>
                  <a:lnTo>
                    <a:pt x="0" y="6865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2" r="0" b="-5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46567" y="7056244"/>
            <a:ext cx="16994876" cy="3230766"/>
          </a:xfrm>
          <a:custGeom>
            <a:avLst/>
            <a:gdLst/>
            <a:ahLst/>
            <a:cxnLst/>
            <a:rect r="r" b="b" t="t" l="l"/>
            <a:pathLst>
              <a:path h="3230766" w="16994876">
                <a:moveTo>
                  <a:pt x="0" y="0"/>
                </a:moveTo>
                <a:lnTo>
                  <a:pt x="16994876" y="0"/>
                </a:lnTo>
                <a:lnTo>
                  <a:pt x="16994876" y="3230766"/>
                </a:lnTo>
                <a:lnTo>
                  <a:pt x="0" y="32307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D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6224" y="4109190"/>
            <a:ext cx="17755543" cy="5149110"/>
            <a:chOff x="0" y="0"/>
            <a:chExt cx="23674057" cy="6865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74070" cy="6865493"/>
            </a:xfrm>
            <a:custGeom>
              <a:avLst/>
              <a:gdLst/>
              <a:ahLst/>
              <a:cxnLst/>
              <a:rect r="r" b="b" t="t" l="l"/>
              <a:pathLst>
                <a:path h="6865493" w="23674070">
                  <a:moveTo>
                    <a:pt x="0" y="0"/>
                  </a:moveTo>
                  <a:lnTo>
                    <a:pt x="23674070" y="0"/>
                  </a:lnTo>
                  <a:lnTo>
                    <a:pt x="23674070" y="6865493"/>
                  </a:lnTo>
                  <a:lnTo>
                    <a:pt x="0" y="6865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2" r="0" b="-5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46567" y="7837884"/>
            <a:ext cx="16994876" cy="3230766"/>
          </a:xfrm>
          <a:custGeom>
            <a:avLst/>
            <a:gdLst/>
            <a:ahLst/>
            <a:cxnLst/>
            <a:rect r="r" b="b" t="t" l="l"/>
            <a:pathLst>
              <a:path h="3230766" w="16994876">
                <a:moveTo>
                  <a:pt x="0" y="0"/>
                </a:moveTo>
                <a:lnTo>
                  <a:pt x="16994876" y="0"/>
                </a:lnTo>
                <a:lnTo>
                  <a:pt x="16994876" y="3230766"/>
                </a:lnTo>
                <a:lnTo>
                  <a:pt x="0" y="32307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42580" y="7056244"/>
            <a:ext cx="11607089" cy="3230766"/>
          </a:xfrm>
          <a:custGeom>
            <a:avLst/>
            <a:gdLst/>
            <a:ahLst/>
            <a:cxnLst/>
            <a:rect r="r" b="b" t="t" l="l"/>
            <a:pathLst>
              <a:path h="3230766" w="11607089">
                <a:moveTo>
                  <a:pt x="0" y="0"/>
                </a:moveTo>
                <a:lnTo>
                  <a:pt x="11607089" y="0"/>
                </a:lnTo>
                <a:lnTo>
                  <a:pt x="11607089" y="3230766"/>
                </a:lnTo>
                <a:lnTo>
                  <a:pt x="0" y="3230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D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6224" y="4109190"/>
            <a:ext cx="17755543" cy="5149110"/>
            <a:chOff x="0" y="0"/>
            <a:chExt cx="23674057" cy="6865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74070" cy="6865493"/>
            </a:xfrm>
            <a:custGeom>
              <a:avLst/>
              <a:gdLst/>
              <a:ahLst/>
              <a:cxnLst/>
              <a:rect r="r" b="b" t="t" l="l"/>
              <a:pathLst>
                <a:path h="6865493" w="23674070">
                  <a:moveTo>
                    <a:pt x="0" y="0"/>
                  </a:moveTo>
                  <a:lnTo>
                    <a:pt x="23674070" y="0"/>
                  </a:lnTo>
                  <a:lnTo>
                    <a:pt x="23674070" y="6865493"/>
                  </a:lnTo>
                  <a:lnTo>
                    <a:pt x="0" y="6865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2" r="0" b="-5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46567" y="7837884"/>
            <a:ext cx="16994876" cy="3230766"/>
          </a:xfrm>
          <a:custGeom>
            <a:avLst/>
            <a:gdLst/>
            <a:ahLst/>
            <a:cxnLst/>
            <a:rect r="r" b="b" t="t" l="l"/>
            <a:pathLst>
              <a:path h="3230766" w="16994876">
                <a:moveTo>
                  <a:pt x="0" y="0"/>
                </a:moveTo>
                <a:lnTo>
                  <a:pt x="16994876" y="0"/>
                </a:lnTo>
                <a:lnTo>
                  <a:pt x="16994876" y="3230766"/>
                </a:lnTo>
                <a:lnTo>
                  <a:pt x="0" y="32307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14311" y="7056244"/>
            <a:ext cx="5535358" cy="3230766"/>
          </a:xfrm>
          <a:custGeom>
            <a:avLst/>
            <a:gdLst/>
            <a:ahLst/>
            <a:cxnLst/>
            <a:rect r="r" b="b" t="t" l="l"/>
            <a:pathLst>
              <a:path h="3230766" w="5535358">
                <a:moveTo>
                  <a:pt x="0" y="0"/>
                </a:moveTo>
                <a:lnTo>
                  <a:pt x="5535358" y="0"/>
                </a:lnTo>
                <a:lnTo>
                  <a:pt x="5535358" y="3230766"/>
                </a:lnTo>
                <a:lnTo>
                  <a:pt x="0" y="3230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D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6224" y="4109190"/>
            <a:ext cx="17755543" cy="5149110"/>
            <a:chOff x="0" y="0"/>
            <a:chExt cx="23674057" cy="6865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74070" cy="6865493"/>
            </a:xfrm>
            <a:custGeom>
              <a:avLst/>
              <a:gdLst/>
              <a:ahLst/>
              <a:cxnLst/>
              <a:rect r="r" b="b" t="t" l="l"/>
              <a:pathLst>
                <a:path h="6865493" w="23674070">
                  <a:moveTo>
                    <a:pt x="0" y="0"/>
                  </a:moveTo>
                  <a:lnTo>
                    <a:pt x="23674070" y="0"/>
                  </a:lnTo>
                  <a:lnTo>
                    <a:pt x="23674070" y="6865493"/>
                  </a:lnTo>
                  <a:lnTo>
                    <a:pt x="0" y="6865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2" r="0" b="-5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46567" y="7837884"/>
            <a:ext cx="16994876" cy="3230766"/>
          </a:xfrm>
          <a:custGeom>
            <a:avLst/>
            <a:gdLst/>
            <a:ahLst/>
            <a:cxnLst/>
            <a:rect r="r" b="b" t="t" l="l"/>
            <a:pathLst>
              <a:path h="3230766" w="16994876">
                <a:moveTo>
                  <a:pt x="0" y="0"/>
                </a:moveTo>
                <a:lnTo>
                  <a:pt x="16994876" y="0"/>
                </a:lnTo>
                <a:lnTo>
                  <a:pt x="16994876" y="3230766"/>
                </a:lnTo>
                <a:lnTo>
                  <a:pt x="0" y="32307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D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6224" y="4109190"/>
            <a:ext cx="17755543" cy="5149110"/>
            <a:chOff x="0" y="0"/>
            <a:chExt cx="23674057" cy="6865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74070" cy="6865493"/>
            </a:xfrm>
            <a:custGeom>
              <a:avLst/>
              <a:gdLst/>
              <a:ahLst/>
              <a:cxnLst/>
              <a:rect r="r" b="b" t="t" l="l"/>
              <a:pathLst>
                <a:path h="6865493" w="23674070">
                  <a:moveTo>
                    <a:pt x="0" y="0"/>
                  </a:moveTo>
                  <a:lnTo>
                    <a:pt x="23674070" y="0"/>
                  </a:lnTo>
                  <a:lnTo>
                    <a:pt x="23674070" y="6865493"/>
                  </a:lnTo>
                  <a:lnTo>
                    <a:pt x="0" y="6865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2" r="0" b="-52"/>
              </a:stretch>
            </a:blipFill>
          </p:spPr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99546" y="4285831"/>
            <a:ext cx="5888907" cy="1620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61"/>
              </a:lnSpc>
            </a:pPr>
            <a:r>
              <a:rPr lang="en-US" sz="10056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Gabarito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D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3251" y="302847"/>
            <a:ext cx="8148399" cy="9287961"/>
            <a:chOff x="0" y="0"/>
            <a:chExt cx="10864532" cy="123839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64469" cy="12383897"/>
            </a:xfrm>
            <a:custGeom>
              <a:avLst/>
              <a:gdLst/>
              <a:ahLst/>
              <a:cxnLst/>
              <a:rect r="r" b="b" t="t" l="l"/>
              <a:pathLst>
                <a:path h="12383897" w="10864469">
                  <a:moveTo>
                    <a:pt x="0" y="0"/>
                  </a:moveTo>
                  <a:lnTo>
                    <a:pt x="10864469" y="0"/>
                  </a:lnTo>
                  <a:lnTo>
                    <a:pt x="10864469" y="12383897"/>
                  </a:lnTo>
                  <a:lnTo>
                    <a:pt x="0" y="12383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D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0286" y="461401"/>
            <a:ext cx="9485852" cy="9017660"/>
            <a:chOff x="0" y="0"/>
            <a:chExt cx="12647803" cy="120235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47803" cy="12023598"/>
            </a:xfrm>
            <a:custGeom>
              <a:avLst/>
              <a:gdLst/>
              <a:ahLst/>
              <a:cxnLst/>
              <a:rect r="r" b="b" t="t" l="l"/>
              <a:pathLst>
                <a:path h="12023598" w="12647803">
                  <a:moveTo>
                    <a:pt x="0" y="0"/>
                  </a:moveTo>
                  <a:lnTo>
                    <a:pt x="12647803" y="0"/>
                  </a:lnTo>
                  <a:lnTo>
                    <a:pt x="12647803" y="12023598"/>
                  </a:lnTo>
                  <a:lnTo>
                    <a:pt x="0" y="12023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3D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914" y="2890380"/>
            <a:ext cx="17986172" cy="4202954"/>
            <a:chOff x="0" y="0"/>
            <a:chExt cx="23981562" cy="56039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981538" cy="5604002"/>
            </a:xfrm>
            <a:custGeom>
              <a:avLst/>
              <a:gdLst/>
              <a:ahLst/>
              <a:cxnLst/>
              <a:rect r="r" b="b" t="t" l="l"/>
              <a:pathLst>
                <a:path h="5604002" w="23981538">
                  <a:moveTo>
                    <a:pt x="0" y="0"/>
                  </a:moveTo>
                  <a:lnTo>
                    <a:pt x="23981538" y="0"/>
                  </a:lnTo>
                  <a:lnTo>
                    <a:pt x="23981538" y="5604002"/>
                  </a:lnTo>
                  <a:lnTo>
                    <a:pt x="0" y="5604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3D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1030" y="1970580"/>
            <a:ext cx="17805930" cy="4874371"/>
            <a:chOff x="0" y="0"/>
            <a:chExt cx="23741240" cy="64991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41253" cy="6499225"/>
            </a:xfrm>
            <a:custGeom>
              <a:avLst/>
              <a:gdLst/>
              <a:ahLst/>
              <a:cxnLst/>
              <a:rect r="r" b="b" t="t" l="l"/>
              <a:pathLst>
                <a:path h="6499225" w="23741253">
                  <a:moveTo>
                    <a:pt x="0" y="0"/>
                  </a:moveTo>
                  <a:lnTo>
                    <a:pt x="23741253" y="0"/>
                  </a:lnTo>
                  <a:lnTo>
                    <a:pt x="23741253" y="6499225"/>
                  </a:lnTo>
                  <a:lnTo>
                    <a:pt x="0" y="6499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5" r="0" b="-34"/>
              </a:stretch>
            </a:blipFill>
          </p:spPr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D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28966" y="624964"/>
            <a:ext cx="9832029" cy="9382630"/>
            <a:chOff x="0" y="0"/>
            <a:chExt cx="13109372" cy="12510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09321" cy="12510135"/>
            </a:xfrm>
            <a:custGeom>
              <a:avLst/>
              <a:gdLst/>
              <a:ahLst/>
              <a:cxnLst/>
              <a:rect r="r" b="b" t="t" l="l"/>
              <a:pathLst>
                <a:path h="12510135" w="13109321">
                  <a:moveTo>
                    <a:pt x="0" y="0"/>
                  </a:moveTo>
                  <a:lnTo>
                    <a:pt x="13109321" y="0"/>
                  </a:lnTo>
                  <a:lnTo>
                    <a:pt x="13109321" y="12510135"/>
                  </a:lnTo>
                  <a:lnTo>
                    <a:pt x="0" y="12510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D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44142" y="509749"/>
            <a:ext cx="9623517" cy="9267501"/>
            <a:chOff x="0" y="0"/>
            <a:chExt cx="12831356" cy="123566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31318" cy="12356719"/>
            </a:xfrm>
            <a:custGeom>
              <a:avLst/>
              <a:gdLst/>
              <a:ahLst/>
              <a:cxnLst/>
              <a:rect r="r" b="b" t="t" l="l"/>
              <a:pathLst>
                <a:path h="12356719" w="12831318">
                  <a:moveTo>
                    <a:pt x="0" y="0"/>
                  </a:moveTo>
                  <a:lnTo>
                    <a:pt x="12831318" y="0"/>
                  </a:lnTo>
                  <a:lnTo>
                    <a:pt x="12831318" y="12356719"/>
                  </a:lnTo>
                  <a:lnTo>
                    <a:pt x="0" y="12356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35701" y="3413446"/>
            <a:ext cx="13616597" cy="3250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0"/>
              </a:lnSpc>
            </a:pPr>
            <a:r>
              <a:rPr lang="en-US" sz="20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DAHWBJs6G1U</dc:identifier>
  <dcterms:modified xsi:type="dcterms:W3CDTF">2011-08-01T06:04:30Z</dcterms:modified>
  <cp:revision>1</cp:revision>
  <dc:title>Apresentacao.pptx</dc:title>
</cp:coreProperties>
</file>