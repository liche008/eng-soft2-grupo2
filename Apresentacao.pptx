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x="18288000" cy="10287000"/>
  <p:notesSz cx="6858000" cy="9144000"/>
  <p:embeddedFontLst>
    <p:embeddedFont>
      <p:font typeface="Anton" charset="1" panose="00000500000000000000"/>
      <p:regular r:id="rId46"/>
    </p:embeddedFont>
    <p:embeddedFont>
      <p:font typeface="Montserrat Bold" charset="1" panose="00000800000000000000"/>
      <p:regular r:id="rId47"/>
    </p:embeddedFont>
    <p:embeddedFont>
      <p:font typeface="Montserrat" charset="1" panose="00000500000000000000"/>
      <p:regular r:id="rId48"/>
    </p:embeddedFont>
    <p:embeddedFont>
      <p:font typeface="Montserrat Medium" charset="1" panose="000006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fonts/font46.fntdata" Type="http://schemas.openxmlformats.org/officeDocument/2006/relationships/font"/><Relationship Id="rId47" Target="fonts/font47.fntdata" Type="http://schemas.openxmlformats.org/officeDocument/2006/relationships/font"/><Relationship Id="rId48" Target="fonts/font48.fntdata" Type="http://schemas.openxmlformats.org/officeDocument/2006/relationships/font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667141"/>
            <a:ext cx="13111952" cy="7082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 SOFTWARE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389" y="7711684"/>
            <a:ext cx="274018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GABRIEL</a:t>
            </a: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NUNES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JOÃO PEDRO</a:t>
            </a:r>
          </a:p>
          <a:p>
            <a:pPr algn="l">
              <a:lnSpc>
                <a:spcPts val="34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4881" y="442537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015902" y="3538069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413583" y="4789909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2230" y="4789909"/>
            <a:ext cx="7327106" cy="6132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fundamental de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12882" y="5432333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817206" y="5441959"/>
            <a:ext cx="7785254" cy="2603968"/>
            <a:chOff x="0" y="0"/>
            <a:chExt cx="7759007" cy="2595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58943" cy="2595153"/>
            </a:xfrm>
            <a:custGeom>
              <a:avLst/>
              <a:gdLst/>
              <a:ahLst/>
              <a:cxnLst/>
              <a:rect r="r" b="b" t="t" l="l"/>
              <a:pathLst>
                <a:path h="2595153" w="7758943">
                  <a:moveTo>
                    <a:pt x="382309" y="0"/>
                  </a:moveTo>
                  <a:lnTo>
                    <a:pt x="7376635" y="0"/>
                  </a:lnTo>
                  <a:cubicBezTo>
                    <a:pt x="7478030" y="0"/>
                    <a:pt x="7575271" y="40279"/>
                    <a:pt x="7646968" y="111976"/>
                  </a:cubicBezTo>
                  <a:cubicBezTo>
                    <a:pt x="7718665" y="183672"/>
                    <a:pt x="7758943" y="280914"/>
                    <a:pt x="7758943" y="382309"/>
                  </a:cubicBezTo>
                  <a:lnTo>
                    <a:pt x="7758943" y="2212845"/>
                  </a:lnTo>
                  <a:cubicBezTo>
                    <a:pt x="7758943" y="2423988"/>
                    <a:pt x="7587778" y="2595153"/>
                    <a:pt x="7376635" y="2595153"/>
                  </a:cubicBezTo>
                  <a:lnTo>
                    <a:pt x="382309" y="2595153"/>
                  </a:lnTo>
                  <a:cubicBezTo>
                    <a:pt x="171165" y="2595153"/>
                    <a:pt x="0" y="2423988"/>
                    <a:pt x="0" y="2212845"/>
                  </a:cubicBezTo>
                  <a:lnTo>
                    <a:pt x="0" y="382309"/>
                  </a:lnTo>
                  <a:cubicBezTo>
                    <a:pt x="0" y="171165"/>
                    <a:pt x="171165" y="0"/>
                    <a:pt x="382309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0103544" y="1790525"/>
            <a:ext cx="6491225" cy="2159118"/>
            <a:chOff x="0" y="0"/>
            <a:chExt cx="7759007" cy="25808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58522" y="0"/>
                  </a:moveTo>
                  <a:lnTo>
                    <a:pt x="7300421" y="0"/>
                  </a:lnTo>
                  <a:cubicBezTo>
                    <a:pt x="7422029" y="0"/>
                    <a:pt x="7538656" y="48308"/>
                    <a:pt x="7624645" y="134298"/>
                  </a:cubicBezTo>
                  <a:cubicBezTo>
                    <a:pt x="7710635" y="220288"/>
                    <a:pt x="7758943" y="336914"/>
                    <a:pt x="7758943" y="458522"/>
                  </a:cubicBezTo>
                  <a:lnTo>
                    <a:pt x="7758943" y="2122251"/>
                  </a:lnTo>
                  <a:cubicBezTo>
                    <a:pt x="7758943" y="2375486"/>
                    <a:pt x="7553656" y="2580773"/>
                    <a:pt x="7300421" y="2580773"/>
                  </a:cubicBezTo>
                  <a:lnTo>
                    <a:pt x="458522" y="2580773"/>
                  </a:lnTo>
                  <a:cubicBezTo>
                    <a:pt x="336914" y="2580773"/>
                    <a:pt x="220288" y="2532465"/>
                    <a:pt x="134298" y="2446475"/>
                  </a:cubicBezTo>
                  <a:cubicBezTo>
                    <a:pt x="48308" y="2360486"/>
                    <a:pt x="0" y="2243859"/>
                    <a:pt x="0" y="2122251"/>
                  </a:cubicBezTo>
                  <a:lnTo>
                    <a:pt x="0" y="458522"/>
                  </a:lnTo>
                  <a:cubicBezTo>
                    <a:pt x="0" y="336914"/>
                    <a:pt x="48308" y="220288"/>
                    <a:pt x="134298" y="134298"/>
                  </a:cubicBezTo>
                  <a:cubicBezTo>
                    <a:pt x="220288" y="48308"/>
                    <a:pt x="336914" y="0"/>
                    <a:pt x="458522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070341" y="2003306"/>
            <a:ext cx="6341126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eito de Arquitetura de Software surgiu nos anos 60 (com Dijkstra), mas se tornou popular nos anos 90.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70341" y="5662853"/>
            <a:ext cx="727898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  <a:spcBef>
                <a:spcPct val="0"/>
              </a:spcBef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6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7124996"/>
            <a:ext cx="15030679" cy="393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usuários estão mais interessados no que o sistema faz e em como utiliza-los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Os designer e programadores responsáveis pela contrução do sistema posuem outras preocupações, como verificar se determinado algoritimo atende aos resuisitos do sistema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437" y="766762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2105" y="5676516"/>
            <a:ext cx="5354154" cy="1537889"/>
            <a:chOff x="0" y="0"/>
            <a:chExt cx="7621460" cy="21891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189104"/>
            </a:xfrm>
            <a:custGeom>
              <a:avLst/>
              <a:gdLst/>
              <a:ahLst/>
              <a:cxnLst/>
              <a:rect r="r" b="b" t="t" l="l"/>
              <a:pathLst>
                <a:path h="2189104" w="7621398">
                  <a:moveTo>
                    <a:pt x="406756" y="0"/>
                  </a:moveTo>
                  <a:lnTo>
                    <a:pt x="7214643" y="0"/>
                  </a:lnTo>
                  <a:cubicBezTo>
                    <a:pt x="7439288" y="0"/>
                    <a:pt x="7621398" y="182111"/>
                    <a:pt x="7621398" y="406756"/>
                  </a:cubicBezTo>
                  <a:lnTo>
                    <a:pt x="7621398" y="1782348"/>
                  </a:lnTo>
                  <a:cubicBezTo>
                    <a:pt x="7621398" y="1890226"/>
                    <a:pt x="7578544" y="1993686"/>
                    <a:pt x="7502262" y="2069968"/>
                  </a:cubicBezTo>
                  <a:cubicBezTo>
                    <a:pt x="7425981" y="2146249"/>
                    <a:pt x="7322521" y="2189104"/>
                    <a:pt x="7214643" y="2189104"/>
                  </a:cubicBezTo>
                  <a:lnTo>
                    <a:pt x="406756" y="2189104"/>
                  </a:lnTo>
                  <a:cubicBezTo>
                    <a:pt x="182111" y="2189104"/>
                    <a:pt x="0" y="2006993"/>
                    <a:pt x="0" y="1782348"/>
                  </a:cubicBezTo>
                  <a:lnTo>
                    <a:pt x="0" y="406756"/>
                  </a:lnTo>
                  <a:cubicBezTo>
                    <a:pt x="0" y="182111"/>
                    <a:pt x="182111" y="0"/>
                    <a:pt x="4067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58865" y="7719230"/>
            <a:ext cx="6910792" cy="1752417"/>
            <a:chOff x="0" y="0"/>
            <a:chExt cx="8215893" cy="208336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215826" cy="2083331"/>
            </a:xfrm>
            <a:custGeom>
              <a:avLst/>
              <a:gdLst/>
              <a:ahLst/>
              <a:cxnLst/>
              <a:rect r="r" b="b" t="t" l="l"/>
              <a:pathLst>
                <a:path h="2083331" w="8215826">
                  <a:moveTo>
                    <a:pt x="336144" y="0"/>
                  </a:moveTo>
                  <a:lnTo>
                    <a:pt x="7879682" y="0"/>
                  </a:lnTo>
                  <a:cubicBezTo>
                    <a:pt x="8065329" y="0"/>
                    <a:pt x="8215826" y="150497"/>
                    <a:pt x="8215826" y="336144"/>
                  </a:cubicBezTo>
                  <a:lnTo>
                    <a:pt x="8215826" y="1747187"/>
                  </a:lnTo>
                  <a:cubicBezTo>
                    <a:pt x="8215826" y="1836338"/>
                    <a:pt x="8180411" y="1921838"/>
                    <a:pt x="8117371" y="1984877"/>
                  </a:cubicBezTo>
                  <a:cubicBezTo>
                    <a:pt x="8054332" y="2047916"/>
                    <a:pt x="7968833" y="2083331"/>
                    <a:pt x="7879682" y="2083331"/>
                  </a:cubicBezTo>
                  <a:lnTo>
                    <a:pt x="336144" y="2083331"/>
                  </a:lnTo>
                  <a:cubicBezTo>
                    <a:pt x="246993" y="2083331"/>
                    <a:pt x="161493" y="2047916"/>
                    <a:pt x="98454" y="1984877"/>
                  </a:cubicBezTo>
                  <a:cubicBezTo>
                    <a:pt x="35415" y="1921838"/>
                    <a:pt x="0" y="1836338"/>
                    <a:pt x="0" y="1747187"/>
                  </a:cubicBezTo>
                  <a:lnTo>
                    <a:pt x="0" y="336144"/>
                  </a:lnTo>
                  <a:cubicBezTo>
                    <a:pt x="0" y="246993"/>
                    <a:pt x="35415" y="161493"/>
                    <a:pt x="98454" y="98454"/>
                  </a:cubicBezTo>
                  <a:cubicBezTo>
                    <a:pt x="161493" y="35415"/>
                    <a:pt x="246993" y="0"/>
                    <a:pt x="33614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503031" y="5101902"/>
            <a:ext cx="5301042" cy="2038555"/>
            <a:chOff x="0" y="0"/>
            <a:chExt cx="7399906" cy="284569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99845" cy="2845648"/>
            </a:xfrm>
            <a:custGeom>
              <a:avLst/>
              <a:gdLst/>
              <a:ahLst/>
              <a:cxnLst/>
              <a:rect r="r" b="b" t="t" l="l"/>
              <a:pathLst>
                <a:path h="2845648" w="7399845">
                  <a:moveTo>
                    <a:pt x="438220" y="0"/>
                  </a:moveTo>
                  <a:lnTo>
                    <a:pt x="6961625" y="0"/>
                  </a:lnTo>
                  <a:cubicBezTo>
                    <a:pt x="7077849" y="0"/>
                    <a:pt x="7189312" y="46169"/>
                    <a:pt x="7271493" y="128352"/>
                  </a:cubicBezTo>
                  <a:cubicBezTo>
                    <a:pt x="7353676" y="210534"/>
                    <a:pt x="7399845" y="321997"/>
                    <a:pt x="7399845" y="438220"/>
                  </a:cubicBezTo>
                  <a:lnTo>
                    <a:pt x="7399845" y="2407429"/>
                  </a:lnTo>
                  <a:cubicBezTo>
                    <a:pt x="7399845" y="2649451"/>
                    <a:pt x="7203648" y="2845648"/>
                    <a:pt x="6961625" y="2845648"/>
                  </a:cubicBezTo>
                  <a:lnTo>
                    <a:pt x="438220" y="2845648"/>
                  </a:lnTo>
                  <a:cubicBezTo>
                    <a:pt x="196198" y="2845648"/>
                    <a:pt x="0" y="2649451"/>
                    <a:pt x="0" y="2407429"/>
                  </a:cubicBezTo>
                  <a:lnTo>
                    <a:pt x="0" y="438220"/>
                  </a:lnTo>
                  <a:cubicBezTo>
                    <a:pt x="0" y="196198"/>
                    <a:pt x="196198" y="0"/>
                    <a:pt x="4382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798166" y="3060588"/>
            <a:ext cx="4384606" cy="6121184"/>
          </a:xfrm>
          <a:custGeom>
            <a:avLst/>
            <a:gdLst/>
            <a:ahLst/>
            <a:cxnLst/>
            <a:rect r="r" b="b" t="t" l="l"/>
            <a:pathLst>
              <a:path h="6121184" w="4384606">
                <a:moveTo>
                  <a:pt x="0" y="0"/>
                </a:moveTo>
                <a:lnTo>
                  <a:pt x="4384606" y="0"/>
                </a:lnTo>
                <a:lnTo>
                  <a:pt x="4384606" y="6121184"/>
                </a:lnTo>
                <a:lnTo>
                  <a:pt x="0" y="61211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85786" b="-10031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548005" y="5781882"/>
            <a:ext cx="4862354" cy="1289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Facilidade de gerenciamento</a:t>
            </a:r>
          </a:p>
          <a:p>
            <a:pPr algn="just">
              <a:lnSpc>
                <a:spcPts val="3499"/>
              </a:lnSpc>
            </a:pPr>
          </a:p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Simples de implementar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771838" y="5254402"/>
            <a:ext cx="4763429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Falta de flexibilidade</a:t>
            </a:r>
          </a:p>
          <a:p>
            <a:pPr algn="just">
              <a:lnSpc>
                <a:spcPts val="3449"/>
              </a:lnSpc>
            </a:pP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Dificuldade em escalar ou modificar partes específicas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0626" y="7942630"/>
            <a:ext cx="66763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“God-Class”, ou “Classe-Deus”, conceito que representa o código todo em um único arquivo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151712" y="2156735"/>
            <a:ext cx="7325262" cy="2436537"/>
            <a:chOff x="0" y="0"/>
            <a:chExt cx="7759007" cy="25808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758943" cy="2580773"/>
            </a:xfrm>
            <a:custGeom>
              <a:avLst/>
              <a:gdLst/>
              <a:ahLst/>
              <a:cxnLst/>
              <a:rect r="r" b="b" t="t" l="l"/>
              <a:pathLst>
                <a:path h="2580773" w="7758943">
                  <a:moveTo>
                    <a:pt x="406316" y="0"/>
                  </a:moveTo>
                  <a:lnTo>
                    <a:pt x="7352628" y="0"/>
                  </a:lnTo>
                  <a:cubicBezTo>
                    <a:pt x="7460390" y="0"/>
                    <a:pt x="7563738" y="42808"/>
                    <a:pt x="7639936" y="119007"/>
                  </a:cubicBezTo>
                  <a:cubicBezTo>
                    <a:pt x="7716135" y="195206"/>
                    <a:pt x="7758943" y="298554"/>
                    <a:pt x="7758943" y="406316"/>
                  </a:cubicBezTo>
                  <a:lnTo>
                    <a:pt x="7758943" y="2174458"/>
                  </a:lnTo>
                  <a:cubicBezTo>
                    <a:pt x="7758943" y="2398860"/>
                    <a:pt x="7577030" y="2580773"/>
                    <a:pt x="7352628" y="2580773"/>
                  </a:cubicBezTo>
                  <a:lnTo>
                    <a:pt x="406316" y="2580773"/>
                  </a:lnTo>
                  <a:cubicBezTo>
                    <a:pt x="298554" y="2580773"/>
                    <a:pt x="195206" y="2537965"/>
                    <a:pt x="119007" y="2461766"/>
                  </a:cubicBezTo>
                  <a:cubicBezTo>
                    <a:pt x="42808" y="2385567"/>
                    <a:pt x="0" y="2282219"/>
                    <a:pt x="0" y="2174458"/>
                  </a:cubicBezTo>
                  <a:lnTo>
                    <a:pt x="0" y="406316"/>
                  </a:lnTo>
                  <a:cubicBezTo>
                    <a:pt x="0" y="298554"/>
                    <a:pt x="42808" y="195206"/>
                    <a:pt x="119007" y="119007"/>
                  </a:cubicBezTo>
                  <a:cubicBezTo>
                    <a:pt x="195206" y="42808"/>
                    <a:pt x="298554" y="0"/>
                    <a:pt x="406316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283959" y="2508226"/>
            <a:ext cx="706076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2384" y="2797237"/>
            <a:ext cx="7577524" cy="6461063"/>
          </a:xfrm>
          <a:custGeom>
            <a:avLst/>
            <a:gdLst/>
            <a:ahLst/>
            <a:cxnLst/>
            <a:rect r="r" b="b" t="t" l="l"/>
            <a:pathLst>
              <a:path h="6461063" w="7577524">
                <a:moveTo>
                  <a:pt x="0" y="0"/>
                </a:moveTo>
                <a:lnTo>
                  <a:pt x="7577524" y="0"/>
                </a:lnTo>
                <a:lnTo>
                  <a:pt x="7577524" y="6461063"/>
                </a:lnTo>
                <a:lnTo>
                  <a:pt x="0" y="6461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8634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968427" y="2290458"/>
            <a:ext cx="5952045" cy="1329101"/>
            <a:chOff x="0" y="0"/>
            <a:chExt cx="9534890" cy="212916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34813" cy="2129127"/>
            </a:xfrm>
            <a:custGeom>
              <a:avLst/>
              <a:gdLst/>
              <a:ahLst/>
              <a:cxnLst/>
              <a:rect r="r" b="b" t="t" l="l"/>
              <a:pathLst>
                <a:path h="2129127" w="9534813">
                  <a:moveTo>
                    <a:pt x="390290" y="0"/>
                  </a:moveTo>
                  <a:lnTo>
                    <a:pt x="9144523" y="0"/>
                  </a:lnTo>
                  <a:cubicBezTo>
                    <a:pt x="9360074" y="0"/>
                    <a:pt x="9534813" y="174739"/>
                    <a:pt x="9534813" y="390290"/>
                  </a:cubicBezTo>
                  <a:lnTo>
                    <a:pt x="9534813" y="1738838"/>
                  </a:lnTo>
                  <a:cubicBezTo>
                    <a:pt x="9534813" y="1842349"/>
                    <a:pt x="9493693" y="1941621"/>
                    <a:pt x="9420499" y="2014814"/>
                  </a:cubicBezTo>
                  <a:cubicBezTo>
                    <a:pt x="9347306" y="2088008"/>
                    <a:pt x="9248034" y="2129127"/>
                    <a:pt x="9144523" y="2129127"/>
                  </a:cubicBezTo>
                  <a:lnTo>
                    <a:pt x="390290" y="2129127"/>
                  </a:lnTo>
                  <a:cubicBezTo>
                    <a:pt x="174739" y="2129127"/>
                    <a:pt x="0" y="1954389"/>
                    <a:pt x="0" y="1738838"/>
                  </a:cubicBezTo>
                  <a:lnTo>
                    <a:pt x="0" y="390290"/>
                  </a:lnTo>
                  <a:cubicBezTo>
                    <a:pt x="0" y="174739"/>
                    <a:pt x="174739" y="0"/>
                    <a:pt x="3902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911354" y="3784680"/>
            <a:ext cx="6131244" cy="1555727"/>
            <a:chOff x="0" y="0"/>
            <a:chExt cx="9534890" cy="24193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34813" cy="2419326"/>
            </a:xfrm>
            <a:custGeom>
              <a:avLst/>
              <a:gdLst/>
              <a:ahLst/>
              <a:cxnLst/>
              <a:rect r="r" b="b" t="t" l="l"/>
              <a:pathLst>
                <a:path h="2419326" w="9534813">
                  <a:moveTo>
                    <a:pt x="378882" y="0"/>
                  </a:moveTo>
                  <a:lnTo>
                    <a:pt x="9155930" y="0"/>
                  </a:lnTo>
                  <a:cubicBezTo>
                    <a:pt x="9365181" y="0"/>
                    <a:pt x="9534813" y="169631"/>
                    <a:pt x="9534813" y="378882"/>
                  </a:cubicBezTo>
                  <a:lnTo>
                    <a:pt x="9534813" y="2040443"/>
                  </a:lnTo>
                  <a:cubicBezTo>
                    <a:pt x="9534813" y="2140929"/>
                    <a:pt x="9494895" y="2237299"/>
                    <a:pt x="9423840" y="2308353"/>
                  </a:cubicBezTo>
                  <a:cubicBezTo>
                    <a:pt x="9352786" y="2379408"/>
                    <a:pt x="9256416" y="2419326"/>
                    <a:pt x="9155930" y="2419326"/>
                  </a:cubicBezTo>
                  <a:lnTo>
                    <a:pt x="378882" y="2419326"/>
                  </a:lnTo>
                  <a:cubicBezTo>
                    <a:pt x="278397" y="2419326"/>
                    <a:pt x="182026" y="2379408"/>
                    <a:pt x="110972" y="2308353"/>
                  </a:cubicBezTo>
                  <a:cubicBezTo>
                    <a:pt x="39918" y="2237299"/>
                    <a:pt x="0" y="2140929"/>
                    <a:pt x="0" y="2040443"/>
                  </a:cubicBezTo>
                  <a:lnTo>
                    <a:pt x="0" y="378882"/>
                  </a:lnTo>
                  <a:cubicBezTo>
                    <a:pt x="0" y="278397"/>
                    <a:pt x="39918" y="182026"/>
                    <a:pt x="110972" y="110972"/>
                  </a:cubicBezTo>
                  <a:cubicBezTo>
                    <a:pt x="182026" y="39918"/>
                    <a:pt x="278397" y="0"/>
                    <a:pt x="37888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7968427" y="5673781"/>
            <a:ext cx="6581317" cy="2008917"/>
            <a:chOff x="0" y="0"/>
            <a:chExt cx="10068810" cy="307346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8728" cy="3073415"/>
            </a:xfrm>
            <a:custGeom>
              <a:avLst/>
              <a:gdLst/>
              <a:ahLst/>
              <a:cxnLst/>
              <a:rect r="r" b="b" t="t" l="l"/>
              <a:pathLst>
                <a:path h="3073415" w="10068728">
                  <a:moveTo>
                    <a:pt x="352972" y="0"/>
                  </a:moveTo>
                  <a:lnTo>
                    <a:pt x="9715756" y="0"/>
                  </a:lnTo>
                  <a:cubicBezTo>
                    <a:pt x="9809370" y="0"/>
                    <a:pt x="9899150" y="37188"/>
                    <a:pt x="9965345" y="103383"/>
                  </a:cubicBezTo>
                  <a:cubicBezTo>
                    <a:pt x="10031540" y="169578"/>
                    <a:pt x="10068728" y="259358"/>
                    <a:pt x="10068728" y="352972"/>
                  </a:cubicBezTo>
                  <a:lnTo>
                    <a:pt x="10068728" y="2720443"/>
                  </a:lnTo>
                  <a:cubicBezTo>
                    <a:pt x="10068728" y="2814057"/>
                    <a:pt x="10031540" y="2903837"/>
                    <a:pt x="9965345" y="2970032"/>
                  </a:cubicBezTo>
                  <a:cubicBezTo>
                    <a:pt x="9899150" y="3036227"/>
                    <a:pt x="9809370" y="3073415"/>
                    <a:pt x="9715756" y="3073415"/>
                  </a:cubicBezTo>
                  <a:lnTo>
                    <a:pt x="352972" y="3073415"/>
                  </a:lnTo>
                  <a:cubicBezTo>
                    <a:pt x="259358" y="3073415"/>
                    <a:pt x="169578" y="3036227"/>
                    <a:pt x="103383" y="2970032"/>
                  </a:cubicBezTo>
                  <a:cubicBezTo>
                    <a:pt x="37188" y="2903837"/>
                    <a:pt x="0" y="2814057"/>
                    <a:pt x="0" y="2720443"/>
                  </a:cubicBezTo>
                  <a:lnTo>
                    <a:pt x="0" y="352972"/>
                  </a:lnTo>
                  <a:cubicBezTo>
                    <a:pt x="0" y="259358"/>
                    <a:pt x="37188" y="169578"/>
                    <a:pt x="103383" y="103383"/>
                  </a:cubicBezTo>
                  <a:cubicBezTo>
                    <a:pt x="169578" y="37188"/>
                    <a:pt x="259358" y="0"/>
                    <a:pt x="35297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035374" y="7842982"/>
            <a:ext cx="5808273" cy="1499893"/>
            <a:chOff x="0" y="0"/>
            <a:chExt cx="8303855" cy="21443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303787" cy="2144307"/>
            </a:xfrm>
            <a:custGeom>
              <a:avLst/>
              <a:gdLst/>
              <a:ahLst/>
              <a:cxnLst/>
              <a:rect r="r" b="b" t="t" l="l"/>
              <a:pathLst>
                <a:path h="2144307" w="8303787">
                  <a:moveTo>
                    <a:pt x="399950" y="0"/>
                  </a:moveTo>
                  <a:lnTo>
                    <a:pt x="7903837" y="0"/>
                  </a:lnTo>
                  <a:cubicBezTo>
                    <a:pt x="8009910" y="0"/>
                    <a:pt x="8111639" y="42138"/>
                    <a:pt x="8186644" y="117143"/>
                  </a:cubicBezTo>
                  <a:cubicBezTo>
                    <a:pt x="8261649" y="192148"/>
                    <a:pt x="8303787" y="293877"/>
                    <a:pt x="8303787" y="399950"/>
                  </a:cubicBezTo>
                  <a:lnTo>
                    <a:pt x="8303787" y="1744357"/>
                  </a:lnTo>
                  <a:cubicBezTo>
                    <a:pt x="8303787" y="1965243"/>
                    <a:pt x="8124723" y="2144307"/>
                    <a:pt x="7903837" y="2144307"/>
                  </a:cubicBezTo>
                  <a:lnTo>
                    <a:pt x="399950" y="2144307"/>
                  </a:lnTo>
                  <a:cubicBezTo>
                    <a:pt x="293877" y="2144307"/>
                    <a:pt x="192148" y="2102169"/>
                    <a:pt x="117143" y="2027164"/>
                  </a:cubicBezTo>
                  <a:cubicBezTo>
                    <a:pt x="42138" y="1952159"/>
                    <a:pt x="0" y="1850430"/>
                    <a:pt x="0" y="1744357"/>
                  </a:cubicBezTo>
                  <a:lnTo>
                    <a:pt x="0" y="399950"/>
                  </a:lnTo>
                  <a:cubicBezTo>
                    <a:pt x="0" y="293877"/>
                    <a:pt x="42138" y="192148"/>
                    <a:pt x="117143" y="117143"/>
                  </a:cubicBezTo>
                  <a:cubicBezTo>
                    <a:pt x="192148" y="42138"/>
                    <a:pt x="293877" y="0"/>
                    <a:pt x="39995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059784" y="3913192"/>
            <a:ext cx="5834383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Segmenta o sistema em serviços independentes que se comunicam entre si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9985" y="2495213"/>
            <a:ext cx="5688929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Ideal para sistemas que precisam evoluir rapidamente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18812" y="5815460"/>
            <a:ext cx="6430932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Permite uma escalabilidade granular (Cada serviço poder ser desenvolvido, implementado e escalado de forma independente)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185760" y="7911606"/>
            <a:ext cx="550750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Extremamente útil em grandes sistemas de streaming online ou plataformas de CRM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35400" y="2813532"/>
            <a:ext cx="5103867" cy="1280850"/>
            <a:chOff x="0" y="0"/>
            <a:chExt cx="11834609" cy="2969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34513" cy="2969935"/>
            </a:xfrm>
            <a:custGeom>
              <a:avLst/>
              <a:gdLst/>
              <a:ahLst/>
              <a:cxnLst/>
              <a:rect r="r" b="b" t="t" l="l"/>
              <a:pathLst>
                <a:path h="2969935" w="11834513">
                  <a:moveTo>
                    <a:pt x="455149" y="0"/>
                  </a:moveTo>
                  <a:lnTo>
                    <a:pt x="11379364" y="0"/>
                  </a:lnTo>
                  <a:cubicBezTo>
                    <a:pt x="11630736" y="0"/>
                    <a:pt x="11834513" y="203777"/>
                    <a:pt x="11834513" y="455149"/>
                  </a:cubicBezTo>
                  <a:lnTo>
                    <a:pt x="11834513" y="2514786"/>
                  </a:lnTo>
                  <a:cubicBezTo>
                    <a:pt x="11834513" y="2766158"/>
                    <a:pt x="11630736" y="2969935"/>
                    <a:pt x="11379364" y="2969935"/>
                  </a:cubicBezTo>
                  <a:lnTo>
                    <a:pt x="455149" y="2969935"/>
                  </a:lnTo>
                  <a:cubicBezTo>
                    <a:pt x="334436" y="2969935"/>
                    <a:pt x="218667" y="2921982"/>
                    <a:pt x="133310" y="2836625"/>
                  </a:cubicBezTo>
                  <a:cubicBezTo>
                    <a:pt x="47953" y="2751268"/>
                    <a:pt x="0" y="2635499"/>
                    <a:pt x="0" y="2514786"/>
                  </a:cubicBezTo>
                  <a:lnTo>
                    <a:pt x="0" y="455149"/>
                  </a:lnTo>
                  <a:cubicBezTo>
                    <a:pt x="0" y="203777"/>
                    <a:pt x="203777" y="0"/>
                    <a:pt x="4551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728502" y="1902043"/>
            <a:ext cx="4708349" cy="728010"/>
            <a:chOff x="0" y="0"/>
            <a:chExt cx="10272353" cy="15883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272269" cy="1588299"/>
            </a:xfrm>
            <a:custGeom>
              <a:avLst/>
              <a:gdLst/>
              <a:ahLst/>
              <a:cxnLst/>
              <a:rect r="r" b="b" t="t" l="l"/>
              <a:pathLst>
                <a:path h="1588299" w="10272269">
                  <a:moveTo>
                    <a:pt x="493383" y="0"/>
                  </a:moveTo>
                  <a:lnTo>
                    <a:pt x="9778886" y="0"/>
                  </a:lnTo>
                  <a:cubicBezTo>
                    <a:pt x="10051374" y="0"/>
                    <a:pt x="10272269" y="220895"/>
                    <a:pt x="10272269" y="493383"/>
                  </a:cubicBezTo>
                  <a:lnTo>
                    <a:pt x="10272269" y="1094916"/>
                  </a:lnTo>
                  <a:cubicBezTo>
                    <a:pt x="10272269" y="1225769"/>
                    <a:pt x="10220288" y="1351263"/>
                    <a:pt x="10127761" y="1443791"/>
                  </a:cubicBezTo>
                  <a:cubicBezTo>
                    <a:pt x="10035233" y="1536318"/>
                    <a:pt x="9909739" y="1588299"/>
                    <a:pt x="9778886" y="1588299"/>
                  </a:cubicBezTo>
                  <a:lnTo>
                    <a:pt x="493383" y="1588299"/>
                  </a:lnTo>
                  <a:cubicBezTo>
                    <a:pt x="220895" y="1588299"/>
                    <a:pt x="0" y="1367404"/>
                    <a:pt x="0" y="1094916"/>
                  </a:cubicBezTo>
                  <a:lnTo>
                    <a:pt x="0" y="493383"/>
                  </a:lnTo>
                  <a:cubicBezTo>
                    <a:pt x="0" y="220895"/>
                    <a:pt x="220895" y="0"/>
                    <a:pt x="4933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493444" y="8119681"/>
            <a:ext cx="14049973" cy="1244617"/>
            <a:chOff x="0" y="0"/>
            <a:chExt cx="28249461" cy="25024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49231" cy="2502444"/>
            </a:xfrm>
            <a:custGeom>
              <a:avLst/>
              <a:gdLst/>
              <a:ahLst/>
              <a:cxnLst/>
              <a:rect r="r" b="b" t="t" l="l"/>
              <a:pathLst>
                <a:path h="2502444" w="28249231">
                  <a:moveTo>
                    <a:pt x="165340" y="0"/>
                  </a:moveTo>
                  <a:lnTo>
                    <a:pt x="28083892" y="0"/>
                  </a:lnTo>
                  <a:cubicBezTo>
                    <a:pt x="28175204" y="0"/>
                    <a:pt x="28249231" y="74025"/>
                    <a:pt x="28249231" y="165340"/>
                  </a:cubicBezTo>
                  <a:lnTo>
                    <a:pt x="28249231" y="2337104"/>
                  </a:lnTo>
                  <a:cubicBezTo>
                    <a:pt x="28249231" y="2428418"/>
                    <a:pt x="28175204" y="2502444"/>
                    <a:pt x="28083892" y="2502444"/>
                  </a:cubicBezTo>
                  <a:lnTo>
                    <a:pt x="165340" y="2502444"/>
                  </a:lnTo>
                  <a:cubicBezTo>
                    <a:pt x="121489" y="2502444"/>
                    <a:pt x="79434" y="2485024"/>
                    <a:pt x="48427" y="2454017"/>
                  </a:cubicBezTo>
                  <a:cubicBezTo>
                    <a:pt x="17420" y="2423009"/>
                    <a:pt x="0" y="2380955"/>
                    <a:pt x="0" y="2337104"/>
                  </a:cubicBezTo>
                  <a:lnTo>
                    <a:pt x="0" y="165340"/>
                  </a:lnTo>
                  <a:cubicBezTo>
                    <a:pt x="0" y="74025"/>
                    <a:pt x="74025" y="0"/>
                    <a:pt x="16534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552815" y="4342032"/>
            <a:ext cx="5641576" cy="1210153"/>
            <a:chOff x="0" y="0"/>
            <a:chExt cx="11958825" cy="25652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958727" cy="2565206"/>
            </a:xfrm>
            <a:custGeom>
              <a:avLst/>
              <a:gdLst/>
              <a:ahLst/>
              <a:cxnLst/>
              <a:rect r="r" b="b" t="t" l="l"/>
              <a:pathLst>
                <a:path h="2565206" w="11958727">
                  <a:moveTo>
                    <a:pt x="411768" y="0"/>
                  </a:moveTo>
                  <a:lnTo>
                    <a:pt x="11546960" y="0"/>
                  </a:lnTo>
                  <a:cubicBezTo>
                    <a:pt x="11774373" y="0"/>
                    <a:pt x="11958727" y="184355"/>
                    <a:pt x="11958727" y="411768"/>
                  </a:cubicBezTo>
                  <a:lnTo>
                    <a:pt x="11958727" y="2153438"/>
                  </a:lnTo>
                  <a:cubicBezTo>
                    <a:pt x="11958727" y="2380851"/>
                    <a:pt x="11774373" y="2565206"/>
                    <a:pt x="11546960" y="2565206"/>
                  </a:cubicBezTo>
                  <a:lnTo>
                    <a:pt x="411768" y="2565206"/>
                  </a:lnTo>
                  <a:cubicBezTo>
                    <a:pt x="184355" y="2565206"/>
                    <a:pt x="0" y="2380851"/>
                    <a:pt x="0" y="2153438"/>
                  </a:cubicBezTo>
                  <a:lnTo>
                    <a:pt x="0" y="411768"/>
                  </a:lnTo>
                  <a:cubicBezTo>
                    <a:pt x="0" y="184355"/>
                    <a:pt x="184355" y="0"/>
                    <a:pt x="41176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135400" y="5822440"/>
            <a:ext cx="6830586" cy="1640016"/>
            <a:chOff x="0" y="0"/>
            <a:chExt cx="12718496" cy="305370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18393" cy="3053654"/>
            </a:xfrm>
            <a:custGeom>
              <a:avLst/>
              <a:gdLst/>
              <a:ahLst/>
              <a:cxnLst/>
              <a:rect r="r" b="b" t="t" l="l"/>
              <a:pathLst>
                <a:path h="3053654" w="12718393">
                  <a:moveTo>
                    <a:pt x="340091" y="0"/>
                  </a:moveTo>
                  <a:lnTo>
                    <a:pt x="12378302" y="0"/>
                  </a:lnTo>
                  <a:cubicBezTo>
                    <a:pt x="12468499" y="0"/>
                    <a:pt x="12555003" y="35831"/>
                    <a:pt x="12618782" y="99610"/>
                  </a:cubicBezTo>
                  <a:cubicBezTo>
                    <a:pt x="12682562" y="163390"/>
                    <a:pt x="12718393" y="249893"/>
                    <a:pt x="12718393" y="340091"/>
                  </a:cubicBezTo>
                  <a:lnTo>
                    <a:pt x="12718393" y="2713564"/>
                  </a:lnTo>
                  <a:cubicBezTo>
                    <a:pt x="12718393" y="2803761"/>
                    <a:pt x="12682562" y="2890265"/>
                    <a:pt x="12618782" y="2954044"/>
                  </a:cubicBezTo>
                  <a:cubicBezTo>
                    <a:pt x="12555003" y="3017824"/>
                    <a:pt x="12468499" y="3053654"/>
                    <a:pt x="12378302" y="3053654"/>
                  </a:cubicBezTo>
                  <a:lnTo>
                    <a:pt x="340091" y="3053654"/>
                  </a:lnTo>
                  <a:cubicBezTo>
                    <a:pt x="249893" y="3053654"/>
                    <a:pt x="163390" y="3017824"/>
                    <a:pt x="99610" y="2954044"/>
                  </a:cubicBezTo>
                  <a:cubicBezTo>
                    <a:pt x="35831" y="2890265"/>
                    <a:pt x="0" y="2803761"/>
                    <a:pt x="0" y="2713564"/>
                  </a:cubicBezTo>
                  <a:lnTo>
                    <a:pt x="0" y="340091"/>
                  </a:lnTo>
                  <a:cubicBezTo>
                    <a:pt x="0" y="249893"/>
                    <a:pt x="35831" y="163390"/>
                    <a:pt x="99610" y="99610"/>
                  </a:cubicBezTo>
                  <a:cubicBezTo>
                    <a:pt x="163390" y="35831"/>
                    <a:pt x="249893" y="0"/>
                    <a:pt x="34009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334751" y="3068203"/>
            <a:ext cx="9537127" cy="4004137"/>
          </a:xfrm>
          <a:custGeom>
            <a:avLst/>
            <a:gdLst/>
            <a:ahLst/>
            <a:cxnLst/>
            <a:rect r="r" b="b" t="t" l="l"/>
            <a:pathLst>
              <a:path h="4004137" w="9537127">
                <a:moveTo>
                  <a:pt x="0" y="0"/>
                </a:moveTo>
                <a:lnTo>
                  <a:pt x="9537127" y="0"/>
                </a:lnTo>
                <a:lnTo>
                  <a:pt x="9537127" y="4004137"/>
                </a:lnTo>
                <a:lnTo>
                  <a:pt x="0" y="40041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91990" y="2961326"/>
            <a:ext cx="4790686" cy="850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Modelo: cuida das regras de negócio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673802" y="8310137"/>
            <a:ext cx="13689258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5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Facilita a manutenção e evolução do software, permitindo que cada componente seja desenvolvido de forma independente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87020" y="4497177"/>
            <a:ext cx="528746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Visão: gerencia o que é mostrado ao usuário, interface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98922" y="5968339"/>
            <a:ext cx="641784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Controller: lida com a interação entre a visão e o modelo, respotas a interação do usuário com o sistema.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794244" y="2004279"/>
            <a:ext cx="457686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b="true" sz="2500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 a aplicação em três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7706" y="2807058"/>
            <a:ext cx="9604918" cy="5336066"/>
          </a:xfrm>
          <a:custGeom>
            <a:avLst/>
            <a:gdLst/>
            <a:ahLst/>
            <a:cxnLst/>
            <a:rect r="r" b="b" t="t" l="l"/>
            <a:pathLst>
              <a:path h="5336066" w="9604918">
                <a:moveTo>
                  <a:pt x="0" y="0"/>
                </a:moveTo>
                <a:lnTo>
                  <a:pt x="9604918" y="0"/>
                </a:lnTo>
                <a:lnTo>
                  <a:pt x="9604918" y="5336066"/>
                </a:lnTo>
                <a:lnTo>
                  <a:pt x="0" y="53360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970841" y="2630053"/>
            <a:ext cx="7042897" cy="1671538"/>
            <a:chOff x="0" y="0"/>
            <a:chExt cx="11500046" cy="27293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2729345"/>
            </a:xfrm>
            <a:custGeom>
              <a:avLst/>
              <a:gdLst/>
              <a:ahLst/>
              <a:cxnLst/>
              <a:rect r="r" b="b" t="t" l="l"/>
              <a:pathLst>
                <a:path h="2729345" w="11499952">
                  <a:moveTo>
                    <a:pt x="329839" y="0"/>
                  </a:moveTo>
                  <a:lnTo>
                    <a:pt x="11170114" y="0"/>
                  </a:lnTo>
                  <a:cubicBezTo>
                    <a:pt x="11352278" y="0"/>
                    <a:pt x="11499952" y="147674"/>
                    <a:pt x="11499952" y="329839"/>
                  </a:cubicBezTo>
                  <a:lnTo>
                    <a:pt x="11499952" y="2399507"/>
                  </a:lnTo>
                  <a:cubicBezTo>
                    <a:pt x="11499952" y="2581671"/>
                    <a:pt x="11352278" y="2729345"/>
                    <a:pt x="11170114" y="2729345"/>
                  </a:cubicBezTo>
                  <a:lnTo>
                    <a:pt x="329839" y="2729345"/>
                  </a:lnTo>
                  <a:cubicBezTo>
                    <a:pt x="242360" y="2729345"/>
                    <a:pt x="158464" y="2694595"/>
                    <a:pt x="96608" y="2632738"/>
                  </a:cubicBezTo>
                  <a:cubicBezTo>
                    <a:pt x="34751" y="2570881"/>
                    <a:pt x="0" y="2486985"/>
                    <a:pt x="0" y="2399507"/>
                  </a:cubicBezTo>
                  <a:lnTo>
                    <a:pt x="0" y="329839"/>
                  </a:lnTo>
                  <a:cubicBezTo>
                    <a:pt x="0" y="242360"/>
                    <a:pt x="34751" y="158464"/>
                    <a:pt x="96608" y="96608"/>
                  </a:cubicBezTo>
                  <a:cubicBezTo>
                    <a:pt x="158464" y="34751"/>
                    <a:pt x="242360" y="0"/>
                    <a:pt x="32983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1266" y="2768958"/>
            <a:ext cx="667007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Similar a Microsserviços. 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Deu origem a esse subtipo. Porém com maior foco em serviços reutilizaveis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181266" y="5015966"/>
            <a:ext cx="7264196" cy="2436254"/>
            <a:chOff x="0" y="0"/>
            <a:chExt cx="11861395" cy="397806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861298" cy="3977999"/>
            </a:xfrm>
            <a:custGeom>
              <a:avLst/>
              <a:gdLst/>
              <a:ahLst/>
              <a:cxnLst/>
              <a:rect r="r" b="b" t="t" l="l"/>
              <a:pathLst>
                <a:path h="3977999" w="11861298">
                  <a:moveTo>
                    <a:pt x="319790" y="0"/>
                  </a:moveTo>
                  <a:lnTo>
                    <a:pt x="11541508" y="0"/>
                  </a:lnTo>
                  <a:cubicBezTo>
                    <a:pt x="11718123" y="0"/>
                    <a:pt x="11861298" y="143175"/>
                    <a:pt x="11861298" y="319790"/>
                  </a:cubicBezTo>
                  <a:lnTo>
                    <a:pt x="11861298" y="3658208"/>
                  </a:lnTo>
                  <a:cubicBezTo>
                    <a:pt x="11861298" y="3743022"/>
                    <a:pt x="11827607" y="3824362"/>
                    <a:pt x="11767634" y="3884335"/>
                  </a:cubicBezTo>
                  <a:cubicBezTo>
                    <a:pt x="11707661" y="3944307"/>
                    <a:pt x="11626321" y="3977999"/>
                    <a:pt x="11541508" y="3977999"/>
                  </a:cubicBezTo>
                  <a:lnTo>
                    <a:pt x="319790" y="3977999"/>
                  </a:lnTo>
                  <a:cubicBezTo>
                    <a:pt x="234977" y="3977999"/>
                    <a:pt x="153637" y="3944307"/>
                    <a:pt x="93664" y="3884335"/>
                  </a:cubicBezTo>
                  <a:cubicBezTo>
                    <a:pt x="33692" y="3824362"/>
                    <a:pt x="0" y="3743022"/>
                    <a:pt x="0" y="3658208"/>
                  </a:cubicBezTo>
                  <a:lnTo>
                    <a:pt x="0" y="319790"/>
                  </a:lnTo>
                  <a:cubicBezTo>
                    <a:pt x="0" y="234977"/>
                    <a:pt x="33692" y="153637"/>
                    <a:pt x="93664" y="93664"/>
                  </a:cubicBezTo>
                  <a:cubicBezTo>
                    <a:pt x="153637" y="33692"/>
                    <a:pt x="234977" y="0"/>
                    <a:pt x="31979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418438" y="5094628"/>
            <a:ext cx="680572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principal diferença: está em como os serviços estão expostos e consumidos,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082422" y="3068203"/>
            <a:ext cx="7176878" cy="1334934"/>
            <a:chOff x="0" y="0"/>
            <a:chExt cx="14430129" cy="268408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430012" cy="2684038"/>
            </a:xfrm>
            <a:custGeom>
              <a:avLst/>
              <a:gdLst/>
              <a:ahLst/>
              <a:cxnLst/>
              <a:rect r="r" b="b" t="t" l="l"/>
              <a:pathLst>
                <a:path h="2684038" w="14430012">
                  <a:moveTo>
                    <a:pt x="323681" y="0"/>
                  </a:moveTo>
                  <a:lnTo>
                    <a:pt x="14106331" y="0"/>
                  </a:lnTo>
                  <a:cubicBezTo>
                    <a:pt x="14192177" y="0"/>
                    <a:pt x="14274507" y="34102"/>
                    <a:pt x="14335209" y="94804"/>
                  </a:cubicBezTo>
                  <a:cubicBezTo>
                    <a:pt x="14395910" y="155506"/>
                    <a:pt x="14430012" y="237836"/>
                    <a:pt x="14430012" y="323681"/>
                  </a:cubicBezTo>
                  <a:lnTo>
                    <a:pt x="14430012" y="2360356"/>
                  </a:lnTo>
                  <a:cubicBezTo>
                    <a:pt x="14430012" y="2446202"/>
                    <a:pt x="14395910" y="2528532"/>
                    <a:pt x="14335209" y="2589233"/>
                  </a:cubicBezTo>
                  <a:cubicBezTo>
                    <a:pt x="14274507" y="2649936"/>
                    <a:pt x="14192177" y="2684038"/>
                    <a:pt x="14106331" y="2684038"/>
                  </a:cubicBezTo>
                  <a:lnTo>
                    <a:pt x="323681" y="2684038"/>
                  </a:lnTo>
                  <a:cubicBezTo>
                    <a:pt x="144917" y="2684038"/>
                    <a:pt x="0" y="2539121"/>
                    <a:pt x="0" y="2360356"/>
                  </a:cubicBezTo>
                  <a:lnTo>
                    <a:pt x="0" y="323681"/>
                  </a:lnTo>
                  <a:cubicBezTo>
                    <a:pt x="0" y="144917"/>
                    <a:pt x="144917" y="0"/>
                    <a:pt x="32368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34216" y="3207030"/>
            <a:ext cx="6857645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Ogarnização em diferentes niveis, desde a interface de usuário até o back-end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51272" y="5066592"/>
            <a:ext cx="6977949" cy="1615494"/>
            <a:chOff x="0" y="0"/>
            <a:chExt cx="15189730" cy="351664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189606" cy="3516588"/>
            </a:xfrm>
            <a:custGeom>
              <a:avLst/>
              <a:gdLst/>
              <a:ahLst/>
              <a:cxnLst/>
              <a:rect r="r" b="b" t="t" l="l"/>
              <a:pathLst>
                <a:path h="3516588" w="15189606">
                  <a:moveTo>
                    <a:pt x="332909" y="0"/>
                  </a:moveTo>
                  <a:lnTo>
                    <a:pt x="14856698" y="0"/>
                  </a:lnTo>
                  <a:cubicBezTo>
                    <a:pt x="15040558" y="0"/>
                    <a:pt x="15189606" y="149048"/>
                    <a:pt x="15189606" y="332909"/>
                  </a:cubicBezTo>
                  <a:lnTo>
                    <a:pt x="15189606" y="3183679"/>
                  </a:lnTo>
                  <a:cubicBezTo>
                    <a:pt x="15189606" y="3271972"/>
                    <a:pt x="15154532" y="3356649"/>
                    <a:pt x="15092099" y="3419081"/>
                  </a:cubicBezTo>
                  <a:cubicBezTo>
                    <a:pt x="15029667" y="3481514"/>
                    <a:pt x="14944990" y="3516588"/>
                    <a:pt x="14856698" y="3516588"/>
                  </a:cubicBezTo>
                  <a:lnTo>
                    <a:pt x="332909" y="3516588"/>
                  </a:lnTo>
                  <a:cubicBezTo>
                    <a:pt x="149048" y="3516588"/>
                    <a:pt x="0" y="3367540"/>
                    <a:pt x="0" y="3183679"/>
                  </a:cubicBezTo>
                  <a:lnTo>
                    <a:pt x="0" y="332909"/>
                  </a:lnTo>
                  <a:cubicBezTo>
                    <a:pt x="0" y="244616"/>
                    <a:pt x="35074" y="159939"/>
                    <a:pt x="97507" y="97507"/>
                  </a:cubicBezTo>
                  <a:cubicBezTo>
                    <a:pt x="159939" y="35074"/>
                    <a:pt x="244616" y="0"/>
                    <a:pt x="33290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170797" y="5191972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7950449" cy="5972775"/>
          </a:xfrm>
          <a:custGeom>
            <a:avLst/>
            <a:gdLst/>
            <a:ahLst/>
            <a:cxnLst/>
            <a:rect r="r" b="b" t="t" l="l"/>
            <a:pathLst>
              <a:path h="5972775" w="7950449">
                <a:moveTo>
                  <a:pt x="0" y="0"/>
                </a:moveTo>
                <a:lnTo>
                  <a:pt x="7950449" y="0"/>
                </a:lnTo>
                <a:lnTo>
                  <a:pt x="7950449" y="5972775"/>
                </a:lnTo>
                <a:lnTo>
                  <a:pt x="0" y="5972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484765" y="2202608"/>
            <a:ext cx="8196855" cy="1348723"/>
            <a:chOff x="0" y="0"/>
            <a:chExt cx="11500046" cy="18922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99952" cy="1892208"/>
            </a:xfrm>
            <a:custGeom>
              <a:avLst/>
              <a:gdLst/>
              <a:ahLst/>
              <a:cxnLst/>
              <a:rect r="r" b="b" t="t" l="l"/>
              <a:pathLst>
                <a:path h="1892208" w="11499952">
                  <a:moveTo>
                    <a:pt x="283404" y="0"/>
                  </a:moveTo>
                  <a:lnTo>
                    <a:pt x="11216549" y="0"/>
                  </a:lnTo>
                  <a:cubicBezTo>
                    <a:pt x="11373068" y="0"/>
                    <a:pt x="11499952" y="126884"/>
                    <a:pt x="11499952" y="283404"/>
                  </a:cubicBezTo>
                  <a:lnTo>
                    <a:pt x="11499952" y="1608804"/>
                  </a:lnTo>
                  <a:cubicBezTo>
                    <a:pt x="11499952" y="1765324"/>
                    <a:pt x="11373068" y="1892208"/>
                    <a:pt x="11216549" y="1892208"/>
                  </a:cubicBezTo>
                  <a:lnTo>
                    <a:pt x="283404" y="1892208"/>
                  </a:lnTo>
                  <a:cubicBezTo>
                    <a:pt x="208241" y="1892208"/>
                    <a:pt x="136156" y="1862350"/>
                    <a:pt x="83007" y="1809201"/>
                  </a:cubicBezTo>
                  <a:cubicBezTo>
                    <a:pt x="29859" y="1756053"/>
                    <a:pt x="0" y="1683968"/>
                    <a:pt x="0" y="1608804"/>
                  </a:cubicBezTo>
                  <a:lnTo>
                    <a:pt x="0" y="283404"/>
                  </a:lnTo>
                  <a:cubicBezTo>
                    <a:pt x="0" y="126884"/>
                    <a:pt x="126884" y="0"/>
                    <a:pt x="2834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581692" y="102832"/>
            <a:ext cx="1005300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6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CLiente-servidor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30890" y="2411424"/>
            <a:ext cx="7835486" cy="838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Separado em duas partes:</a:t>
            </a:r>
          </a:p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Cliente, solicita serviços e Servidor, os fornece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05268" y="6835843"/>
            <a:ext cx="6931682" cy="2465362"/>
            <a:chOff x="0" y="0"/>
            <a:chExt cx="9725030" cy="34588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845494" y="7018579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aplicações web e empresariais. O servidor centraliza a lógica de negócios e dados, enquanto os clientes executam a interface do usúario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327618" y="4075205"/>
            <a:ext cx="6931682" cy="2465362"/>
            <a:chOff x="0" y="0"/>
            <a:chExt cx="9725030" cy="34588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724951" cy="3458813"/>
            </a:xfrm>
            <a:custGeom>
              <a:avLst/>
              <a:gdLst/>
              <a:ahLst/>
              <a:cxnLst/>
              <a:rect r="r" b="b" t="t" l="l"/>
              <a:pathLst>
                <a:path h="3458813" w="9724951">
                  <a:moveTo>
                    <a:pt x="335131" y="0"/>
                  </a:moveTo>
                  <a:lnTo>
                    <a:pt x="9389820" y="0"/>
                  </a:lnTo>
                  <a:cubicBezTo>
                    <a:pt x="9478702" y="0"/>
                    <a:pt x="9563944" y="35308"/>
                    <a:pt x="9626793" y="98158"/>
                  </a:cubicBezTo>
                  <a:cubicBezTo>
                    <a:pt x="9689642" y="161007"/>
                    <a:pt x="9724951" y="246249"/>
                    <a:pt x="9724951" y="335131"/>
                  </a:cubicBezTo>
                  <a:lnTo>
                    <a:pt x="9724951" y="3123682"/>
                  </a:lnTo>
                  <a:cubicBezTo>
                    <a:pt x="9724951" y="3212564"/>
                    <a:pt x="9689642" y="3297806"/>
                    <a:pt x="9626793" y="3360655"/>
                  </a:cubicBezTo>
                  <a:cubicBezTo>
                    <a:pt x="9563944" y="3423505"/>
                    <a:pt x="9478702" y="3458813"/>
                    <a:pt x="9389820" y="3458813"/>
                  </a:cubicBezTo>
                  <a:lnTo>
                    <a:pt x="335131" y="3458813"/>
                  </a:lnTo>
                  <a:cubicBezTo>
                    <a:pt x="246249" y="3458813"/>
                    <a:pt x="161007" y="3423505"/>
                    <a:pt x="98158" y="3360655"/>
                  </a:cubicBezTo>
                  <a:cubicBezTo>
                    <a:pt x="35308" y="3297806"/>
                    <a:pt x="0" y="3212564"/>
                    <a:pt x="0" y="3123682"/>
                  </a:cubicBezTo>
                  <a:lnTo>
                    <a:pt x="0" y="335131"/>
                  </a:lnTo>
                  <a:cubicBezTo>
                    <a:pt x="0" y="246249"/>
                    <a:pt x="35308" y="161007"/>
                    <a:pt x="98158" y="98158"/>
                  </a:cubicBezTo>
                  <a:cubicBezTo>
                    <a:pt x="161007" y="35308"/>
                    <a:pt x="246249" y="0"/>
                    <a:pt x="3351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0573743" y="4226796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Esse modelo funcionava bem para realizar atualizações mais simples em dados e se precisasse exibir informações. Enquanto até cálculos, ficam mais difíceis de implementar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306346" y="2876969"/>
            <a:ext cx="6277910" cy="1705040"/>
            <a:chOff x="0" y="0"/>
            <a:chExt cx="12622627" cy="34282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622524" cy="3428176"/>
            </a:xfrm>
            <a:custGeom>
              <a:avLst/>
              <a:gdLst/>
              <a:ahLst/>
              <a:cxnLst/>
              <a:rect r="r" b="b" t="t" l="l"/>
              <a:pathLst>
                <a:path h="3428176" w="12622524">
                  <a:moveTo>
                    <a:pt x="370031" y="0"/>
                  </a:moveTo>
                  <a:lnTo>
                    <a:pt x="12252493" y="0"/>
                  </a:lnTo>
                  <a:cubicBezTo>
                    <a:pt x="12456856" y="0"/>
                    <a:pt x="12622524" y="165668"/>
                    <a:pt x="12622524" y="370031"/>
                  </a:cubicBezTo>
                  <a:lnTo>
                    <a:pt x="12622524" y="3058145"/>
                  </a:lnTo>
                  <a:cubicBezTo>
                    <a:pt x="12622524" y="3156284"/>
                    <a:pt x="12583539" y="3250402"/>
                    <a:pt x="12514145" y="3319797"/>
                  </a:cubicBezTo>
                  <a:cubicBezTo>
                    <a:pt x="12444750" y="3389191"/>
                    <a:pt x="12350631" y="3428176"/>
                    <a:pt x="12252493" y="3428176"/>
                  </a:cubicBezTo>
                  <a:lnTo>
                    <a:pt x="370031" y="3428176"/>
                  </a:lnTo>
                  <a:cubicBezTo>
                    <a:pt x="165668" y="3428176"/>
                    <a:pt x="0" y="3262507"/>
                    <a:pt x="0" y="3058145"/>
                  </a:cubicBezTo>
                  <a:lnTo>
                    <a:pt x="0" y="370031"/>
                  </a:lnTo>
                  <a:cubicBezTo>
                    <a:pt x="0" y="165668"/>
                    <a:pt x="165668" y="0"/>
                    <a:pt x="37003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56435" y="2876969"/>
            <a:ext cx="10357693" cy="4232588"/>
          </a:xfrm>
          <a:custGeom>
            <a:avLst/>
            <a:gdLst/>
            <a:ahLst/>
            <a:cxnLst/>
            <a:rect r="r" b="b" t="t" l="l"/>
            <a:pathLst>
              <a:path h="4232588" w="10357693">
                <a:moveTo>
                  <a:pt x="0" y="0"/>
                </a:moveTo>
                <a:lnTo>
                  <a:pt x="10357693" y="0"/>
                </a:lnTo>
                <a:lnTo>
                  <a:pt x="10357693" y="4232588"/>
                </a:lnTo>
                <a:lnTo>
                  <a:pt x="0" y="42325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81692" y="102832"/>
            <a:ext cx="12455207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7. 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Pipes-and-filters (PF)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41072" y="3025072"/>
            <a:ext cx="5934079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 em série, que cada parte é um componente que transforma os dados de forma linear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1700910" y="5457757"/>
            <a:ext cx="5401675" cy="1704091"/>
            <a:chOff x="0" y="0"/>
            <a:chExt cx="10860834" cy="342632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860746" cy="3426269"/>
            </a:xfrm>
            <a:custGeom>
              <a:avLst/>
              <a:gdLst/>
              <a:ahLst/>
              <a:cxnLst/>
              <a:rect r="r" b="b" t="t" l="l"/>
              <a:pathLst>
                <a:path h="3426269" w="10860746">
                  <a:moveTo>
                    <a:pt x="430056" y="0"/>
                  </a:moveTo>
                  <a:lnTo>
                    <a:pt x="10430690" y="0"/>
                  </a:lnTo>
                  <a:cubicBezTo>
                    <a:pt x="10668203" y="0"/>
                    <a:pt x="10860746" y="192542"/>
                    <a:pt x="10860746" y="430056"/>
                  </a:cubicBezTo>
                  <a:lnTo>
                    <a:pt x="10860746" y="2996214"/>
                  </a:lnTo>
                  <a:cubicBezTo>
                    <a:pt x="10860746" y="3233727"/>
                    <a:pt x="10668203" y="3426269"/>
                    <a:pt x="10430690" y="3426269"/>
                  </a:cubicBezTo>
                  <a:lnTo>
                    <a:pt x="430056" y="3426269"/>
                  </a:lnTo>
                  <a:cubicBezTo>
                    <a:pt x="192542" y="3426269"/>
                    <a:pt x="0" y="3233727"/>
                    <a:pt x="0" y="2996214"/>
                  </a:cubicBezTo>
                  <a:lnTo>
                    <a:pt x="0" y="430056"/>
                  </a:lnTo>
                  <a:cubicBezTo>
                    <a:pt x="0" y="192542"/>
                    <a:pt x="192542" y="0"/>
                    <a:pt x="43005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1893762" y="5657337"/>
            <a:ext cx="501597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Frequentemente utilizada em processamento de dados e pipelines de ETL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285537" y="7799916"/>
            <a:ext cx="9476058" cy="1704091"/>
            <a:chOff x="0" y="0"/>
            <a:chExt cx="19052957" cy="342632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2803" cy="3426269"/>
            </a:xfrm>
            <a:custGeom>
              <a:avLst/>
              <a:gdLst/>
              <a:ahLst/>
              <a:cxnLst/>
              <a:rect r="r" b="b" t="t" l="l"/>
              <a:pathLst>
                <a:path h="3426269" w="19052803">
                  <a:moveTo>
                    <a:pt x="245146" y="0"/>
                  </a:moveTo>
                  <a:lnTo>
                    <a:pt x="18807657" y="0"/>
                  </a:lnTo>
                  <a:cubicBezTo>
                    <a:pt x="18872673" y="0"/>
                    <a:pt x="18935027" y="25828"/>
                    <a:pt x="18981001" y="71802"/>
                  </a:cubicBezTo>
                  <a:cubicBezTo>
                    <a:pt x="19026975" y="117776"/>
                    <a:pt x="19052803" y="180129"/>
                    <a:pt x="19052803" y="245146"/>
                  </a:cubicBezTo>
                  <a:lnTo>
                    <a:pt x="19052803" y="3181123"/>
                  </a:lnTo>
                  <a:cubicBezTo>
                    <a:pt x="19052803" y="3246140"/>
                    <a:pt x="19026975" y="3308494"/>
                    <a:pt x="18981001" y="3354467"/>
                  </a:cubicBezTo>
                  <a:cubicBezTo>
                    <a:pt x="18935027" y="3400441"/>
                    <a:pt x="18872673" y="3426269"/>
                    <a:pt x="18807657" y="3426269"/>
                  </a:cubicBezTo>
                  <a:lnTo>
                    <a:pt x="245146" y="3426269"/>
                  </a:lnTo>
                  <a:cubicBezTo>
                    <a:pt x="180129" y="3426269"/>
                    <a:pt x="117776" y="3400441"/>
                    <a:pt x="71802" y="3354467"/>
                  </a:cubicBezTo>
                  <a:cubicBezTo>
                    <a:pt x="25828" y="3308494"/>
                    <a:pt x="0" y="3246140"/>
                    <a:pt x="0" y="3181123"/>
                  </a:cubicBezTo>
                  <a:lnTo>
                    <a:pt x="0" y="245146"/>
                  </a:lnTo>
                  <a:cubicBezTo>
                    <a:pt x="0" y="180129"/>
                    <a:pt x="25828" y="117776"/>
                    <a:pt x="71802" y="71802"/>
                  </a:cubicBezTo>
                  <a:cubicBezTo>
                    <a:pt x="117776" y="25828"/>
                    <a:pt x="180129" y="0"/>
                    <a:pt x="245146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681780" y="7999496"/>
            <a:ext cx="8794676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Cada componente é independente, pode ser modificado ou substituído sem afetar outros filtros. O que facilita a manutenção  e evolução do sistema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664" y="2135572"/>
            <a:ext cx="9354889" cy="5262125"/>
          </a:xfrm>
          <a:custGeom>
            <a:avLst/>
            <a:gdLst/>
            <a:ahLst/>
            <a:cxnLst/>
            <a:rect r="r" b="b" t="t" l="l"/>
            <a:pathLst>
              <a:path h="5262125" w="9354889">
                <a:moveTo>
                  <a:pt x="0" y="0"/>
                </a:moveTo>
                <a:lnTo>
                  <a:pt x="9354889" y="0"/>
                </a:lnTo>
                <a:lnTo>
                  <a:pt x="9354889" y="5262125"/>
                </a:lnTo>
                <a:lnTo>
                  <a:pt x="0" y="52621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199642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8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Orientado a eventos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252455" y="2606752"/>
            <a:ext cx="7352676" cy="1651790"/>
            <a:chOff x="0" y="0"/>
            <a:chExt cx="14783596" cy="33211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4783476" cy="3321111"/>
            </a:xfrm>
            <a:custGeom>
              <a:avLst/>
              <a:gdLst/>
              <a:ahLst/>
              <a:cxnLst/>
              <a:rect r="r" b="b" t="t" l="l"/>
              <a:pathLst>
                <a:path h="3321111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005169"/>
                  </a:lnTo>
                  <a:cubicBezTo>
                    <a:pt x="14783476" y="3179659"/>
                    <a:pt x="14642024" y="3321111"/>
                    <a:pt x="14467534" y="3321111"/>
                  </a:cubicBezTo>
                  <a:lnTo>
                    <a:pt x="315942" y="3321111"/>
                  </a:lnTo>
                  <a:cubicBezTo>
                    <a:pt x="141452" y="3321111"/>
                    <a:pt x="0" y="3179659"/>
                    <a:pt x="0" y="3005169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42747" y="2780182"/>
            <a:ext cx="6998007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componentes se comunicam entre si a partir de eventos, permitindo um sistema altamente desacoplado e reativo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279371" y="4885575"/>
            <a:ext cx="7352676" cy="1972824"/>
            <a:chOff x="0" y="0"/>
            <a:chExt cx="14783596" cy="39666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783476" cy="3966587"/>
            </a:xfrm>
            <a:custGeom>
              <a:avLst/>
              <a:gdLst/>
              <a:ahLst/>
              <a:cxnLst/>
              <a:rect r="r" b="b" t="t" l="l"/>
              <a:pathLst>
                <a:path h="3966587" w="14783476">
                  <a:moveTo>
                    <a:pt x="315942" y="0"/>
                  </a:moveTo>
                  <a:lnTo>
                    <a:pt x="14467534" y="0"/>
                  </a:lnTo>
                  <a:cubicBezTo>
                    <a:pt x="14642024" y="0"/>
                    <a:pt x="14783476" y="141452"/>
                    <a:pt x="14783476" y="315942"/>
                  </a:cubicBezTo>
                  <a:lnTo>
                    <a:pt x="14783476" y="3650644"/>
                  </a:lnTo>
                  <a:cubicBezTo>
                    <a:pt x="14783476" y="3825134"/>
                    <a:pt x="14642024" y="3966587"/>
                    <a:pt x="14467534" y="3966587"/>
                  </a:cubicBezTo>
                  <a:lnTo>
                    <a:pt x="315942" y="3966587"/>
                  </a:lnTo>
                  <a:cubicBezTo>
                    <a:pt x="141452" y="3966587"/>
                    <a:pt x="0" y="3825134"/>
                    <a:pt x="0" y="3650644"/>
                  </a:cubicBezTo>
                  <a:lnTo>
                    <a:pt x="0" y="315942"/>
                  </a:lnTo>
                  <a:cubicBezTo>
                    <a:pt x="0" y="141452"/>
                    <a:pt x="141452" y="0"/>
                    <a:pt x="31594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513115" y="5005209"/>
            <a:ext cx="6885188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Mais comum em sistemas distribuídos, especialmente em ambientes que necessitam de alta escalabilidade e resistência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088478" y="7626297"/>
            <a:ext cx="14708538" cy="2270927"/>
            <a:chOff x="0" y="0"/>
            <a:chExt cx="29573599" cy="45660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9573358" cy="4565957"/>
            </a:xfrm>
            <a:custGeom>
              <a:avLst/>
              <a:gdLst/>
              <a:ahLst/>
              <a:cxnLst/>
              <a:rect r="r" b="b" t="t" l="l"/>
              <a:pathLst>
                <a:path h="4565957" w="29573358">
                  <a:moveTo>
                    <a:pt x="157937" y="0"/>
                  </a:moveTo>
                  <a:lnTo>
                    <a:pt x="29415420" y="0"/>
                  </a:lnTo>
                  <a:cubicBezTo>
                    <a:pt x="29502646" y="0"/>
                    <a:pt x="29573358" y="70711"/>
                    <a:pt x="29573358" y="157937"/>
                  </a:cubicBezTo>
                  <a:lnTo>
                    <a:pt x="29573358" y="4408020"/>
                  </a:lnTo>
                  <a:cubicBezTo>
                    <a:pt x="29573358" y="4495247"/>
                    <a:pt x="29502646" y="4565957"/>
                    <a:pt x="29415420" y="4565957"/>
                  </a:cubicBezTo>
                  <a:lnTo>
                    <a:pt x="157937" y="4565957"/>
                  </a:lnTo>
                  <a:cubicBezTo>
                    <a:pt x="70711" y="4565957"/>
                    <a:pt x="0" y="4495247"/>
                    <a:pt x="0" y="4408020"/>
                  </a:cubicBezTo>
                  <a:lnTo>
                    <a:pt x="0" y="157937"/>
                  </a:lnTo>
                  <a:cubicBezTo>
                    <a:pt x="0" y="70711"/>
                    <a:pt x="70711" y="0"/>
                    <a:pt x="15793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238456" y="7883472"/>
            <a:ext cx="143666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acoplamento fraco permite uma maior agilidade. Os microsserviços podem ser dimensionados de forma idependente, falhas nao afetam outros serviços e reduz a complexidade de fluxo de trabalho. Os eventos podem ser armazenados em buffers e registrados de maneira flexivel. Os eventos baseados em push operam em tempo real.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531978"/>
            <a:ext cx="9607816" cy="4845085"/>
          </a:xfrm>
          <a:custGeom>
            <a:avLst/>
            <a:gdLst/>
            <a:ahLst/>
            <a:cxnLst/>
            <a:rect r="r" b="b" t="t" l="l"/>
            <a:pathLst>
              <a:path h="4845085" w="9607816">
                <a:moveTo>
                  <a:pt x="0" y="0"/>
                </a:moveTo>
                <a:lnTo>
                  <a:pt x="9607816" y="0"/>
                </a:lnTo>
                <a:lnTo>
                  <a:pt x="9607816" y="4845085"/>
                </a:lnTo>
                <a:lnTo>
                  <a:pt x="0" y="48450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06881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9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Baseado em espaço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607653" y="2662675"/>
            <a:ext cx="7267449" cy="2172371"/>
            <a:chOff x="0" y="0"/>
            <a:chExt cx="11500046" cy="343758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437523"/>
            </a:xfrm>
            <a:custGeom>
              <a:avLst/>
              <a:gdLst/>
              <a:ahLst/>
              <a:cxnLst/>
              <a:rect r="r" b="b" t="t" l="l"/>
              <a:pathLst>
                <a:path h="3437523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3117876"/>
                  </a:lnTo>
                  <a:cubicBezTo>
                    <a:pt x="11499952" y="3202652"/>
                    <a:pt x="11466275" y="3283955"/>
                    <a:pt x="11406330" y="3343901"/>
                  </a:cubicBezTo>
                  <a:cubicBezTo>
                    <a:pt x="11346384" y="3403846"/>
                    <a:pt x="11265081" y="3437523"/>
                    <a:pt x="11180305" y="3437523"/>
                  </a:cubicBezTo>
                  <a:lnTo>
                    <a:pt x="319647" y="3437523"/>
                  </a:lnTo>
                  <a:cubicBezTo>
                    <a:pt x="234872" y="3437523"/>
                    <a:pt x="153568" y="3403846"/>
                    <a:pt x="93623" y="3343901"/>
                  </a:cubicBezTo>
                  <a:cubicBezTo>
                    <a:pt x="33677" y="3283955"/>
                    <a:pt x="0" y="3202652"/>
                    <a:pt x="0" y="3117876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2447" y="2882083"/>
            <a:ext cx="673280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Lida com escalabilidade de sistemas distribuidos. Utiliza a noção de espaços como repositórios compartilhados de dados e processos.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555125" y="5358922"/>
            <a:ext cx="7267449" cy="1753631"/>
            <a:chOff x="0" y="0"/>
            <a:chExt cx="11500046" cy="27749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99952" cy="2774916"/>
            </a:xfrm>
            <a:custGeom>
              <a:avLst/>
              <a:gdLst/>
              <a:ahLst/>
              <a:cxnLst/>
              <a:rect r="r" b="b" t="t" l="l"/>
              <a:pathLst>
                <a:path h="2774916" w="11499952">
                  <a:moveTo>
                    <a:pt x="319647" y="0"/>
                  </a:moveTo>
                  <a:lnTo>
                    <a:pt x="11180305" y="0"/>
                  </a:lnTo>
                  <a:cubicBezTo>
                    <a:pt x="11265081" y="0"/>
                    <a:pt x="11346384" y="33677"/>
                    <a:pt x="11406330" y="93623"/>
                  </a:cubicBezTo>
                  <a:cubicBezTo>
                    <a:pt x="11466275" y="153568"/>
                    <a:pt x="11499952" y="234872"/>
                    <a:pt x="11499952" y="319647"/>
                  </a:cubicBezTo>
                  <a:lnTo>
                    <a:pt x="11499952" y="2455269"/>
                  </a:lnTo>
                  <a:cubicBezTo>
                    <a:pt x="11499952" y="2540045"/>
                    <a:pt x="11466275" y="2621348"/>
                    <a:pt x="11406330" y="2681294"/>
                  </a:cubicBezTo>
                  <a:cubicBezTo>
                    <a:pt x="11346384" y="2741239"/>
                    <a:pt x="11265081" y="2774916"/>
                    <a:pt x="11180305" y="2774916"/>
                  </a:cubicBezTo>
                  <a:lnTo>
                    <a:pt x="319647" y="2774916"/>
                  </a:lnTo>
                  <a:cubicBezTo>
                    <a:pt x="234872" y="2774916"/>
                    <a:pt x="153568" y="2741239"/>
                    <a:pt x="93623" y="2681294"/>
                  </a:cubicBezTo>
                  <a:cubicBezTo>
                    <a:pt x="33677" y="2621348"/>
                    <a:pt x="0" y="2540045"/>
                    <a:pt x="0" y="2455269"/>
                  </a:cubicBezTo>
                  <a:lnTo>
                    <a:pt x="0" y="319647"/>
                  </a:lnTo>
                  <a:cubicBezTo>
                    <a:pt x="0" y="234872"/>
                    <a:pt x="33677" y="153568"/>
                    <a:pt x="93623" y="93623"/>
                  </a:cubicBezTo>
                  <a:cubicBezTo>
                    <a:pt x="153568" y="33677"/>
                    <a:pt x="234872" y="0"/>
                    <a:pt x="31964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0822447" y="5509801"/>
            <a:ext cx="673280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para sistemas que precisam escalar horizontalmente sem centralizar a carga de trabalho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4873250" y="7900938"/>
            <a:ext cx="11468806" cy="1753631"/>
            <a:chOff x="0" y="0"/>
            <a:chExt cx="18148293" cy="277496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148145" cy="2774916"/>
            </a:xfrm>
            <a:custGeom>
              <a:avLst/>
              <a:gdLst/>
              <a:ahLst/>
              <a:cxnLst/>
              <a:rect r="r" b="b" t="t" l="l"/>
              <a:pathLst>
                <a:path h="2774916" w="18148145">
                  <a:moveTo>
                    <a:pt x="202551" y="0"/>
                  </a:moveTo>
                  <a:lnTo>
                    <a:pt x="17945595" y="0"/>
                  </a:lnTo>
                  <a:cubicBezTo>
                    <a:pt x="18057461" y="0"/>
                    <a:pt x="18148145" y="90685"/>
                    <a:pt x="18148145" y="202551"/>
                  </a:cubicBezTo>
                  <a:lnTo>
                    <a:pt x="18148145" y="2572365"/>
                  </a:lnTo>
                  <a:cubicBezTo>
                    <a:pt x="18148145" y="2684231"/>
                    <a:pt x="18057461" y="2774916"/>
                    <a:pt x="17945595" y="2774916"/>
                  </a:cubicBezTo>
                  <a:lnTo>
                    <a:pt x="202551" y="2774916"/>
                  </a:lnTo>
                  <a:cubicBezTo>
                    <a:pt x="90685" y="2774916"/>
                    <a:pt x="0" y="2684231"/>
                    <a:pt x="0" y="2572365"/>
                  </a:cubicBezTo>
                  <a:lnTo>
                    <a:pt x="0" y="202551"/>
                  </a:lnTo>
                  <a:cubicBezTo>
                    <a:pt x="0" y="90685"/>
                    <a:pt x="90685" y="0"/>
                    <a:pt x="202551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129026" y="8125288"/>
            <a:ext cx="10852534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Perde seu banco de dados central e no lugar são utilizados grids de dados replicados em memória. Com serviços replicando banco de dados com o mesmo nome para outros serviçoes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438819"/>
            <a:ext cx="6896259" cy="7346627"/>
          </a:xfrm>
          <a:custGeom>
            <a:avLst/>
            <a:gdLst/>
            <a:ahLst/>
            <a:cxnLst/>
            <a:rect r="r" b="b" t="t" l="l"/>
            <a:pathLst>
              <a:path h="7346627" w="6896259">
                <a:moveTo>
                  <a:pt x="0" y="0"/>
                </a:moveTo>
                <a:lnTo>
                  <a:pt x="6896259" y="0"/>
                </a:lnTo>
                <a:lnTo>
                  <a:pt x="6896259" y="7346627"/>
                </a:lnTo>
                <a:lnTo>
                  <a:pt x="0" y="73466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7544573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10</a:t>
            </a:r>
            <a:r>
              <a:rPr lang="en-US" sz="105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. Publicador-Inscrito (Pub/Sub)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444002" y="2678265"/>
            <a:ext cx="7055335" cy="2054764"/>
            <a:chOff x="0" y="0"/>
            <a:chExt cx="11500046" cy="334923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499952" cy="3349175"/>
            </a:xfrm>
            <a:custGeom>
              <a:avLst/>
              <a:gdLst/>
              <a:ahLst/>
              <a:cxnLst/>
              <a:rect r="r" b="b" t="t" l="l"/>
              <a:pathLst>
                <a:path h="3349175" w="11499952">
                  <a:moveTo>
                    <a:pt x="329257" y="0"/>
                  </a:moveTo>
                  <a:lnTo>
                    <a:pt x="11170695" y="0"/>
                  </a:lnTo>
                  <a:cubicBezTo>
                    <a:pt x="11258020" y="0"/>
                    <a:pt x="11341767" y="34690"/>
                    <a:pt x="11403515" y="96437"/>
                  </a:cubicBezTo>
                  <a:cubicBezTo>
                    <a:pt x="11465263" y="158185"/>
                    <a:pt x="11499952" y="241933"/>
                    <a:pt x="11499952" y="329257"/>
                  </a:cubicBezTo>
                  <a:lnTo>
                    <a:pt x="11499952" y="3019918"/>
                  </a:lnTo>
                  <a:cubicBezTo>
                    <a:pt x="11499952" y="3107243"/>
                    <a:pt x="11465263" y="3190990"/>
                    <a:pt x="11403515" y="3252738"/>
                  </a:cubicBezTo>
                  <a:cubicBezTo>
                    <a:pt x="11341767" y="3314486"/>
                    <a:pt x="11258020" y="3349175"/>
                    <a:pt x="11170695" y="3349175"/>
                  </a:cubicBezTo>
                  <a:lnTo>
                    <a:pt x="329257" y="3349175"/>
                  </a:lnTo>
                  <a:cubicBezTo>
                    <a:pt x="241933" y="3349175"/>
                    <a:pt x="158185" y="3314486"/>
                    <a:pt x="96437" y="3252738"/>
                  </a:cubicBezTo>
                  <a:cubicBezTo>
                    <a:pt x="34690" y="3190990"/>
                    <a:pt x="0" y="3107243"/>
                    <a:pt x="0" y="3019918"/>
                  </a:cubicBezTo>
                  <a:lnTo>
                    <a:pt x="0" y="329257"/>
                  </a:lnTo>
                  <a:cubicBezTo>
                    <a:pt x="0" y="241933"/>
                    <a:pt x="34690" y="158185"/>
                    <a:pt x="96437" y="96437"/>
                  </a:cubicBezTo>
                  <a:cubicBezTo>
                    <a:pt x="158185" y="34690"/>
                    <a:pt x="241933" y="0"/>
                    <a:pt x="329257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744848" y="2838869"/>
            <a:ext cx="6453645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Os produtores de mensagens(Pub) não enviam mensagens diretamente aos consumidores(Sub), mas por meio de um intermédio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25456" y="5695054"/>
            <a:ext cx="7153041" cy="2655806"/>
            <a:chOff x="0" y="0"/>
            <a:chExt cx="11659305" cy="432892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9926302" y="5941867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Distribui as mensagens para todos os inscritos. Útil para sistemas que exigem comunicação assíncrona e alta flexibilidade na adição ou remoção dos componentes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838918"/>
            <a:ext cx="7970986" cy="8448082"/>
          </a:xfrm>
          <a:custGeom>
            <a:avLst/>
            <a:gdLst/>
            <a:ahLst/>
            <a:cxnLst/>
            <a:rect r="r" b="b" t="t" l="l"/>
            <a:pathLst>
              <a:path h="8448082" w="7970986">
                <a:moveTo>
                  <a:pt x="0" y="0"/>
                </a:moveTo>
                <a:lnTo>
                  <a:pt x="7970986" y="0"/>
                </a:lnTo>
                <a:lnTo>
                  <a:pt x="7970986" y="8448082"/>
                </a:lnTo>
                <a:lnTo>
                  <a:pt x="0" y="84480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9137" t="0" r="-48620" b="-4956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11482" y="-270196"/>
            <a:ext cx="10688182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Qual escolher?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533865" y="2795097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foi apresentado, existem vários tipos de padrões de Arquitetura de Software. Outros além dos citados nesta aula. Então, como escolher um padrão?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33865" y="4796128"/>
            <a:ext cx="9134161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Infelizmente não é apenas pegar o modelo que estiver mais em alta. A chance dele ser a escolha correta para o seu problema é bem pequena.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3865" y="6704341"/>
            <a:ext cx="9134161" cy="2552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escolha correta começa pelo entendimento do problema que precisa de uma solução. É necessário ter compreensão do seu modelo de negócio, limitações e vantagens de cada padrão. Além de ter total liberdade de mudar aquilo que não encaixar 100% no seu caso.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2488015"/>
            <a:ext cx="2365305" cy="1063019"/>
            <a:chOff x="0" y="0"/>
            <a:chExt cx="2365312" cy="106301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7331129" y="1535645"/>
            <a:ext cx="12251316" cy="9214740"/>
          </a:xfrm>
          <a:custGeom>
            <a:avLst/>
            <a:gdLst/>
            <a:ahLst/>
            <a:cxnLst/>
            <a:rect r="r" b="b" t="t" l="l"/>
            <a:pathLst>
              <a:path h="9214740" w="12251316">
                <a:moveTo>
                  <a:pt x="0" y="0"/>
                </a:moveTo>
                <a:lnTo>
                  <a:pt x="12251316" y="0"/>
                </a:lnTo>
                <a:lnTo>
                  <a:pt x="12251316" y="9214740"/>
                </a:lnTo>
                <a:lnTo>
                  <a:pt x="0" y="9214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965197" y="262341"/>
            <a:ext cx="14970871" cy="2308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Complemento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12448" y="7007016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Como pode ser visto. Arquitetura de Software não é definida apenas por uma descrição, ela é meio que tudo em todo lugar ao mesmo tempo, sendo mais fácil definir o que ela não é.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2448" y="4062410"/>
            <a:ext cx="7668572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Nem todo dev sênior é um arquiteto de software. Afinal, é necessário estudos mais focados, com conhecimento em diferentes aspectos do desenvolvimento e estudo continuo.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36853" y="3868821"/>
            <a:ext cx="7153041" cy="2655806"/>
            <a:chOff x="0" y="0"/>
            <a:chExt cx="11659305" cy="432892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423271" y="3868821"/>
            <a:ext cx="7153041" cy="2655806"/>
            <a:chOff x="0" y="0"/>
            <a:chExt cx="11659305" cy="432892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4813373" y="689781"/>
            <a:ext cx="8834304" cy="2331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Atividade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36853" y="6700003"/>
            <a:ext cx="7153041" cy="2655806"/>
            <a:chOff x="0" y="0"/>
            <a:chExt cx="11659305" cy="432892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8" id="38"/>
          <p:cNvSpPr txBox="true"/>
          <p:nvPr/>
        </p:nvSpPr>
        <p:spPr>
          <a:xfrm rot="0">
            <a:off x="2725722" y="6946816"/>
            <a:ext cx="5327060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que fazer: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Serão dadas ações de um software genérico. Cada uma dessas ações deve ser colocada nas 3 arquiteturas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25722" y="4544259"/>
            <a:ext cx="5243312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Separar em grupos: 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Se separem em grupos de até 3 pessoas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423271" y="6700003"/>
            <a:ext cx="7153041" cy="2655806"/>
            <a:chOff x="0" y="0"/>
            <a:chExt cx="11659305" cy="432892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659210" cy="4328848"/>
            </a:xfrm>
            <a:custGeom>
              <a:avLst/>
              <a:gdLst/>
              <a:ahLst/>
              <a:cxnLst/>
              <a:rect r="r" b="b" t="t" l="l"/>
              <a:pathLst>
                <a:path h="4328848" w="11659210">
                  <a:moveTo>
                    <a:pt x="324760" y="0"/>
                  </a:moveTo>
                  <a:lnTo>
                    <a:pt x="11334450" y="0"/>
                  </a:lnTo>
                  <a:cubicBezTo>
                    <a:pt x="11513810" y="0"/>
                    <a:pt x="11659210" y="145400"/>
                    <a:pt x="11659210" y="324760"/>
                  </a:cubicBezTo>
                  <a:lnTo>
                    <a:pt x="11659210" y="4004088"/>
                  </a:lnTo>
                  <a:cubicBezTo>
                    <a:pt x="11659210" y="4183448"/>
                    <a:pt x="11513810" y="4328848"/>
                    <a:pt x="11334450" y="4328848"/>
                  </a:cubicBezTo>
                  <a:lnTo>
                    <a:pt x="324760" y="4328848"/>
                  </a:lnTo>
                  <a:cubicBezTo>
                    <a:pt x="145400" y="4328848"/>
                    <a:pt x="0" y="4183448"/>
                    <a:pt x="0" y="4004088"/>
                  </a:cubicBezTo>
                  <a:lnTo>
                    <a:pt x="0" y="324760"/>
                  </a:lnTo>
                  <a:cubicBezTo>
                    <a:pt x="0" y="145400"/>
                    <a:pt x="145400" y="0"/>
                    <a:pt x="32476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0720539" y="6946816"/>
            <a:ext cx="5668871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 b="true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Exemplo e Correção: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Tera um exemplo, meio guia dos 3 modelos.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Ao final será corrigido em geral como cada uma deveria ter ficado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720539" y="4329946"/>
            <a:ext cx="5318274" cy="1695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Material: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Irão receber uma folha com 3 tipos de arquiteturas. Precisarão de lápis ou caneta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39517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3°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39517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1°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9736312" y="3894933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2°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736312" y="6726115"/>
            <a:ext cx="831828" cy="1793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4°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41721" y="1377292"/>
            <a:ext cx="10118851" cy="8318462"/>
          </a:xfrm>
          <a:custGeom>
            <a:avLst/>
            <a:gdLst/>
            <a:ahLst/>
            <a:cxnLst/>
            <a:rect r="r" b="b" t="t" l="l"/>
            <a:pathLst>
              <a:path h="8318462" w="10118851">
                <a:moveTo>
                  <a:pt x="0" y="0"/>
                </a:moveTo>
                <a:lnTo>
                  <a:pt x="10118851" y="0"/>
                </a:lnTo>
                <a:lnTo>
                  <a:pt x="10118851" y="8318462"/>
                </a:lnTo>
                <a:lnTo>
                  <a:pt x="0" y="83184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3474433" cy="242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Exemplos: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345264" y="4109192"/>
            <a:ext cx="10296173" cy="3086100"/>
            <a:chOff x="0" y="0"/>
            <a:chExt cx="271174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11749" cy="812800"/>
            </a:xfrm>
            <a:custGeom>
              <a:avLst/>
              <a:gdLst/>
              <a:ahLst/>
              <a:cxnLst/>
              <a:rect r="r" b="b" t="t" l="l"/>
              <a:pathLst>
                <a:path h="812800" w="2711749">
                  <a:moveTo>
                    <a:pt x="12783" y="0"/>
                  </a:moveTo>
                  <a:lnTo>
                    <a:pt x="2698966" y="0"/>
                  </a:lnTo>
                  <a:cubicBezTo>
                    <a:pt x="2702357" y="0"/>
                    <a:pt x="2705608" y="1347"/>
                    <a:pt x="2708005" y="3744"/>
                  </a:cubicBezTo>
                  <a:cubicBezTo>
                    <a:pt x="2710402" y="6141"/>
                    <a:pt x="2711749" y="9392"/>
                    <a:pt x="2711749" y="12783"/>
                  </a:cubicBezTo>
                  <a:lnTo>
                    <a:pt x="2711749" y="800017"/>
                  </a:lnTo>
                  <a:cubicBezTo>
                    <a:pt x="2711749" y="803408"/>
                    <a:pt x="2710402" y="806659"/>
                    <a:pt x="2708005" y="809056"/>
                  </a:cubicBezTo>
                  <a:cubicBezTo>
                    <a:pt x="2705608" y="811453"/>
                    <a:pt x="2702357" y="812800"/>
                    <a:pt x="2698966" y="812800"/>
                  </a:cubicBezTo>
                  <a:lnTo>
                    <a:pt x="12783" y="812800"/>
                  </a:lnTo>
                  <a:cubicBezTo>
                    <a:pt x="9392" y="812800"/>
                    <a:pt x="6141" y="811453"/>
                    <a:pt x="3744" y="809056"/>
                  </a:cubicBezTo>
                  <a:cubicBezTo>
                    <a:pt x="1347" y="806659"/>
                    <a:pt x="0" y="803408"/>
                    <a:pt x="0" y="800017"/>
                  </a:cubicBezTo>
                  <a:lnTo>
                    <a:pt x="0" y="12783"/>
                  </a:lnTo>
                  <a:cubicBezTo>
                    <a:pt x="0" y="9392"/>
                    <a:pt x="1347" y="6141"/>
                    <a:pt x="3744" y="3744"/>
                  </a:cubicBezTo>
                  <a:cubicBezTo>
                    <a:pt x="6141" y="1347"/>
                    <a:pt x="9392" y="0"/>
                    <a:pt x="1278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71174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574537" y="4109192"/>
            <a:ext cx="6066900" cy="3086100"/>
            <a:chOff x="0" y="0"/>
            <a:chExt cx="1597867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97867" cy="812800"/>
            </a:xfrm>
            <a:custGeom>
              <a:avLst/>
              <a:gdLst/>
              <a:ahLst/>
              <a:cxnLst/>
              <a:rect r="r" b="b" t="t" l="l"/>
              <a:pathLst>
                <a:path h="812800" w="1597867">
                  <a:moveTo>
                    <a:pt x="21694" y="0"/>
                  </a:moveTo>
                  <a:lnTo>
                    <a:pt x="1576173" y="0"/>
                  </a:lnTo>
                  <a:cubicBezTo>
                    <a:pt x="1588154" y="0"/>
                    <a:pt x="1597867" y="9713"/>
                    <a:pt x="1597867" y="21694"/>
                  </a:cubicBezTo>
                  <a:lnTo>
                    <a:pt x="1597867" y="791106"/>
                  </a:lnTo>
                  <a:cubicBezTo>
                    <a:pt x="1597867" y="796860"/>
                    <a:pt x="1595581" y="802378"/>
                    <a:pt x="1591513" y="806446"/>
                  </a:cubicBezTo>
                  <a:cubicBezTo>
                    <a:pt x="1587444" y="810514"/>
                    <a:pt x="1581927" y="812800"/>
                    <a:pt x="1576173" y="812800"/>
                  </a:cubicBezTo>
                  <a:lnTo>
                    <a:pt x="21694" y="812800"/>
                  </a:lnTo>
                  <a:cubicBezTo>
                    <a:pt x="9713" y="812800"/>
                    <a:pt x="0" y="803087"/>
                    <a:pt x="0" y="791106"/>
                  </a:cubicBezTo>
                  <a:lnTo>
                    <a:pt x="0" y="21694"/>
                  </a:lnTo>
                  <a:cubicBezTo>
                    <a:pt x="0" y="9713"/>
                    <a:pt x="9713" y="0"/>
                    <a:pt x="2169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597867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58400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913704" y="5769099"/>
            <a:ext cx="10727733" cy="3086100"/>
            <a:chOff x="0" y="0"/>
            <a:chExt cx="282541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825411" cy="812800"/>
            </a:xfrm>
            <a:custGeom>
              <a:avLst/>
              <a:gdLst/>
              <a:ahLst/>
              <a:cxnLst/>
              <a:rect r="r" b="b" t="t" l="l"/>
              <a:pathLst>
                <a:path h="812800" w="2825411">
                  <a:moveTo>
                    <a:pt x="12268" y="0"/>
                  </a:moveTo>
                  <a:lnTo>
                    <a:pt x="2813143" y="0"/>
                  </a:lnTo>
                  <a:cubicBezTo>
                    <a:pt x="2816397" y="0"/>
                    <a:pt x="2819517" y="1293"/>
                    <a:pt x="2821818" y="3593"/>
                  </a:cubicBezTo>
                  <a:cubicBezTo>
                    <a:pt x="2824119" y="5894"/>
                    <a:pt x="2825411" y="9015"/>
                    <a:pt x="2825411" y="12268"/>
                  </a:cubicBezTo>
                  <a:lnTo>
                    <a:pt x="2825411" y="800532"/>
                  </a:lnTo>
                  <a:cubicBezTo>
                    <a:pt x="2825411" y="807307"/>
                    <a:pt x="2819918" y="812800"/>
                    <a:pt x="2813143" y="812800"/>
                  </a:cubicBezTo>
                  <a:lnTo>
                    <a:pt x="12268" y="812800"/>
                  </a:lnTo>
                  <a:cubicBezTo>
                    <a:pt x="5493" y="812800"/>
                    <a:pt x="0" y="807307"/>
                    <a:pt x="0" y="800532"/>
                  </a:cubicBezTo>
                  <a:lnTo>
                    <a:pt x="0" y="12268"/>
                  </a:lnTo>
                  <a:cubicBezTo>
                    <a:pt x="0" y="5493"/>
                    <a:pt x="5493" y="0"/>
                    <a:pt x="12268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82541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296515" y="5769099"/>
            <a:ext cx="6344922" cy="3086100"/>
            <a:chOff x="0" y="0"/>
            <a:chExt cx="167109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71090" cy="812800"/>
            </a:xfrm>
            <a:custGeom>
              <a:avLst/>
              <a:gdLst/>
              <a:ahLst/>
              <a:cxnLst/>
              <a:rect r="r" b="b" t="t" l="l"/>
              <a:pathLst>
                <a:path h="812800" w="1671090">
                  <a:moveTo>
                    <a:pt x="20743" y="0"/>
                  </a:moveTo>
                  <a:lnTo>
                    <a:pt x="1650348" y="0"/>
                  </a:lnTo>
                  <a:cubicBezTo>
                    <a:pt x="1655849" y="0"/>
                    <a:pt x="1661125" y="2185"/>
                    <a:pt x="1665015" y="6075"/>
                  </a:cubicBezTo>
                  <a:cubicBezTo>
                    <a:pt x="1668905" y="9966"/>
                    <a:pt x="1671090" y="15242"/>
                    <a:pt x="1671090" y="20743"/>
                  </a:cubicBezTo>
                  <a:lnTo>
                    <a:pt x="1671090" y="792057"/>
                  </a:lnTo>
                  <a:cubicBezTo>
                    <a:pt x="1671090" y="797558"/>
                    <a:pt x="1668905" y="802834"/>
                    <a:pt x="1665015" y="806724"/>
                  </a:cubicBezTo>
                  <a:cubicBezTo>
                    <a:pt x="1661125" y="810615"/>
                    <a:pt x="1655849" y="812800"/>
                    <a:pt x="1650348" y="812800"/>
                  </a:cubicBezTo>
                  <a:lnTo>
                    <a:pt x="20743" y="812800"/>
                  </a:lnTo>
                  <a:cubicBezTo>
                    <a:pt x="15242" y="812800"/>
                    <a:pt x="9966" y="810615"/>
                    <a:pt x="6075" y="806724"/>
                  </a:cubicBezTo>
                  <a:cubicBezTo>
                    <a:pt x="2185" y="802834"/>
                    <a:pt x="0" y="797558"/>
                    <a:pt x="0" y="792057"/>
                  </a:cubicBezTo>
                  <a:lnTo>
                    <a:pt x="0" y="20743"/>
                  </a:lnTo>
                  <a:cubicBezTo>
                    <a:pt x="0" y="15242"/>
                    <a:pt x="2185" y="9966"/>
                    <a:pt x="6075" y="6075"/>
                  </a:cubicBezTo>
                  <a:cubicBezTo>
                    <a:pt x="9966" y="2185"/>
                    <a:pt x="15242" y="0"/>
                    <a:pt x="20743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7109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6537927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173930" y="6515820"/>
            <a:ext cx="11467507" cy="3086100"/>
            <a:chOff x="0" y="0"/>
            <a:chExt cx="302024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20249" cy="812800"/>
            </a:xfrm>
            <a:custGeom>
              <a:avLst/>
              <a:gdLst/>
              <a:ahLst/>
              <a:cxnLst/>
              <a:rect r="r" b="b" t="t" l="l"/>
              <a:pathLst>
                <a:path h="812800" w="3020249">
                  <a:moveTo>
                    <a:pt x="11477" y="0"/>
                  </a:moveTo>
                  <a:lnTo>
                    <a:pt x="3008772" y="0"/>
                  </a:lnTo>
                  <a:cubicBezTo>
                    <a:pt x="3015110" y="0"/>
                    <a:pt x="3020249" y="5138"/>
                    <a:pt x="3020249" y="11477"/>
                  </a:cubicBezTo>
                  <a:lnTo>
                    <a:pt x="3020249" y="801323"/>
                  </a:lnTo>
                  <a:cubicBezTo>
                    <a:pt x="3020249" y="807662"/>
                    <a:pt x="3015110" y="812800"/>
                    <a:pt x="3008772" y="812800"/>
                  </a:cubicBezTo>
                  <a:lnTo>
                    <a:pt x="11477" y="812800"/>
                  </a:lnTo>
                  <a:cubicBezTo>
                    <a:pt x="5138" y="812800"/>
                    <a:pt x="0" y="807662"/>
                    <a:pt x="0" y="801323"/>
                  </a:cubicBezTo>
                  <a:lnTo>
                    <a:pt x="0" y="11477"/>
                  </a:lnTo>
                  <a:cubicBezTo>
                    <a:pt x="0" y="5138"/>
                    <a:pt x="5138" y="0"/>
                    <a:pt x="11477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020249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408179" y="6515820"/>
            <a:ext cx="6233258" cy="3086100"/>
            <a:chOff x="0" y="0"/>
            <a:chExt cx="1641681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1681" cy="812800"/>
            </a:xfrm>
            <a:custGeom>
              <a:avLst/>
              <a:gdLst/>
              <a:ahLst/>
              <a:cxnLst/>
              <a:rect r="r" b="b" t="t" l="l"/>
              <a:pathLst>
                <a:path h="812800" w="1641681">
                  <a:moveTo>
                    <a:pt x="21115" y="0"/>
                  </a:moveTo>
                  <a:lnTo>
                    <a:pt x="1620566" y="0"/>
                  </a:lnTo>
                  <a:cubicBezTo>
                    <a:pt x="1626166" y="0"/>
                    <a:pt x="1631537" y="2225"/>
                    <a:pt x="1635497" y="6184"/>
                  </a:cubicBezTo>
                  <a:cubicBezTo>
                    <a:pt x="1639457" y="10144"/>
                    <a:pt x="1641681" y="15515"/>
                    <a:pt x="1641681" y="21115"/>
                  </a:cubicBezTo>
                  <a:lnTo>
                    <a:pt x="1641681" y="791685"/>
                  </a:lnTo>
                  <a:cubicBezTo>
                    <a:pt x="1641681" y="797285"/>
                    <a:pt x="1639457" y="802656"/>
                    <a:pt x="1635497" y="806616"/>
                  </a:cubicBezTo>
                  <a:cubicBezTo>
                    <a:pt x="1631537" y="810575"/>
                    <a:pt x="1626166" y="812800"/>
                    <a:pt x="1620566" y="812800"/>
                  </a:cubicBezTo>
                  <a:lnTo>
                    <a:pt x="21115" y="812800"/>
                  </a:lnTo>
                  <a:cubicBezTo>
                    <a:pt x="15515" y="812800"/>
                    <a:pt x="10144" y="810575"/>
                    <a:pt x="6184" y="806616"/>
                  </a:cubicBezTo>
                  <a:cubicBezTo>
                    <a:pt x="2225" y="802656"/>
                    <a:pt x="0" y="797285"/>
                    <a:pt x="0" y="791685"/>
                  </a:cubicBezTo>
                  <a:lnTo>
                    <a:pt x="0" y="21115"/>
                  </a:lnTo>
                  <a:cubicBezTo>
                    <a:pt x="0" y="15515"/>
                    <a:pt x="2225" y="10144"/>
                    <a:pt x="6184" y="6184"/>
                  </a:cubicBezTo>
                  <a:cubicBezTo>
                    <a:pt x="10144" y="2225"/>
                    <a:pt x="15515" y="0"/>
                    <a:pt x="21115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641681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200900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242582" y="7200900"/>
            <a:ext cx="11607087" cy="3086100"/>
            <a:chOff x="0" y="0"/>
            <a:chExt cx="305701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57010" cy="812800"/>
            </a:xfrm>
            <a:custGeom>
              <a:avLst/>
              <a:gdLst/>
              <a:ahLst/>
              <a:cxnLst/>
              <a:rect r="r" b="b" t="t" l="l"/>
              <a:pathLst>
                <a:path h="812800" w="3057010">
                  <a:moveTo>
                    <a:pt x="11339" y="0"/>
                  </a:moveTo>
                  <a:lnTo>
                    <a:pt x="3045671" y="0"/>
                  </a:lnTo>
                  <a:cubicBezTo>
                    <a:pt x="3048679" y="0"/>
                    <a:pt x="3051563" y="1195"/>
                    <a:pt x="3053689" y="3321"/>
                  </a:cubicBezTo>
                  <a:cubicBezTo>
                    <a:pt x="3055816" y="5448"/>
                    <a:pt x="3057010" y="8332"/>
                    <a:pt x="3057010" y="11339"/>
                  </a:cubicBezTo>
                  <a:lnTo>
                    <a:pt x="3057010" y="801461"/>
                  </a:lnTo>
                  <a:cubicBezTo>
                    <a:pt x="3057010" y="807723"/>
                    <a:pt x="3051934" y="812800"/>
                    <a:pt x="3045671" y="812800"/>
                  </a:cubicBezTo>
                  <a:lnTo>
                    <a:pt x="11339" y="812800"/>
                  </a:lnTo>
                  <a:cubicBezTo>
                    <a:pt x="5077" y="812800"/>
                    <a:pt x="0" y="807723"/>
                    <a:pt x="0" y="801461"/>
                  </a:cubicBezTo>
                  <a:lnTo>
                    <a:pt x="0" y="11339"/>
                  </a:lnTo>
                  <a:cubicBezTo>
                    <a:pt x="0" y="5077"/>
                    <a:pt x="5077" y="0"/>
                    <a:pt x="11339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305701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314311" y="7200900"/>
            <a:ext cx="5535358" cy="3086100"/>
            <a:chOff x="0" y="0"/>
            <a:chExt cx="1457872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57872" cy="812800"/>
            </a:xfrm>
            <a:custGeom>
              <a:avLst/>
              <a:gdLst/>
              <a:ahLst/>
              <a:cxnLst/>
              <a:rect r="r" b="b" t="t" l="l"/>
              <a:pathLst>
                <a:path h="812800" w="1457872">
                  <a:moveTo>
                    <a:pt x="23777" y="0"/>
                  </a:moveTo>
                  <a:lnTo>
                    <a:pt x="1434095" y="0"/>
                  </a:lnTo>
                  <a:cubicBezTo>
                    <a:pt x="1440401" y="0"/>
                    <a:pt x="1446449" y="2505"/>
                    <a:pt x="1450908" y="6964"/>
                  </a:cubicBezTo>
                  <a:cubicBezTo>
                    <a:pt x="1455367" y="11423"/>
                    <a:pt x="1457872" y="17471"/>
                    <a:pt x="1457872" y="23777"/>
                  </a:cubicBezTo>
                  <a:lnTo>
                    <a:pt x="1457872" y="789023"/>
                  </a:lnTo>
                  <a:cubicBezTo>
                    <a:pt x="1457872" y="795329"/>
                    <a:pt x="1455367" y="801377"/>
                    <a:pt x="1450908" y="805836"/>
                  </a:cubicBezTo>
                  <a:cubicBezTo>
                    <a:pt x="1446449" y="810295"/>
                    <a:pt x="1440401" y="812800"/>
                    <a:pt x="1434095" y="812800"/>
                  </a:cubicBezTo>
                  <a:lnTo>
                    <a:pt x="23777" y="812800"/>
                  </a:lnTo>
                  <a:cubicBezTo>
                    <a:pt x="17471" y="812800"/>
                    <a:pt x="11423" y="810295"/>
                    <a:pt x="6964" y="805836"/>
                  </a:cubicBezTo>
                  <a:cubicBezTo>
                    <a:pt x="2505" y="801377"/>
                    <a:pt x="0" y="795329"/>
                    <a:pt x="0" y="789023"/>
                  </a:cubicBezTo>
                  <a:lnTo>
                    <a:pt x="0" y="23777"/>
                  </a:lnTo>
                  <a:cubicBezTo>
                    <a:pt x="0" y="17471"/>
                    <a:pt x="2505" y="11423"/>
                    <a:pt x="6964" y="6964"/>
                  </a:cubicBezTo>
                  <a:cubicBezTo>
                    <a:pt x="11423" y="2505"/>
                    <a:pt x="17471" y="0"/>
                    <a:pt x="23777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457872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46563" y="7982548"/>
            <a:ext cx="16994873" cy="3086100"/>
            <a:chOff x="0" y="0"/>
            <a:chExt cx="4476016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76016" cy="812800"/>
            </a:xfrm>
            <a:custGeom>
              <a:avLst/>
              <a:gdLst/>
              <a:ahLst/>
              <a:cxnLst/>
              <a:rect r="r" b="b" t="t" l="l"/>
              <a:pathLst>
                <a:path h="812800" w="4476016">
                  <a:moveTo>
                    <a:pt x="7744" y="0"/>
                  </a:moveTo>
                  <a:lnTo>
                    <a:pt x="4468272" y="0"/>
                  </a:lnTo>
                  <a:cubicBezTo>
                    <a:pt x="4470326" y="0"/>
                    <a:pt x="4472295" y="816"/>
                    <a:pt x="4473748" y="2268"/>
                  </a:cubicBezTo>
                  <a:cubicBezTo>
                    <a:pt x="4475200" y="3721"/>
                    <a:pt x="4476016" y="5690"/>
                    <a:pt x="4476016" y="7744"/>
                  </a:cubicBezTo>
                  <a:lnTo>
                    <a:pt x="4476016" y="805056"/>
                  </a:lnTo>
                  <a:cubicBezTo>
                    <a:pt x="4476016" y="807110"/>
                    <a:pt x="4475200" y="809079"/>
                    <a:pt x="4473748" y="810532"/>
                  </a:cubicBezTo>
                  <a:cubicBezTo>
                    <a:pt x="4472295" y="811984"/>
                    <a:pt x="4470326" y="812800"/>
                    <a:pt x="4468272" y="812800"/>
                  </a:cubicBezTo>
                  <a:lnTo>
                    <a:pt x="7744" y="812800"/>
                  </a:lnTo>
                  <a:cubicBezTo>
                    <a:pt x="5690" y="812800"/>
                    <a:pt x="3721" y="811984"/>
                    <a:pt x="2268" y="810532"/>
                  </a:cubicBezTo>
                  <a:cubicBezTo>
                    <a:pt x="816" y="809079"/>
                    <a:pt x="0" y="807110"/>
                    <a:pt x="0" y="805056"/>
                  </a:cubicBezTo>
                  <a:lnTo>
                    <a:pt x="0" y="7744"/>
                  </a:lnTo>
                  <a:cubicBezTo>
                    <a:pt x="0" y="5690"/>
                    <a:pt x="816" y="3721"/>
                    <a:pt x="2268" y="2268"/>
                  </a:cubicBezTo>
                  <a:cubicBezTo>
                    <a:pt x="3721" y="816"/>
                    <a:pt x="5690" y="0"/>
                    <a:pt x="7744" y="0"/>
                  </a:cubicBezTo>
                  <a:close/>
                </a:path>
              </a:pathLst>
            </a:custGeom>
            <a:solidFill>
              <a:srgbClr val="233D8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76016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49"/>
                </a:lnSpc>
              </a:pP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6228" y="4109192"/>
            <a:ext cx="17755545" cy="5149108"/>
          </a:xfrm>
          <a:custGeom>
            <a:avLst/>
            <a:gdLst/>
            <a:ahLst/>
            <a:cxnLst/>
            <a:rect r="r" b="b" t="t" l="l"/>
            <a:pathLst>
              <a:path h="5149108" w="17755545">
                <a:moveTo>
                  <a:pt x="0" y="0"/>
                </a:moveTo>
                <a:lnTo>
                  <a:pt x="17755544" y="0"/>
                </a:lnTo>
                <a:lnTo>
                  <a:pt x="17755544" y="5149108"/>
                </a:lnTo>
                <a:lnTo>
                  <a:pt x="0" y="51491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99548" y="4333452"/>
            <a:ext cx="5888905" cy="157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61"/>
              </a:lnSpc>
            </a:pPr>
            <a:r>
              <a:rPr lang="en-US" b="true" sz="1005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Gabarito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3250" y="302848"/>
            <a:ext cx="8148397" cy="9287962"/>
          </a:xfrm>
          <a:custGeom>
            <a:avLst/>
            <a:gdLst/>
            <a:ahLst/>
            <a:cxnLst/>
            <a:rect r="r" b="b" t="t" l="l"/>
            <a:pathLst>
              <a:path h="9287962" w="8148397">
                <a:moveTo>
                  <a:pt x="0" y="0"/>
                </a:moveTo>
                <a:lnTo>
                  <a:pt x="8148397" y="0"/>
                </a:lnTo>
                <a:lnTo>
                  <a:pt x="8148397" y="9287962"/>
                </a:lnTo>
                <a:lnTo>
                  <a:pt x="0" y="9287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0288" y="461402"/>
            <a:ext cx="9485850" cy="9017664"/>
          </a:xfrm>
          <a:custGeom>
            <a:avLst/>
            <a:gdLst/>
            <a:ahLst/>
            <a:cxnLst/>
            <a:rect r="r" b="b" t="t" l="l"/>
            <a:pathLst>
              <a:path h="9017664" w="9485850">
                <a:moveTo>
                  <a:pt x="0" y="0"/>
                </a:moveTo>
                <a:lnTo>
                  <a:pt x="9485850" y="0"/>
                </a:lnTo>
                <a:lnTo>
                  <a:pt x="9485850" y="9017664"/>
                </a:lnTo>
                <a:lnTo>
                  <a:pt x="0" y="9017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912" y="2890385"/>
            <a:ext cx="17986175" cy="4202955"/>
          </a:xfrm>
          <a:custGeom>
            <a:avLst/>
            <a:gdLst/>
            <a:ahLst/>
            <a:cxnLst/>
            <a:rect r="r" b="b" t="t" l="l"/>
            <a:pathLst>
              <a:path h="4202955" w="17986175">
                <a:moveTo>
                  <a:pt x="0" y="0"/>
                </a:moveTo>
                <a:lnTo>
                  <a:pt x="17986176" y="0"/>
                </a:lnTo>
                <a:lnTo>
                  <a:pt x="17986176" y="4202956"/>
                </a:lnTo>
                <a:lnTo>
                  <a:pt x="0" y="4202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83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1034" y="1970578"/>
            <a:ext cx="17805932" cy="4874374"/>
          </a:xfrm>
          <a:custGeom>
            <a:avLst/>
            <a:gdLst/>
            <a:ahLst/>
            <a:cxnLst/>
            <a:rect r="r" b="b" t="t" l="l"/>
            <a:pathLst>
              <a:path h="4874374" w="17805932">
                <a:moveTo>
                  <a:pt x="0" y="0"/>
                </a:moveTo>
                <a:lnTo>
                  <a:pt x="17805932" y="0"/>
                </a:lnTo>
                <a:lnTo>
                  <a:pt x="17805932" y="4874374"/>
                </a:lnTo>
                <a:lnTo>
                  <a:pt x="0" y="48743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8962" y="624966"/>
            <a:ext cx="9832027" cy="9382626"/>
          </a:xfrm>
          <a:custGeom>
            <a:avLst/>
            <a:gdLst/>
            <a:ahLst/>
            <a:cxnLst/>
            <a:rect r="r" b="b" t="t" l="l"/>
            <a:pathLst>
              <a:path h="9382626" w="9832027">
                <a:moveTo>
                  <a:pt x="0" y="0"/>
                </a:moveTo>
                <a:lnTo>
                  <a:pt x="9832028" y="0"/>
                </a:lnTo>
                <a:lnTo>
                  <a:pt x="9832028" y="9382626"/>
                </a:lnTo>
                <a:lnTo>
                  <a:pt x="0" y="9382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D8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44143" y="509748"/>
            <a:ext cx="9623518" cy="9267504"/>
          </a:xfrm>
          <a:custGeom>
            <a:avLst/>
            <a:gdLst/>
            <a:ahLst/>
            <a:cxnLst/>
            <a:rect r="r" b="b" t="t" l="l"/>
            <a:pathLst>
              <a:path h="9267504" w="9623518">
                <a:moveTo>
                  <a:pt x="0" y="0"/>
                </a:moveTo>
                <a:lnTo>
                  <a:pt x="9623518" y="0"/>
                </a:lnTo>
                <a:lnTo>
                  <a:pt x="9623518" y="9267504"/>
                </a:lnTo>
                <a:lnTo>
                  <a:pt x="0" y="9267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35702" y="3518218"/>
            <a:ext cx="13616597" cy="3145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0"/>
              </a:lnSpc>
            </a:pPr>
            <a:r>
              <a:rPr lang="en-US" b="true" sz="20000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Apresentacao</dc:title>
</cp:coreProperties>
</file>