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18288000" cy="10287000"/>
  <p:notesSz cx="6858000" cy="9144000"/>
  <p:embeddedFontLst>
    <p:embeddedFont>
      <p:font typeface="Anton" charset="1" panose="00000500000000000000"/>
      <p:regular r:id="rId31"/>
    </p:embeddedFont>
    <p:embeddedFont>
      <p:font typeface="Montserrat Bold" charset="1" panose="00000800000000000000"/>
      <p:regular r:id="rId32"/>
    </p:embeddedFont>
    <p:embeddedFont>
      <p:font typeface="Montserrat" charset="1" panose="00000500000000000000"/>
      <p:regular r:id="rId33"/>
    </p:embeddedFont>
    <p:embeddedFont>
      <p:font typeface="Montserrat Medium" charset="1" panose="0000060000000000000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667141"/>
            <a:ext cx="13111952" cy="7082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ARQUITETURA</a:t>
            </a:r>
          </a:p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 SOFTWARE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396301" y="4819469"/>
            <a:ext cx="624421" cy="370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39"/>
              </a:lnSpc>
            </a:pPr>
            <a:r>
              <a:rPr lang="en-US" sz="20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92389" y="7711684"/>
            <a:ext cx="274018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GABRIEL</a:t>
            </a: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NUNES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JOÃO PEDRO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84881" y="442537"/>
            <a:ext cx="6501346" cy="2438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5"/>
              </a:lnSpc>
            </a:pPr>
            <a:r>
              <a:rPr lang="en-US" sz="1356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DEFINIÇÃO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015902" y="3538069"/>
            <a:ext cx="5587241" cy="1038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IEEE (Standard 1471/ISO/IEC</a:t>
            </a:r>
          </a:p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42010):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413583" y="4789909"/>
            <a:ext cx="132169" cy="61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62230" y="4789909"/>
            <a:ext cx="7327106" cy="6132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fundamental de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2882" y="5432333"/>
            <a:ext cx="8193281" cy="3140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2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sistema, consubstanciada em seus componentes, nas relações entre eles e com o ambiente, e nos princípios que orientam sua concepção e evolução.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817206" y="5441959"/>
            <a:ext cx="7785254" cy="2603968"/>
            <a:chOff x="0" y="0"/>
            <a:chExt cx="7759007" cy="2595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758943" cy="2595153"/>
            </a:xfrm>
            <a:custGeom>
              <a:avLst/>
              <a:gdLst/>
              <a:ahLst/>
              <a:cxnLst/>
              <a:rect r="r" b="b" t="t" l="l"/>
              <a:pathLst>
                <a:path h="2595153" w="7758943">
                  <a:moveTo>
                    <a:pt x="382309" y="0"/>
                  </a:moveTo>
                  <a:lnTo>
                    <a:pt x="7376635" y="0"/>
                  </a:lnTo>
                  <a:cubicBezTo>
                    <a:pt x="7478030" y="0"/>
                    <a:pt x="7575271" y="40279"/>
                    <a:pt x="7646968" y="111976"/>
                  </a:cubicBezTo>
                  <a:cubicBezTo>
                    <a:pt x="7718665" y="183672"/>
                    <a:pt x="7758943" y="280914"/>
                    <a:pt x="7758943" y="382309"/>
                  </a:cubicBezTo>
                  <a:lnTo>
                    <a:pt x="7758943" y="2212845"/>
                  </a:lnTo>
                  <a:cubicBezTo>
                    <a:pt x="7758943" y="2423988"/>
                    <a:pt x="7587778" y="2595153"/>
                    <a:pt x="7376635" y="2595153"/>
                  </a:cubicBezTo>
                  <a:lnTo>
                    <a:pt x="382309" y="2595153"/>
                  </a:lnTo>
                  <a:cubicBezTo>
                    <a:pt x="171165" y="2595153"/>
                    <a:pt x="0" y="2423988"/>
                    <a:pt x="0" y="2212845"/>
                  </a:cubicBezTo>
                  <a:lnTo>
                    <a:pt x="0" y="382309"/>
                  </a:lnTo>
                  <a:cubicBezTo>
                    <a:pt x="0" y="171165"/>
                    <a:pt x="171165" y="0"/>
                    <a:pt x="382309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0103544" y="1790525"/>
            <a:ext cx="6491225" cy="2159118"/>
            <a:chOff x="0" y="0"/>
            <a:chExt cx="7759007" cy="25808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58522" y="0"/>
                  </a:moveTo>
                  <a:lnTo>
                    <a:pt x="7300421" y="0"/>
                  </a:lnTo>
                  <a:cubicBezTo>
                    <a:pt x="7422029" y="0"/>
                    <a:pt x="7538656" y="48308"/>
                    <a:pt x="7624645" y="134298"/>
                  </a:cubicBezTo>
                  <a:cubicBezTo>
                    <a:pt x="7710635" y="220288"/>
                    <a:pt x="7758943" y="336914"/>
                    <a:pt x="7758943" y="458522"/>
                  </a:cubicBezTo>
                  <a:lnTo>
                    <a:pt x="7758943" y="2122251"/>
                  </a:lnTo>
                  <a:cubicBezTo>
                    <a:pt x="7758943" y="2375486"/>
                    <a:pt x="7553656" y="2580773"/>
                    <a:pt x="7300421" y="2580773"/>
                  </a:cubicBezTo>
                  <a:lnTo>
                    <a:pt x="458522" y="2580773"/>
                  </a:lnTo>
                  <a:cubicBezTo>
                    <a:pt x="336914" y="2580773"/>
                    <a:pt x="220288" y="2532465"/>
                    <a:pt x="134298" y="2446475"/>
                  </a:cubicBezTo>
                  <a:cubicBezTo>
                    <a:pt x="48308" y="2360486"/>
                    <a:pt x="0" y="2243859"/>
                    <a:pt x="0" y="2122251"/>
                  </a:cubicBezTo>
                  <a:lnTo>
                    <a:pt x="0" y="458522"/>
                  </a:lnTo>
                  <a:cubicBezTo>
                    <a:pt x="0" y="336914"/>
                    <a:pt x="48308" y="220288"/>
                    <a:pt x="134298" y="134298"/>
                  </a:cubicBezTo>
                  <a:cubicBezTo>
                    <a:pt x="220288" y="48308"/>
                    <a:pt x="336914" y="0"/>
                    <a:pt x="458522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070341" y="2003306"/>
            <a:ext cx="6341126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conc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eito de Arquitetura de Software surgiu nos anos 60 (com Dijkstra), mas se tornou popular nos anos 90.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70341" y="5662853"/>
            <a:ext cx="727898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etura de software é a forma como um sistema é organizado: quais são suas partes, como essas partes se conectam e interagem, e quais regras orientam a criação e as mudanças desse sistema.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19544" y="5143500"/>
            <a:ext cx="6029325" cy="4791075"/>
            <a:chOff x="0" y="0"/>
            <a:chExt cx="8039100" cy="6388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039100" cy="6388100"/>
            </a:xfrm>
            <a:custGeom>
              <a:avLst/>
              <a:gdLst/>
              <a:ahLst/>
              <a:cxnLst/>
              <a:rect r="r" b="b" t="t" l="l"/>
              <a:pathLst>
                <a:path h="6388100" w="8039100">
                  <a:moveTo>
                    <a:pt x="0" y="0"/>
                  </a:moveTo>
                  <a:lnTo>
                    <a:pt x="8039100" y="0"/>
                  </a:lnTo>
                  <a:lnTo>
                    <a:pt x="8039100" y="6388100"/>
                  </a:lnTo>
                  <a:lnTo>
                    <a:pt x="0" y="638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82" t="0" r="-4580" b="-8946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92213" y="366465"/>
            <a:ext cx="14193155" cy="297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QUAL É O OBJETIVO DA ARQUITETURA</a:t>
            </a:r>
          </a:p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 SOFTWARE?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1082" y="3531699"/>
            <a:ext cx="118872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2213" y="3531699"/>
            <a:ext cx="14302349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Aarquitetura desoftwaretem como principal objetivo definira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2213" y="4157758"/>
            <a:ext cx="13889069" cy="121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estrutura e o comportamento deum sistema e,apartir disso, assegurar que ele maximize indicadores de: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7451" y="6075112"/>
            <a:ext cx="5570953" cy="2887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41"/>
              </a:lnSpc>
            </a:pPr>
            <a:r>
              <a:rPr lang="en-US" b="true" sz="5501" spc="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Desempenho; Segurança; Escalabilidade.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96845" y="-560260"/>
            <a:ext cx="18732541" cy="11522345"/>
          </a:xfrm>
          <a:custGeom>
            <a:avLst/>
            <a:gdLst/>
            <a:ahLst/>
            <a:cxnLst/>
            <a:rect r="r" b="b" t="t" l="l"/>
            <a:pathLst>
              <a:path h="11522345" w="18732541">
                <a:moveTo>
                  <a:pt x="0" y="0"/>
                </a:moveTo>
                <a:lnTo>
                  <a:pt x="18732541" y="0"/>
                </a:lnTo>
                <a:lnTo>
                  <a:pt x="18732541" y="11522344"/>
                </a:lnTo>
                <a:lnTo>
                  <a:pt x="0" y="115223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40405" y="1000754"/>
            <a:ext cx="12791532" cy="2741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46"/>
              </a:lnSpc>
            </a:pPr>
            <a:r>
              <a:rPr lang="en-US" b="true" sz="3116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 de software possui muitos stakeholders (partes interessadas), com diferentes funções e interesses em relação a esse sistema. Esses diferentes interesses são chamados de concerns (preocupações), seguindo o conceito de “separação de preocupações” de Dijkstra.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12101" y="5145338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12101" y="7124996"/>
            <a:ext cx="15030679" cy="393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usuários estão mais interessados no que o sistema faz e em como utiliza-los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12101" y="8676580"/>
            <a:ext cx="15030679" cy="8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designer e programadores responsáveis pela contrução do sistema posuem outras preocupações, como verificar se determinado algoritimo atende aos resuisitos do sistema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4437" y="766762"/>
            <a:ext cx="15859125" cy="8753475"/>
            <a:chOff x="0" y="0"/>
            <a:chExt cx="21145500" cy="11671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145500" cy="11671300"/>
            </a:xfrm>
            <a:custGeom>
              <a:avLst/>
              <a:gdLst/>
              <a:ahLst/>
              <a:cxnLst/>
              <a:rect r="r" b="b" t="t" l="l"/>
              <a:pathLst>
                <a:path h="11671300" w="21145500">
                  <a:moveTo>
                    <a:pt x="0" y="0"/>
                  </a:moveTo>
                  <a:lnTo>
                    <a:pt x="21145500" y="0"/>
                  </a:lnTo>
                  <a:lnTo>
                    <a:pt x="21145500" y="11671300"/>
                  </a:lnTo>
                  <a:lnTo>
                    <a:pt x="0" y="11671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0747" r="0" b="-10798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02105" y="5676516"/>
            <a:ext cx="5354154" cy="1537889"/>
            <a:chOff x="0" y="0"/>
            <a:chExt cx="7621460" cy="21891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621398" cy="2189104"/>
            </a:xfrm>
            <a:custGeom>
              <a:avLst/>
              <a:gdLst/>
              <a:ahLst/>
              <a:cxnLst/>
              <a:rect r="r" b="b" t="t" l="l"/>
              <a:pathLst>
                <a:path h="2189104" w="7621398">
                  <a:moveTo>
                    <a:pt x="406756" y="0"/>
                  </a:moveTo>
                  <a:lnTo>
                    <a:pt x="7214643" y="0"/>
                  </a:lnTo>
                  <a:cubicBezTo>
                    <a:pt x="7439288" y="0"/>
                    <a:pt x="7621398" y="182111"/>
                    <a:pt x="7621398" y="406756"/>
                  </a:cubicBezTo>
                  <a:lnTo>
                    <a:pt x="7621398" y="1782348"/>
                  </a:lnTo>
                  <a:cubicBezTo>
                    <a:pt x="7621398" y="1890226"/>
                    <a:pt x="7578544" y="1993686"/>
                    <a:pt x="7502262" y="2069968"/>
                  </a:cubicBezTo>
                  <a:cubicBezTo>
                    <a:pt x="7425981" y="2146249"/>
                    <a:pt x="7322521" y="2189104"/>
                    <a:pt x="7214643" y="2189104"/>
                  </a:cubicBezTo>
                  <a:lnTo>
                    <a:pt x="406756" y="2189104"/>
                  </a:lnTo>
                  <a:cubicBezTo>
                    <a:pt x="182111" y="2189104"/>
                    <a:pt x="0" y="2006993"/>
                    <a:pt x="0" y="1782348"/>
                  </a:cubicBezTo>
                  <a:lnTo>
                    <a:pt x="0" y="406756"/>
                  </a:lnTo>
                  <a:cubicBezTo>
                    <a:pt x="0" y="182111"/>
                    <a:pt x="182111" y="0"/>
                    <a:pt x="40675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58865" y="7719230"/>
            <a:ext cx="6910792" cy="1752417"/>
            <a:chOff x="0" y="0"/>
            <a:chExt cx="8215893" cy="208336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215826" cy="2083331"/>
            </a:xfrm>
            <a:custGeom>
              <a:avLst/>
              <a:gdLst/>
              <a:ahLst/>
              <a:cxnLst/>
              <a:rect r="r" b="b" t="t" l="l"/>
              <a:pathLst>
                <a:path h="2083331" w="8215826">
                  <a:moveTo>
                    <a:pt x="336144" y="0"/>
                  </a:moveTo>
                  <a:lnTo>
                    <a:pt x="7879682" y="0"/>
                  </a:lnTo>
                  <a:cubicBezTo>
                    <a:pt x="8065329" y="0"/>
                    <a:pt x="8215826" y="150497"/>
                    <a:pt x="8215826" y="336144"/>
                  </a:cubicBezTo>
                  <a:lnTo>
                    <a:pt x="8215826" y="1747187"/>
                  </a:lnTo>
                  <a:cubicBezTo>
                    <a:pt x="8215826" y="1836338"/>
                    <a:pt x="8180411" y="1921838"/>
                    <a:pt x="8117371" y="1984877"/>
                  </a:cubicBezTo>
                  <a:cubicBezTo>
                    <a:pt x="8054332" y="2047916"/>
                    <a:pt x="7968833" y="2083331"/>
                    <a:pt x="7879682" y="2083331"/>
                  </a:cubicBezTo>
                  <a:lnTo>
                    <a:pt x="336144" y="2083331"/>
                  </a:lnTo>
                  <a:cubicBezTo>
                    <a:pt x="246993" y="2083331"/>
                    <a:pt x="161493" y="2047916"/>
                    <a:pt x="98454" y="1984877"/>
                  </a:cubicBezTo>
                  <a:cubicBezTo>
                    <a:pt x="35415" y="1921838"/>
                    <a:pt x="0" y="1836338"/>
                    <a:pt x="0" y="1747187"/>
                  </a:cubicBezTo>
                  <a:lnTo>
                    <a:pt x="0" y="336144"/>
                  </a:lnTo>
                  <a:cubicBezTo>
                    <a:pt x="0" y="246993"/>
                    <a:pt x="35415" y="161493"/>
                    <a:pt x="98454" y="98454"/>
                  </a:cubicBezTo>
                  <a:cubicBezTo>
                    <a:pt x="161493" y="35415"/>
                    <a:pt x="246993" y="0"/>
                    <a:pt x="33614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503031" y="5101902"/>
            <a:ext cx="5301042" cy="2038555"/>
            <a:chOff x="0" y="0"/>
            <a:chExt cx="7399906" cy="28456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399845" cy="2845648"/>
            </a:xfrm>
            <a:custGeom>
              <a:avLst/>
              <a:gdLst/>
              <a:ahLst/>
              <a:cxnLst/>
              <a:rect r="r" b="b" t="t" l="l"/>
              <a:pathLst>
                <a:path h="2845648" w="7399845">
                  <a:moveTo>
                    <a:pt x="438220" y="0"/>
                  </a:moveTo>
                  <a:lnTo>
                    <a:pt x="6961625" y="0"/>
                  </a:lnTo>
                  <a:cubicBezTo>
                    <a:pt x="7077849" y="0"/>
                    <a:pt x="7189312" y="46169"/>
                    <a:pt x="7271493" y="128352"/>
                  </a:cubicBezTo>
                  <a:cubicBezTo>
                    <a:pt x="7353676" y="210534"/>
                    <a:pt x="7399845" y="321997"/>
                    <a:pt x="7399845" y="438220"/>
                  </a:cubicBezTo>
                  <a:lnTo>
                    <a:pt x="7399845" y="2407429"/>
                  </a:lnTo>
                  <a:cubicBezTo>
                    <a:pt x="7399845" y="2649451"/>
                    <a:pt x="7203648" y="2845648"/>
                    <a:pt x="6961625" y="2845648"/>
                  </a:cubicBezTo>
                  <a:lnTo>
                    <a:pt x="438220" y="2845648"/>
                  </a:lnTo>
                  <a:cubicBezTo>
                    <a:pt x="196198" y="2845648"/>
                    <a:pt x="0" y="2649451"/>
                    <a:pt x="0" y="2407429"/>
                  </a:cubicBezTo>
                  <a:lnTo>
                    <a:pt x="0" y="438220"/>
                  </a:lnTo>
                  <a:cubicBezTo>
                    <a:pt x="0" y="196198"/>
                    <a:pt x="196198" y="0"/>
                    <a:pt x="43822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798166" y="3060588"/>
            <a:ext cx="4384606" cy="6121184"/>
          </a:xfrm>
          <a:custGeom>
            <a:avLst/>
            <a:gdLst/>
            <a:ahLst/>
            <a:cxnLst/>
            <a:rect r="r" b="b" t="t" l="l"/>
            <a:pathLst>
              <a:path h="6121184" w="4384606">
                <a:moveTo>
                  <a:pt x="0" y="0"/>
                </a:moveTo>
                <a:lnTo>
                  <a:pt x="4384606" y="0"/>
                </a:lnTo>
                <a:lnTo>
                  <a:pt x="4384606" y="6121184"/>
                </a:lnTo>
                <a:lnTo>
                  <a:pt x="0" y="61211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85786" b="-10031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98166" y="101613"/>
            <a:ext cx="7255459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8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1. MONOLITICA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153552" y="3785645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548005" y="5781882"/>
            <a:ext cx="4862354" cy="1289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Facilidade de gerenciamento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Simples de implementar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771838" y="5254402"/>
            <a:ext cx="4763429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Falta de flexibilidade</a:t>
            </a:r>
          </a:p>
          <a:p>
            <a:pPr algn="just">
              <a:lnSpc>
                <a:spcPts val="3449"/>
              </a:lnSpc>
            </a:pP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Dificuldade em escalar ou modificar partes específicas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10626" y="7942630"/>
            <a:ext cx="66763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“God-Class”, ou “Classe-Deus”, conceito que representa o código todo em um único arquivo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151712" y="2156735"/>
            <a:ext cx="7325262" cy="2436537"/>
            <a:chOff x="0" y="0"/>
            <a:chExt cx="7759007" cy="25808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06316" y="0"/>
                  </a:moveTo>
                  <a:lnTo>
                    <a:pt x="7352628" y="0"/>
                  </a:lnTo>
                  <a:cubicBezTo>
                    <a:pt x="7460390" y="0"/>
                    <a:pt x="7563738" y="42808"/>
                    <a:pt x="7639936" y="119007"/>
                  </a:cubicBezTo>
                  <a:cubicBezTo>
                    <a:pt x="7716135" y="195206"/>
                    <a:pt x="7758943" y="298554"/>
                    <a:pt x="7758943" y="406316"/>
                  </a:cubicBezTo>
                  <a:lnTo>
                    <a:pt x="7758943" y="2174458"/>
                  </a:lnTo>
                  <a:cubicBezTo>
                    <a:pt x="7758943" y="2398860"/>
                    <a:pt x="7577030" y="2580773"/>
                    <a:pt x="7352628" y="2580773"/>
                  </a:cubicBezTo>
                  <a:lnTo>
                    <a:pt x="406316" y="2580773"/>
                  </a:lnTo>
                  <a:cubicBezTo>
                    <a:pt x="298554" y="2580773"/>
                    <a:pt x="195206" y="2537965"/>
                    <a:pt x="119007" y="2461766"/>
                  </a:cubicBezTo>
                  <a:cubicBezTo>
                    <a:pt x="42808" y="2385567"/>
                    <a:pt x="0" y="2282219"/>
                    <a:pt x="0" y="2174458"/>
                  </a:cubicBezTo>
                  <a:lnTo>
                    <a:pt x="0" y="406316"/>
                  </a:lnTo>
                  <a:cubicBezTo>
                    <a:pt x="0" y="298554"/>
                    <a:pt x="42808" y="195206"/>
                    <a:pt x="119007" y="119007"/>
                  </a:cubicBezTo>
                  <a:cubicBezTo>
                    <a:pt x="195206" y="42808"/>
                    <a:pt x="298554" y="0"/>
                    <a:pt x="406316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6283959" y="2508226"/>
            <a:ext cx="706076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arquitetura monolítica foi a abordagem padrão, em que todas as funcionalidades do sistema eram integradas em um único bloco de código.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2384" y="2797237"/>
            <a:ext cx="7577524" cy="6461063"/>
          </a:xfrm>
          <a:custGeom>
            <a:avLst/>
            <a:gdLst/>
            <a:ahLst/>
            <a:cxnLst/>
            <a:rect r="r" b="b" t="t" l="l"/>
            <a:pathLst>
              <a:path h="6461063" w="7577524">
                <a:moveTo>
                  <a:pt x="0" y="0"/>
                </a:moveTo>
                <a:lnTo>
                  <a:pt x="7577524" y="0"/>
                </a:lnTo>
                <a:lnTo>
                  <a:pt x="7577524" y="6461063"/>
                </a:lnTo>
                <a:lnTo>
                  <a:pt x="0" y="64610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8634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968427" y="2290458"/>
            <a:ext cx="5952045" cy="1329101"/>
            <a:chOff x="0" y="0"/>
            <a:chExt cx="9534890" cy="21291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34813" cy="2129127"/>
            </a:xfrm>
            <a:custGeom>
              <a:avLst/>
              <a:gdLst/>
              <a:ahLst/>
              <a:cxnLst/>
              <a:rect r="r" b="b" t="t" l="l"/>
              <a:pathLst>
                <a:path h="2129127" w="9534813">
                  <a:moveTo>
                    <a:pt x="390290" y="0"/>
                  </a:moveTo>
                  <a:lnTo>
                    <a:pt x="9144523" y="0"/>
                  </a:lnTo>
                  <a:cubicBezTo>
                    <a:pt x="9360074" y="0"/>
                    <a:pt x="9534813" y="174739"/>
                    <a:pt x="9534813" y="390290"/>
                  </a:cubicBezTo>
                  <a:lnTo>
                    <a:pt x="9534813" y="1738838"/>
                  </a:lnTo>
                  <a:cubicBezTo>
                    <a:pt x="9534813" y="1842349"/>
                    <a:pt x="9493693" y="1941621"/>
                    <a:pt x="9420499" y="2014814"/>
                  </a:cubicBezTo>
                  <a:cubicBezTo>
                    <a:pt x="9347306" y="2088008"/>
                    <a:pt x="9248034" y="2129127"/>
                    <a:pt x="9144523" y="2129127"/>
                  </a:cubicBezTo>
                  <a:lnTo>
                    <a:pt x="390290" y="2129127"/>
                  </a:lnTo>
                  <a:cubicBezTo>
                    <a:pt x="174739" y="2129127"/>
                    <a:pt x="0" y="1954389"/>
                    <a:pt x="0" y="1738838"/>
                  </a:cubicBezTo>
                  <a:lnTo>
                    <a:pt x="0" y="390290"/>
                  </a:lnTo>
                  <a:cubicBezTo>
                    <a:pt x="0" y="174739"/>
                    <a:pt x="174739" y="0"/>
                    <a:pt x="3902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911354" y="3784680"/>
            <a:ext cx="6131244" cy="1555727"/>
            <a:chOff x="0" y="0"/>
            <a:chExt cx="9534890" cy="24193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534813" cy="2419326"/>
            </a:xfrm>
            <a:custGeom>
              <a:avLst/>
              <a:gdLst/>
              <a:ahLst/>
              <a:cxnLst/>
              <a:rect r="r" b="b" t="t" l="l"/>
              <a:pathLst>
                <a:path h="2419326" w="9534813">
                  <a:moveTo>
                    <a:pt x="378882" y="0"/>
                  </a:moveTo>
                  <a:lnTo>
                    <a:pt x="9155930" y="0"/>
                  </a:lnTo>
                  <a:cubicBezTo>
                    <a:pt x="9365181" y="0"/>
                    <a:pt x="9534813" y="169631"/>
                    <a:pt x="9534813" y="378882"/>
                  </a:cubicBezTo>
                  <a:lnTo>
                    <a:pt x="9534813" y="2040443"/>
                  </a:lnTo>
                  <a:cubicBezTo>
                    <a:pt x="9534813" y="2140929"/>
                    <a:pt x="9494895" y="2237299"/>
                    <a:pt x="9423840" y="2308353"/>
                  </a:cubicBezTo>
                  <a:cubicBezTo>
                    <a:pt x="9352786" y="2379408"/>
                    <a:pt x="9256416" y="2419326"/>
                    <a:pt x="9155930" y="2419326"/>
                  </a:cubicBezTo>
                  <a:lnTo>
                    <a:pt x="378882" y="2419326"/>
                  </a:lnTo>
                  <a:cubicBezTo>
                    <a:pt x="278397" y="2419326"/>
                    <a:pt x="182026" y="2379408"/>
                    <a:pt x="110972" y="2308353"/>
                  </a:cubicBezTo>
                  <a:cubicBezTo>
                    <a:pt x="39918" y="2237299"/>
                    <a:pt x="0" y="2140929"/>
                    <a:pt x="0" y="2040443"/>
                  </a:cubicBezTo>
                  <a:lnTo>
                    <a:pt x="0" y="378882"/>
                  </a:lnTo>
                  <a:cubicBezTo>
                    <a:pt x="0" y="278397"/>
                    <a:pt x="39918" y="182026"/>
                    <a:pt x="110972" y="110972"/>
                  </a:cubicBezTo>
                  <a:cubicBezTo>
                    <a:pt x="182026" y="39918"/>
                    <a:pt x="278397" y="0"/>
                    <a:pt x="37888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7968427" y="5673781"/>
            <a:ext cx="6581317" cy="2008917"/>
            <a:chOff x="0" y="0"/>
            <a:chExt cx="10068810" cy="307346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68728" cy="3073415"/>
            </a:xfrm>
            <a:custGeom>
              <a:avLst/>
              <a:gdLst/>
              <a:ahLst/>
              <a:cxnLst/>
              <a:rect r="r" b="b" t="t" l="l"/>
              <a:pathLst>
                <a:path h="3073415" w="10068728">
                  <a:moveTo>
                    <a:pt x="352972" y="0"/>
                  </a:moveTo>
                  <a:lnTo>
                    <a:pt x="9715756" y="0"/>
                  </a:lnTo>
                  <a:cubicBezTo>
                    <a:pt x="9809370" y="0"/>
                    <a:pt x="9899150" y="37188"/>
                    <a:pt x="9965345" y="103383"/>
                  </a:cubicBezTo>
                  <a:cubicBezTo>
                    <a:pt x="10031540" y="169578"/>
                    <a:pt x="10068728" y="259358"/>
                    <a:pt x="10068728" y="352972"/>
                  </a:cubicBezTo>
                  <a:lnTo>
                    <a:pt x="10068728" y="2720443"/>
                  </a:lnTo>
                  <a:cubicBezTo>
                    <a:pt x="10068728" y="2814057"/>
                    <a:pt x="10031540" y="2903837"/>
                    <a:pt x="9965345" y="2970032"/>
                  </a:cubicBezTo>
                  <a:cubicBezTo>
                    <a:pt x="9899150" y="3036227"/>
                    <a:pt x="9809370" y="3073415"/>
                    <a:pt x="9715756" y="3073415"/>
                  </a:cubicBezTo>
                  <a:lnTo>
                    <a:pt x="352972" y="3073415"/>
                  </a:lnTo>
                  <a:cubicBezTo>
                    <a:pt x="259358" y="3073415"/>
                    <a:pt x="169578" y="3036227"/>
                    <a:pt x="103383" y="2970032"/>
                  </a:cubicBezTo>
                  <a:cubicBezTo>
                    <a:pt x="37188" y="2903837"/>
                    <a:pt x="0" y="2814057"/>
                    <a:pt x="0" y="2720443"/>
                  </a:cubicBezTo>
                  <a:lnTo>
                    <a:pt x="0" y="352972"/>
                  </a:lnTo>
                  <a:cubicBezTo>
                    <a:pt x="0" y="259358"/>
                    <a:pt x="37188" y="169578"/>
                    <a:pt x="103383" y="103383"/>
                  </a:cubicBezTo>
                  <a:cubicBezTo>
                    <a:pt x="169578" y="37188"/>
                    <a:pt x="259358" y="0"/>
                    <a:pt x="35297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2035374" y="7842982"/>
            <a:ext cx="5808273" cy="1499893"/>
            <a:chOff x="0" y="0"/>
            <a:chExt cx="8303855" cy="214434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303787" cy="2144307"/>
            </a:xfrm>
            <a:custGeom>
              <a:avLst/>
              <a:gdLst/>
              <a:ahLst/>
              <a:cxnLst/>
              <a:rect r="r" b="b" t="t" l="l"/>
              <a:pathLst>
                <a:path h="2144307" w="8303787">
                  <a:moveTo>
                    <a:pt x="399950" y="0"/>
                  </a:moveTo>
                  <a:lnTo>
                    <a:pt x="7903837" y="0"/>
                  </a:lnTo>
                  <a:cubicBezTo>
                    <a:pt x="8009910" y="0"/>
                    <a:pt x="8111639" y="42138"/>
                    <a:pt x="8186644" y="117143"/>
                  </a:cubicBezTo>
                  <a:cubicBezTo>
                    <a:pt x="8261649" y="192148"/>
                    <a:pt x="8303787" y="293877"/>
                    <a:pt x="8303787" y="399950"/>
                  </a:cubicBezTo>
                  <a:lnTo>
                    <a:pt x="8303787" y="1744357"/>
                  </a:lnTo>
                  <a:cubicBezTo>
                    <a:pt x="8303787" y="1965243"/>
                    <a:pt x="8124723" y="2144307"/>
                    <a:pt x="7903837" y="2144307"/>
                  </a:cubicBezTo>
                  <a:lnTo>
                    <a:pt x="399950" y="2144307"/>
                  </a:lnTo>
                  <a:cubicBezTo>
                    <a:pt x="293877" y="2144307"/>
                    <a:pt x="192148" y="2102169"/>
                    <a:pt x="117143" y="2027164"/>
                  </a:cubicBezTo>
                  <a:cubicBezTo>
                    <a:pt x="42138" y="1952159"/>
                    <a:pt x="0" y="1850430"/>
                    <a:pt x="0" y="1744357"/>
                  </a:cubicBezTo>
                  <a:lnTo>
                    <a:pt x="0" y="399950"/>
                  </a:lnTo>
                  <a:cubicBezTo>
                    <a:pt x="0" y="293877"/>
                    <a:pt x="42138" y="192148"/>
                    <a:pt x="117143" y="117143"/>
                  </a:cubicBezTo>
                  <a:cubicBezTo>
                    <a:pt x="192148" y="42138"/>
                    <a:pt x="293877" y="0"/>
                    <a:pt x="3999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80044" y="101613"/>
            <a:ext cx="10092880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2. MICROSSERVIÇOS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059784" y="3913192"/>
            <a:ext cx="5834383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Segmenta o sistema em serviços independentes que se comunicam entre si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9985" y="2495213"/>
            <a:ext cx="5688929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Ideal para sistemas que precisam evoluir rapidamente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18812" y="5815460"/>
            <a:ext cx="6430932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Permite uma escalabilidade granular (Cada serviço poder ser desenvolvido, implementado e escalado de forma independente)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185760" y="7911606"/>
            <a:ext cx="55075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Extremamente útil em grandes sistemas de streaming online ou plataformas de CRM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35400" y="2813532"/>
            <a:ext cx="5103867" cy="1280850"/>
            <a:chOff x="0" y="0"/>
            <a:chExt cx="11834609" cy="29699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34513" cy="2969935"/>
            </a:xfrm>
            <a:custGeom>
              <a:avLst/>
              <a:gdLst/>
              <a:ahLst/>
              <a:cxnLst/>
              <a:rect r="r" b="b" t="t" l="l"/>
              <a:pathLst>
                <a:path h="2969935" w="11834513">
                  <a:moveTo>
                    <a:pt x="455149" y="0"/>
                  </a:moveTo>
                  <a:lnTo>
                    <a:pt x="11379364" y="0"/>
                  </a:lnTo>
                  <a:cubicBezTo>
                    <a:pt x="11630736" y="0"/>
                    <a:pt x="11834513" y="203777"/>
                    <a:pt x="11834513" y="455149"/>
                  </a:cubicBezTo>
                  <a:lnTo>
                    <a:pt x="11834513" y="2514786"/>
                  </a:lnTo>
                  <a:cubicBezTo>
                    <a:pt x="11834513" y="2766158"/>
                    <a:pt x="11630736" y="2969935"/>
                    <a:pt x="11379364" y="2969935"/>
                  </a:cubicBezTo>
                  <a:lnTo>
                    <a:pt x="455149" y="2969935"/>
                  </a:lnTo>
                  <a:cubicBezTo>
                    <a:pt x="334436" y="2969935"/>
                    <a:pt x="218667" y="2921982"/>
                    <a:pt x="133310" y="2836625"/>
                  </a:cubicBezTo>
                  <a:cubicBezTo>
                    <a:pt x="47953" y="2751268"/>
                    <a:pt x="0" y="2635499"/>
                    <a:pt x="0" y="2514786"/>
                  </a:cubicBezTo>
                  <a:lnTo>
                    <a:pt x="0" y="455149"/>
                  </a:lnTo>
                  <a:cubicBezTo>
                    <a:pt x="0" y="203777"/>
                    <a:pt x="203777" y="0"/>
                    <a:pt x="4551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728502" y="1902043"/>
            <a:ext cx="4708349" cy="728010"/>
            <a:chOff x="0" y="0"/>
            <a:chExt cx="10272353" cy="158832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72269" cy="1588299"/>
            </a:xfrm>
            <a:custGeom>
              <a:avLst/>
              <a:gdLst/>
              <a:ahLst/>
              <a:cxnLst/>
              <a:rect r="r" b="b" t="t" l="l"/>
              <a:pathLst>
                <a:path h="1588299" w="10272269">
                  <a:moveTo>
                    <a:pt x="493383" y="0"/>
                  </a:moveTo>
                  <a:lnTo>
                    <a:pt x="9778886" y="0"/>
                  </a:lnTo>
                  <a:cubicBezTo>
                    <a:pt x="10051374" y="0"/>
                    <a:pt x="10272269" y="220895"/>
                    <a:pt x="10272269" y="493383"/>
                  </a:cubicBezTo>
                  <a:lnTo>
                    <a:pt x="10272269" y="1094916"/>
                  </a:lnTo>
                  <a:cubicBezTo>
                    <a:pt x="10272269" y="1225769"/>
                    <a:pt x="10220288" y="1351263"/>
                    <a:pt x="10127761" y="1443791"/>
                  </a:cubicBezTo>
                  <a:cubicBezTo>
                    <a:pt x="10035233" y="1536318"/>
                    <a:pt x="9909739" y="1588299"/>
                    <a:pt x="9778886" y="1588299"/>
                  </a:cubicBezTo>
                  <a:lnTo>
                    <a:pt x="493383" y="1588299"/>
                  </a:lnTo>
                  <a:cubicBezTo>
                    <a:pt x="220895" y="1588299"/>
                    <a:pt x="0" y="1367404"/>
                    <a:pt x="0" y="1094916"/>
                  </a:cubicBezTo>
                  <a:lnTo>
                    <a:pt x="0" y="493383"/>
                  </a:lnTo>
                  <a:cubicBezTo>
                    <a:pt x="0" y="220895"/>
                    <a:pt x="220895" y="0"/>
                    <a:pt x="4933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93444" y="8119681"/>
            <a:ext cx="14049973" cy="1244617"/>
            <a:chOff x="0" y="0"/>
            <a:chExt cx="28249461" cy="25024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249231" cy="2502444"/>
            </a:xfrm>
            <a:custGeom>
              <a:avLst/>
              <a:gdLst/>
              <a:ahLst/>
              <a:cxnLst/>
              <a:rect r="r" b="b" t="t" l="l"/>
              <a:pathLst>
                <a:path h="2502444" w="28249231">
                  <a:moveTo>
                    <a:pt x="165340" y="0"/>
                  </a:moveTo>
                  <a:lnTo>
                    <a:pt x="28083892" y="0"/>
                  </a:lnTo>
                  <a:cubicBezTo>
                    <a:pt x="28175204" y="0"/>
                    <a:pt x="28249231" y="74025"/>
                    <a:pt x="28249231" y="165340"/>
                  </a:cubicBezTo>
                  <a:lnTo>
                    <a:pt x="28249231" y="2337104"/>
                  </a:lnTo>
                  <a:cubicBezTo>
                    <a:pt x="28249231" y="2428418"/>
                    <a:pt x="28175204" y="2502444"/>
                    <a:pt x="28083892" y="2502444"/>
                  </a:cubicBezTo>
                  <a:lnTo>
                    <a:pt x="165340" y="2502444"/>
                  </a:lnTo>
                  <a:cubicBezTo>
                    <a:pt x="121489" y="2502444"/>
                    <a:pt x="79434" y="2485024"/>
                    <a:pt x="48427" y="2454017"/>
                  </a:cubicBezTo>
                  <a:cubicBezTo>
                    <a:pt x="17420" y="2423009"/>
                    <a:pt x="0" y="2380955"/>
                    <a:pt x="0" y="2337104"/>
                  </a:cubicBezTo>
                  <a:lnTo>
                    <a:pt x="0" y="165340"/>
                  </a:lnTo>
                  <a:cubicBezTo>
                    <a:pt x="0" y="74025"/>
                    <a:pt x="74025" y="0"/>
                    <a:pt x="16534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552815" y="4342032"/>
            <a:ext cx="5641576" cy="1210153"/>
            <a:chOff x="0" y="0"/>
            <a:chExt cx="11958825" cy="2565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958727" cy="2565206"/>
            </a:xfrm>
            <a:custGeom>
              <a:avLst/>
              <a:gdLst/>
              <a:ahLst/>
              <a:cxnLst/>
              <a:rect r="r" b="b" t="t" l="l"/>
              <a:pathLst>
                <a:path h="2565206" w="11958727">
                  <a:moveTo>
                    <a:pt x="411768" y="0"/>
                  </a:moveTo>
                  <a:lnTo>
                    <a:pt x="11546960" y="0"/>
                  </a:lnTo>
                  <a:cubicBezTo>
                    <a:pt x="11774373" y="0"/>
                    <a:pt x="11958727" y="184355"/>
                    <a:pt x="11958727" y="411768"/>
                  </a:cubicBezTo>
                  <a:lnTo>
                    <a:pt x="11958727" y="2153438"/>
                  </a:lnTo>
                  <a:cubicBezTo>
                    <a:pt x="11958727" y="2380851"/>
                    <a:pt x="11774373" y="2565206"/>
                    <a:pt x="11546960" y="2565206"/>
                  </a:cubicBezTo>
                  <a:lnTo>
                    <a:pt x="411768" y="2565206"/>
                  </a:lnTo>
                  <a:cubicBezTo>
                    <a:pt x="184355" y="2565206"/>
                    <a:pt x="0" y="2380851"/>
                    <a:pt x="0" y="2153438"/>
                  </a:cubicBezTo>
                  <a:lnTo>
                    <a:pt x="0" y="411768"/>
                  </a:lnTo>
                  <a:cubicBezTo>
                    <a:pt x="0" y="184355"/>
                    <a:pt x="184355" y="0"/>
                    <a:pt x="41176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135400" y="5822440"/>
            <a:ext cx="6830586" cy="1640016"/>
            <a:chOff x="0" y="0"/>
            <a:chExt cx="12718496" cy="305370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18393" cy="3053654"/>
            </a:xfrm>
            <a:custGeom>
              <a:avLst/>
              <a:gdLst/>
              <a:ahLst/>
              <a:cxnLst/>
              <a:rect r="r" b="b" t="t" l="l"/>
              <a:pathLst>
                <a:path h="3053654" w="12718393">
                  <a:moveTo>
                    <a:pt x="340091" y="0"/>
                  </a:moveTo>
                  <a:lnTo>
                    <a:pt x="12378302" y="0"/>
                  </a:lnTo>
                  <a:cubicBezTo>
                    <a:pt x="12468499" y="0"/>
                    <a:pt x="12555003" y="35831"/>
                    <a:pt x="12618782" y="99610"/>
                  </a:cubicBezTo>
                  <a:cubicBezTo>
                    <a:pt x="12682562" y="163390"/>
                    <a:pt x="12718393" y="249893"/>
                    <a:pt x="12718393" y="340091"/>
                  </a:cubicBezTo>
                  <a:lnTo>
                    <a:pt x="12718393" y="2713564"/>
                  </a:lnTo>
                  <a:cubicBezTo>
                    <a:pt x="12718393" y="2803761"/>
                    <a:pt x="12682562" y="2890265"/>
                    <a:pt x="12618782" y="2954044"/>
                  </a:cubicBezTo>
                  <a:cubicBezTo>
                    <a:pt x="12555003" y="3017824"/>
                    <a:pt x="12468499" y="3053654"/>
                    <a:pt x="12378302" y="3053654"/>
                  </a:cubicBezTo>
                  <a:lnTo>
                    <a:pt x="340091" y="3053654"/>
                  </a:lnTo>
                  <a:cubicBezTo>
                    <a:pt x="249893" y="3053654"/>
                    <a:pt x="163390" y="3017824"/>
                    <a:pt x="99610" y="2954044"/>
                  </a:cubicBezTo>
                  <a:cubicBezTo>
                    <a:pt x="35831" y="2890265"/>
                    <a:pt x="0" y="2803761"/>
                    <a:pt x="0" y="2713564"/>
                  </a:cubicBezTo>
                  <a:lnTo>
                    <a:pt x="0" y="340091"/>
                  </a:lnTo>
                  <a:cubicBezTo>
                    <a:pt x="0" y="249893"/>
                    <a:pt x="35831" y="163390"/>
                    <a:pt x="99610" y="99610"/>
                  </a:cubicBezTo>
                  <a:cubicBezTo>
                    <a:pt x="163390" y="35831"/>
                    <a:pt x="249893" y="0"/>
                    <a:pt x="34009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34751" y="3068203"/>
            <a:ext cx="9537127" cy="4004137"/>
          </a:xfrm>
          <a:custGeom>
            <a:avLst/>
            <a:gdLst/>
            <a:ahLst/>
            <a:cxnLst/>
            <a:rect r="r" b="b" t="t" l="l"/>
            <a:pathLst>
              <a:path h="4004137" w="9537127">
                <a:moveTo>
                  <a:pt x="0" y="0"/>
                </a:moveTo>
                <a:lnTo>
                  <a:pt x="9537127" y="0"/>
                </a:lnTo>
                <a:lnTo>
                  <a:pt x="9537127" y="4004137"/>
                </a:lnTo>
                <a:lnTo>
                  <a:pt x="0" y="40041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81692" y="102832"/>
            <a:ext cx="14375587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3. MODEL-VIEW-CONTROLLER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91990" y="2961326"/>
            <a:ext cx="4790686" cy="850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Modelo: cuida das regras de negócio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673802" y="8310137"/>
            <a:ext cx="13689258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5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Facilita a manutenção e evolução do software, permitindo que cada componente seja desenvolvido de forma independente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87020" y="4497177"/>
            <a:ext cx="528746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Visão: gerencia o que é mostrado ao usuário, interface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98922" y="5968339"/>
            <a:ext cx="641784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Controller: lida com a interação entre a visão e o modelo, respotas a interação do usuário com o sistema.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794244" y="2004279"/>
            <a:ext cx="457686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50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 a aplicação em três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7706" y="2807058"/>
            <a:ext cx="9604918" cy="5336066"/>
          </a:xfrm>
          <a:custGeom>
            <a:avLst/>
            <a:gdLst/>
            <a:ahLst/>
            <a:cxnLst/>
            <a:rect r="r" b="b" t="t" l="l"/>
            <a:pathLst>
              <a:path h="5336066" w="9604918">
                <a:moveTo>
                  <a:pt x="0" y="0"/>
                </a:moveTo>
                <a:lnTo>
                  <a:pt x="9604918" y="0"/>
                </a:lnTo>
                <a:lnTo>
                  <a:pt x="9604918" y="5336066"/>
                </a:lnTo>
                <a:lnTo>
                  <a:pt x="0" y="53360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970841" y="2630053"/>
            <a:ext cx="7042897" cy="1671538"/>
            <a:chOff x="0" y="0"/>
            <a:chExt cx="11500046" cy="27293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2729345"/>
            </a:xfrm>
            <a:custGeom>
              <a:avLst/>
              <a:gdLst/>
              <a:ahLst/>
              <a:cxnLst/>
              <a:rect r="r" b="b" t="t" l="l"/>
              <a:pathLst>
                <a:path h="2729345" w="11499952">
                  <a:moveTo>
                    <a:pt x="329839" y="0"/>
                  </a:moveTo>
                  <a:lnTo>
                    <a:pt x="11170114" y="0"/>
                  </a:lnTo>
                  <a:cubicBezTo>
                    <a:pt x="11352278" y="0"/>
                    <a:pt x="11499952" y="147674"/>
                    <a:pt x="11499952" y="329839"/>
                  </a:cubicBezTo>
                  <a:lnTo>
                    <a:pt x="11499952" y="2399507"/>
                  </a:lnTo>
                  <a:cubicBezTo>
                    <a:pt x="11499952" y="2581671"/>
                    <a:pt x="11352278" y="2729345"/>
                    <a:pt x="11170114" y="2729345"/>
                  </a:cubicBezTo>
                  <a:lnTo>
                    <a:pt x="329839" y="2729345"/>
                  </a:lnTo>
                  <a:cubicBezTo>
                    <a:pt x="242360" y="2729345"/>
                    <a:pt x="158464" y="2694595"/>
                    <a:pt x="96608" y="2632738"/>
                  </a:cubicBezTo>
                  <a:cubicBezTo>
                    <a:pt x="34751" y="2570881"/>
                    <a:pt x="0" y="2486985"/>
                    <a:pt x="0" y="2399507"/>
                  </a:cubicBezTo>
                  <a:lnTo>
                    <a:pt x="0" y="329839"/>
                  </a:lnTo>
                  <a:cubicBezTo>
                    <a:pt x="0" y="242360"/>
                    <a:pt x="34751" y="158464"/>
                    <a:pt x="96608" y="96608"/>
                  </a:cubicBezTo>
                  <a:cubicBezTo>
                    <a:pt x="158464" y="34751"/>
                    <a:pt x="242360" y="0"/>
                    <a:pt x="32983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533525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4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Orientada a serviços (SOA)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81266" y="2768958"/>
            <a:ext cx="667007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Similar a Microsserviços. </a:t>
            </a: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Deu origem a esse subtipo. Porém com maior foco em serviços reutilizaveis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181266" y="5015966"/>
            <a:ext cx="7264196" cy="2436254"/>
            <a:chOff x="0" y="0"/>
            <a:chExt cx="11861395" cy="397806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861298" cy="3977999"/>
            </a:xfrm>
            <a:custGeom>
              <a:avLst/>
              <a:gdLst/>
              <a:ahLst/>
              <a:cxnLst/>
              <a:rect r="r" b="b" t="t" l="l"/>
              <a:pathLst>
                <a:path h="3977999" w="11861298">
                  <a:moveTo>
                    <a:pt x="319790" y="0"/>
                  </a:moveTo>
                  <a:lnTo>
                    <a:pt x="11541508" y="0"/>
                  </a:lnTo>
                  <a:cubicBezTo>
                    <a:pt x="11718123" y="0"/>
                    <a:pt x="11861298" y="143175"/>
                    <a:pt x="11861298" y="319790"/>
                  </a:cubicBezTo>
                  <a:lnTo>
                    <a:pt x="11861298" y="3658208"/>
                  </a:lnTo>
                  <a:cubicBezTo>
                    <a:pt x="11861298" y="3743022"/>
                    <a:pt x="11827607" y="3824362"/>
                    <a:pt x="11767634" y="3884335"/>
                  </a:cubicBezTo>
                  <a:cubicBezTo>
                    <a:pt x="11707661" y="3944307"/>
                    <a:pt x="11626321" y="3977999"/>
                    <a:pt x="11541508" y="3977999"/>
                  </a:cubicBezTo>
                  <a:lnTo>
                    <a:pt x="319790" y="3977999"/>
                  </a:lnTo>
                  <a:cubicBezTo>
                    <a:pt x="234977" y="3977999"/>
                    <a:pt x="153637" y="3944307"/>
                    <a:pt x="93664" y="3884335"/>
                  </a:cubicBezTo>
                  <a:cubicBezTo>
                    <a:pt x="33692" y="3824362"/>
                    <a:pt x="0" y="3743022"/>
                    <a:pt x="0" y="3658208"/>
                  </a:cubicBezTo>
                  <a:lnTo>
                    <a:pt x="0" y="319790"/>
                  </a:lnTo>
                  <a:cubicBezTo>
                    <a:pt x="0" y="234977"/>
                    <a:pt x="33692" y="153637"/>
                    <a:pt x="93664" y="93664"/>
                  </a:cubicBezTo>
                  <a:cubicBezTo>
                    <a:pt x="153637" y="33692"/>
                    <a:pt x="234977" y="0"/>
                    <a:pt x="3197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418438" y="5094628"/>
            <a:ext cx="680572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principal diferença: está em como os serviços estão expostos e consumidos, por meio de um barramento de serviços, que facilita a integração de sistemas legados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0575" y="2438819"/>
            <a:ext cx="8033425" cy="5900197"/>
          </a:xfrm>
          <a:custGeom>
            <a:avLst/>
            <a:gdLst/>
            <a:ahLst/>
            <a:cxnLst/>
            <a:rect r="r" b="b" t="t" l="l"/>
            <a:pathLst>
              <a:path h="5900197" w="8033425">
                <a:moveTo>
                  <a:pt x="0" y="0"/>
                </a:moveTo>
                <a:lnTo>
                  <a:pt x="8033425" y="0"/>
                </a:lnTo>
                <a:lnTo>
                  <a:pt x="8033425" y="5900197"/>
                </a:lnTo>
                <a:lnTo>
                  <a:pt x="0" y="59001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708255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5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Em camadas (Layers)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082422" y="3068203"/>
            <a:ext cx="7176878" cy="1334934"/>
            <a:chOff x="0" y="0"/>
            <a:chExt cx="14430129" cy="26840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430012" cy="2684038"/>
            </a:xfrm>
            <a:custGeom>
              <a:avLst/>
              <a:gdLst/>
              <a:ahLst/>
              <a:cxnLst/>
              <a:rect r="r" b="b" t="t" l="l"/>
              <a:pathLst>
                <a:path h="2684038" w="14430012">
                  <a:moveTo>
                    <a:pt x="323681" y="0"/>
                  </a:moveTo>
                  <a:lnTo>
                    <a:pt x="14106331" y="0"/>
                  </a:lnTo>
                  <a:cubicBezTo>
                    <a:pt x="14192177" y="0"/>
                    <a:pt x="14274507" y="34102"/>
                    <a:pt x="14335209" y="94804"/>
                  </a:cubicBezTo>
                  <a:cubicBezTo>
                    <a:pt x="14395910" y="155506"/>
                    <a:pt x="14430012" y="237836"/>
                    <a:pt x="14430012" y="323681"/>
                  </a:cubicBezTo>
                  <a:lnTo>
                    <a:pt x="14430012" y="2360356"/>
                  </a:lnTo>
                  <a:cubicBezTo>
                    <a:pt x="14430012" y="2446202"/>
                    <a:pt x="14395910" y="2528532"/>
                    <a:pt x="14335209" y="2589233"/>
                  </a:cubicBezTo>
                  <a:cubicBezTo>
                    <a:pt x="14274507" y="2649936"/>
                    <a:pt x="14192177" y="2684038"/>
                    <a:pt x="14106331" y="2684038"/>
                  </a:cubicBezTo>
                  <a:lnTo>
                    <a:pt x="323681" y="2684038"/>
                  </a:lnTo>
                  <a:cubicBezTo>
                    <a:pt x="144917" y="2684038"/>
                    <a:pt x="0" y="2539121"/>
                    <a:pt x="0" y="2360356"/>
                  </a:cubicBezTo>
                  <a:lnTo>
                    <a:pt x="0" y="323681"/>
                  </a:lnTo>
                  <a:cubicBezTo>
                    <a:pt x="0" y="144917"/>
                    <a:pt x="144917" y="0"/>
                    <a:pt x="32368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334216" y="3207030"/>
            <a:ext cx="6857645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951272" y="5066592"/>
            <a:ext cx="6977949" cy="1615494"/>
            <a:chOff x="0" y="0"/>
            <a:chExt cx="15189730" cy="351664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189606" cy="3516588"/>
            </a:xfrm>
            <a:custGeom>
              <a:avLst/>
              <a:gdLst/>
              <a:ahLst/>
              <a:cxnLst/>
              <a:rect r="r" b="b" t="t" l="l"/>
              <a:pathLst>
                <a:path h="3516588" w="15189606">
                  <a:moveTo>
                    <a:pt x="332909" y="0"/>
                  </a:moveTo>
                  <a:lnTo>
                    <a:pt x="14856698" y="0"/>
                  </a:lnTo>
                  <a:cubicBezTo>
                    <a:pt x="15040558" y="0"/>
                    <a:pt x="15189606" y="149048"/>
                    <a:pt x="15189606" y="332909"/>
                  </a:cubicBezTo>
                  <a:lnTo>
                    <a:pt x="15189606" y="3183679"/>
                  </a:lnTo>
                  <a:cubicBezTo>
                    <a:pt x="15189606" y="3271972"/>
                    <a:pt x="15154532" y="3356649"/>
                    <a:pt x="15092099" y="3419081"/>
                  </a:cubicBezTo>
                  <a:cubicBezTo>
                    <a:pt x="15029667" y="3481514"/>
                    <a:pt x="14944990" y="3516588"/>
                    <a:pt x="14856698" y="3516588"/>
                  </a:cubicBezTo>
                  <a:lnTo>
                    <a:pt x="332909" y="3516588"/>
                  </a:lnTo>
                  <a:cubicBezTo>
                    <a:pt x="149048" y="3516588"/>
                    <a:pt x="0" y="3367540"/>
                    <a:pt x="0" y="3183679"/>
                  </a:cubicBezTo>
                  <a:lnTo>
                    <a:pt x="0" y="332909"/>
                  </a:lnTo>
                  <a:cubicBezTo>
                    <a:pt x="0" y="244616"/>
                    <a:pt x="35074" y="159939"/>
                    <a:pt x="97507" y="97507"/>
                  </a:cubicBezTo>
                  <a:cubicBezTo>
                    <a:pt x="159939" y="35074"/>
                    <a:pt x="244616" y="0"/>
                    <a:pt x="33290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170797" y="5191972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7950449" cy="5972775"/>
          </a:xfrm>
          <a:custGeom>
            <a:avLst/>
            <a:gdLst/>
            <a:ahLst/>
            <a:cxnLst/>
            <a:rect r="r" b="b" t="t" l="l"/>
            <a:pathLst>
              <a:path h="5972775" w="7950449">
                <a:moveTo>
                  <a:pt x="0" y="0"/>
                </a:moveTo>
                <a:lnTo>
                  <a:pt x="7950449" y="0"/>
                </a:lnTo>
                <a:lnTo>
                  <a:pt x="7950449" y="5972775"/>
                </a:lnTo>
                <a:lnTo>
                  <a:pt x="0" y="5972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484765" y="2821286"/>
            <a:ext cx="8196855" cy="1348723"/>
            <a:chOff x="0" y="0"/>
            <a:chExt cx="11500046" cy="18922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1892208"/>
            </a:xfrm>
            <a:custGeom>
              <a:avLst/>
              <a:gdLst/>
              <a:ahLst/>
              <a:cxnLst/>
              <a:rect r="r" b="b" t="t" l="l"/>
              <a:pathLst>
                <a:path h="1892208" w="11499952">
                  <a:moveTo>
                    <a:pt x="283404" y="0"/>
                  </a:moveTo>
                  <a:lnTo>
                    <a:pt x="11216549" y="0"/>
                  </a:lnTo>
                  <a:cubicBezTo>
                    <a:pt x="11373068" y="0"/>
                    <a:pt x="11499952" y="126884"/>
                    <a:pt x="11499952" y="283404"/>
                  </a:cubicBezTo>
                  <a:lnTo>
                    <a:pt x="11499952" y="1608804"/>
                  </a:lnTo>
                  <a:cubicBezTo>
                    <a:pt x="11499952" y="1765324"/>
                    <a:pt x="11373068" y="1892208"/>
                    <a:pt x="11216549" y="1892208"/>
                  </a:cubicBezTo>
                  <a:lnTo>
                    <a:pt x="283404" y="1892208"/>
                  </a:lnTo>
                  <a:cubicBezTo>
                    <a:pt x="208241" y="1892208"/>
                    <a:pt x="136156" y="1862350"/>
                    <a:pt x="83007" y="1809201"/>
                  </a:cubicBezTo>
                  <a:cubicBezTo>
                    <a:pt x="29859" y="1756053"/>
                    <a:pt x="0" y="1683968"/>
                    <a:pt x="0" y="1608804"/>
                  </a:cubicBezTo>
                  <a:lnTo>
                    <a:pt x="0" y="283404"/>
                  </a:lnTo>
                  <a:cubicBezTo>
                    <a:pt x="0" y="126884"/>
                    <a:pt x="126884" y="0"/>
                    <a:pt x="2834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005300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6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CLiente-servidor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730890" y="3030103"/>
            <a:ext cx="783548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Separado em duas partes:</a:t>
            </a: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Cliente, solicita serviços e Servidor, os fornece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634694" y="4922664"/>
            <a:ext cx="6931682" cy="2465362"/>
            <a:chOff x="0" y="0"/>
            <a:chExt cx="9725030" cy="34588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724951" cy="3458813"/>
            </a:xfrm>
            <a:custGeom>
              <a:avLst/>
              <a:gdLst/>
              <a:ahLst/>
              <a:cxnLst/>
              <a:rect r="r" b="b" t="t" l="l"/>
              <a:pathLst>
                <a:path h="3458813" w="9724951">
                  <a:moveTo>
                    <a:pt x="335131" y="0"/>
                  </a:moveTo>
                  <a:lnTo>
                    <a:pt x="9389820" y="0"/>
                  </a:lnTo>
                  <a:cubicBezTo>
                    <a:pt x="9478702" y="0"/>
                    <a:pt x="9563944" y="35308"/>
                    <a:pt x="9626793" y="98158"/>
                  </a:cubicBezTo>
                  <a:cubicBezTo>
                    <a:pt x="9689642" y="161007"/>
                    <a:pt x="9724951" y="246249"/>
                    <a:pt x="9724951" y="335131"/>
                  </a:cubicBezTo>
                  <a:lnTo>
                    <a:pt x="9724951" y="3123682"/>
                  </a:lnTo>
                  <a:cubicBezTo>
                    <a:pt x="9724951" y="3212564"/>
                    <a:pt x="9689642" y="3297806"/>
                    <a:pt x="9626793" y="3360655"/>
                  </a:cubicBezTo>
                  <a:cubicBezTo>
                    <a:pt x="9563944" y="3423505"/>
                    <a:pt x="9478702" y="3458813"/>
                    <a:pt x="9389820" y="3458813"/>
                  </a:cubicBezTo>
                  <a:lnTo>
                    <a:pt x="335131" y="3458813"/>
                  </a:lnTo>
                  <a:cubicBezTo>
                    <a:pt x="246249" y="3458813"/>
                    <a:pt x="161007" y="3423505"/>
                    <a:pt x="98158" y="3360655"/>
                  </a:cubicBezTo>
                  <a:cubicBezTo>
                    <a:pt x="35308" y="3297806"/>
                    <a:pt x="0" y="3212564"/>
                    <a:pt x="0" y="3123682"/>
                  </a:cubicBezTo>
                  <a:lnTo>
                    <a:pt x="0" y="335131"/>
                  </a:lnTo>
                  <a:cubicBezTo>
                    <a:pt x="0" y="246249"/>
                    <a:pt x="35308" y="161007"/>
                    <a:pt x="98158" y="98158"/>
                  </a:cubicBezTo>
                  <a:cubicBezTo>
                    <a:pt x="161007" y="35308"/>
                    <a:pt x="246249" y="0"/>
                    <a:pt x="33513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874921" y="5105400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Mais comum em aplicações web e empresariais. O servidor centraliza a lógica de negócios e dados, enquanto os clientes executam a interface do usúario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9563" y="7556485"/>
            <a:ext cx="6152288" cy="1665748"/>
            <a:chOff x="0" y="0"/>
            <a:chExt cx="12370046" cy="33492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369946" cy="3349175"/>
            </a:xfrm>
            <a:custGeom>
              <a:avLst/>
              <a:gdLst/>
              <a:ahLst/>
              <a:cxnLst/>
              <a:rect r="r" b="b" t="t" l="l"/>
              <a:pathLst>
                <a:path h="3349175" w="12369946">
                  <a:moveTo>
                    <a:pt x="377586" y="0"/>
                  </a:moveTo>
                  <a:lnTo>
                    <a:pt x="11992359" y="0"/>
                  </a:lnTo>
                  <a:cubicBezTo>
                    <a:pt x="12092501" y="0"/>
                    <a:pt x="12188542" y="39781"/>
                    <a:pt x="12259353" y="110593"/>
                  </a:cubicBezTo>
                  <a:cubicBezTo>
                    <a:pt x="12330164" y="181404"/>
                    <a:pt x="12369946" y="277444"/>
                    <a:pt x="12369946" y="377586"/>
                  </a:cubicBezTo>
                  <a:lnTo>
                    <a:pt x="12369946" y="2971589"/>
                  </a:lnTo>
                  <a:cubicBezTo>
                    <a:pt x="12369946" y="3071731"/>
                    <a:pt x="12330164" y="3167772"/>
                    <a:pt x="12259353" y="3238583"/>
                  </a:cubicBezTo>
                  <a:cubicBezTo>
                    <a:pt x="12188542" y="3309394"/>
                    <a:pt x="12092501" y="3349175"/>
                    <a:pt x="11992359" y="3349175"/>
                  </a:cubicBezTo>
                  <a:lnTo>
                    <a:pt x="377586" y="3349175"/>
                  </a:lnTo>
                  <a:cubicBezTo>
                    <a:pt x="277444" y="3349175"/>
                    <a:pt x="181404" y="3309394"/>
                    <a:pt x="110593" y="3238583"/>
                  </a:cubicBezTo>
                  <a:cubicBezTo>
                    <a:pt x="39781" y="3167772"/>
                    <a:pt x="0" y="3071731"/>
                    <a:pt x="0" y="2971589"/>
                  </a:cubicBezTo>
                  <a:lnTo>
                    <a:pt x="0" y="377586"/>
                  </a:lnTo>
                  <a:cubicBezTo>
                    <a:pt x="0" y="277444"/>
                    <a:pt x="39781" y="181404"/>
                    <a:pt x="110593" y="110593"/>
                  </a:cubicBezTo>
                  <a:cubicBezTo>
                    <a:pt x="181404" y="39781"/>
                    <a:pt x="277444" y="0"/>
                    <a:pt x="37758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53941" y="2055481"/>
            <a:ext cx="11749268" cy="4801244"/>
          </a:xfrm>
          <a:custGeom>
            <a:avLst/>
            <a:gdLst/>
            <a:ahLst/>
            <a:cxnLst/>
            <a:rect r="r" b="b" t="t" l="l"/>
            <a:pathLst>
              <a:path h="4801244" w="11749268">
                <a:moveTo>
                  <a:pt x="0" y="0"/>
                </a:moveTo>
                <a:lnTo>
                  <a:pt x="11749269" y="0"/>
                </a:lnTo>
                <a:lnTo>
                  <a:pt x="11749269" y="4801244"/>
                </a:lnTo>
                <a:lnTo>
                  <a:pt x="0" y="48012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81692" y="102832"/>
            <a:ext cx="12455207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7. 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Pipes-and-filters (PF)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88667" y="7704588"/>
            <a:ext cx="5934079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Funciona em série, que cada parte é um componente que transforma os dados de forma linear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625268" y="7560016"/>
            <a:ext cx="7942031" cy="1313267"/>
            <a:chOff x="0" y="0"/>
            <a:chExt cx="15968578" cy="264051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968449" cy="2640473"/>
            </a:xfrm>
            <a:custGeom>
              <a:avLst/>
              <a:gdLst/>
              <a:ahLst/>
              <a:cxnLst/>
              <a:rect r="r" b="b" t="t" l="l"/>
              <a:pathLst>
                <a:path h="2640473" w="15968449">
                  <a:moveTo>
                    <a:pt x="292497" y="0"/>
                  </a:moveTo>
                  <a:lnTo>
                    <a:pt x="15675952" y="0"/>
                  </a:lnTo>
                  <a:cubicBezTo>
                    <a:pt x="15753527" y="0"/>
                    <a:pt x="15827924" y="30817"/>
                    <a:pt x="15882778" y="85670"/>
                  </a:cubicBezTo>
                  <a:cubicBezTo>
                    <a:pt x="15937632" y="140524"/>
                    <a:pt x="15968449" y="214922"/>
                    <a:pt x="15968449" y="292497"/>
                  </a:cubicBezTo>
                  <a:lnTo>
                    <a:pt x="15968449" y="2347976"/>
                  </a:lnTo>
                  <a:cubicBezTo>
                    <a:pt x="15968449" y="2425551"/>
                    <a:pt x="15937632" y="2499949"/>
                    <a:pt x="15882778" y="2554803"/>
                  </a:cubicBezTo>
                  <a:cubicBezTo>
                    <a:pt x="15827924" y="2609657"/>
                    <a:pt x="15753527" y="2640473"/>
                    <a:pt x="15675952" y="2640473"/>
                  </a:cubicBezTo>
                  <a:lnTo>
                    <a:pt x="292497" y="2640473"/>
                  </a:lnTo>
                  <a:cubicBezTo>
                    <a:pt x="214922" y="2640473"/>
                    <a:pt x="140524" y="2609657"/>
                    <a:pt x="85670" y="2554803"/>
                  </a:cubicBezTo>
                  <a:cubicBezTo>
                    <a:pt x="30817" y="2499949"/>
                    <a:pt x="0" y="2425551"/>
                    <a:pt x="0" y="2347976"/>
                  </a:cubicBezTo>
                  <a:lnTo>
                    <a:pt x="0" y="292497"/>
                  </a:lnTo>
                  <a:cubicBezTo>
                    <a:pt x="0" y="214922"/>
                    <a:pt x="30817" y="140524"/>
                    <a:pt x="85670" y="85670"/>
                  </a:cubicBezTo>
                  <a:cubicBezTo>
                    <a:pt x="140524" y="30817"/>
                    <a:pt x="214922" y="0"/>
                    <a:pt x="29249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734372" y="7704557"/>
            <a:ext cx="7654032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Frequentemente utilizada em processamento de dados e pipelines de ETL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5596" y="2630053"/>
            <a:ext cx="9354889" cy="5262125"/>
          </a:xfrm>
          <a:custGeom>
            <a:avLst/>
            <a:gdLst/>
            <a:ahLst/>
            <a:cxnLst/>
            <a:rect r="r" b="b" t="t" l="l"/>
            <a:pathLst>
              <a:path h="5262125" w="9354889">
                <a:moveTo>
                  <a:pt x="0" y="0"/>
                </a:moveTo>
                <a:lnTo>
                  <a:pt x="9354889" y="0"/>
                </a:lnTo>
                <a:lnTo>
                  <a:pt x="9354889" y="5262124"/>
                </a:lnTo>
                <a:lnTo>
                  <a:pt x="0" y="5262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199642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8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Orientado a eventos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615363" y="2777956"/>
            <a:ext cx="7352676" cy="1651790"/>
            <a:chOff x="0" y="0"/>
            <a:chExt cx="14783596" cy="332116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783476" cy="3321111"/>
            </a:xfrm>
            <a:custGeom>
              <a:avLst/>
              <a:gdLst/>
              <a:ahLst/>
              <a:cxnLst/>
              <a:rect r="r" b="b" t="t" l="l"/>
              <a:pathLst>
                <a:path h="3321111" w="14783476">
                  <a:moveTo>
                    <a:pt x="315942" y="0"/>
                  </a:moveTo>
                  <a:lnTo>
                    <a:pt x="14467534" y="0"/>
                  </a:lnTo>
                  <a:cubicBezTo>
                    <a:pt x="14642024" y="0"/>
                    <a:pt x="14783476" y="141452"/>
                    <a:pt x="14783476" y="315942"/>
                  </a:cubicBezTo>
                  <a:lnTo>
                    <a:pt x="14783476" y="3005169"/>
                  </a:lnTo>
                  <a:cubicBezTo>
                    <a:pt x="14783476" y="3179659"/>
                    <a:pt x="14642024" y="3321111"/>
                    <a:pt x="14467534" y="3321111"/>
                  </a:cubicBezTo>
                  <a:lnTo>
                    <a:pt x="315942" y="3321111"/>
                  </a:lnTo>
                  <a:cubicBezTo>
                    <a:pt x="141452" y="3321111"/>
                    <a:pt x="0" y="3179659"/>
                    <a:pt x="0" y="3005169"/>
                  </a:cubicBezTo>
                  <a:lnTo>
                    <a:pt x="0" y="315942"/>
                  </a:lnTo>
                  <a:cubicBezTo>
                    <a:pt x="0" y="141452"/>
                    <a:pt x="141452" y="0"/>
                    <a:pt x="31594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05655" y="2951386"/>
            <a:ext cx="6998007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Os componentes se comunicam entre si a partir de eventos, permitindo um sistema altamente desacoplado e reativo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615363" y="4953621"/>
            <a:ext cx="7352676" cy="1972824"/>
            <a:chOff x="0" y="0"/>
            <a:chExt cx="14783596" cy="396665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783476" cy="3966587"/>
            </a:xfrm>
            <a:custGeom>
              <a:avLst/>
              <a:gdLst/>
              <a:ahLst/>
              <a:cxnLst/>
              <a:rect r="r" b="b" t="t" l="l"/>
              <a:pathLst>
                <a:path h="3966587" w="14783476">
                  <a:moveTo>
                    <a:pt x="315942" y="0"/>
                  </a:moveTo>
                  <a:lnTo>
                    <a:pt x="14467534" y="0"/>
                  </a:lnTo>
                  <a:cubicBezTo>
                    <a:pt x="14642024" y="0"/>
                    <a:pt x="14783476" y="141452"/>
                    <a:pt x="14783476" y="315942"/>
                  </a:cubicBezTo>
                  <a:lnTo>
                    <a:pt x="14783476" y="3650644"/>
                  </a:lnTo>
                  <a:cubicBezTo>
                    <a:pt x="14783476" y="3825134"/>
                    <a:pt x="14642024" y="3966587"/>
                    <a:pt x="14467534" y="3966587"/>
                  </a:cubicBezTo>
                  <a:lnTo>
                    <a:pt x="315942" y="3966587"/>
                  </a:lnTo>
                  <a:cubicBezTo>
                    <a:pt x="141452" y="3966587"/>
                    <a:pt x="0" y="3825134"/>
                    <a:pt x="0" y="3650644"/>
                  </a:cubicBezTo>
                  <a:lnTo>
                    <a:pt x="0" y="315942"/>
                  </a:lnTo>
                  <a:cubicBezTo>
                    <a:pt x="0" y="141452"/>
                    <a:pt x="141452" y="0"/>
                    <a:pt x="31594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849107" y="5073255"/>
            <a:ext cx="688518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Mais comum em sistemas distribuídos, especialmente em ambientes que necessitam de alta escalabilidade e resistência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531978"/>
            <a:ext cx="9607816" cy="4845085"/>
          </a:xfrm>
          <a:custGeom>
            <a:avLst/>
            <a:gdLst/>
            <a:ahLst/>
            <a:cxnLst/>
            <a:rect r="r" b="b" t="t" l="l"/>
            <a:pathLst>
              <a:path h="4845085" w="9607816">
                <a:moveTo>
                  <a:pt x="0" y="0"/>
                </a:moveTo>
                <a:lnTo>
                  <a:pt x="9607816" y="0"/>
                </a:lnTo>
                <a:lnTo>
                  <a:pt x="9607816" y="4845085"/>
                </a:lnTo>
                <a:lnTo>
                  <a:pt x="0" y="48450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06881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9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Baseado em espaço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607653" y="2662675"/>
            <a:ext cx="7267449" cy="2172371"/>
            <a:chOff x="0" y="0"/>
            <a:chExt cx="11500046" cy="343758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9952" cy="3437523"/>
            </a:xfrm>
            <a:custGeom>
              <a:avLst/>
              <a:gdLst/>
              <a:ahLst/>
              <a:cxnLst/>
              <a:rect r="r" b="b" t="t" l="l"/>
              <a:pathLst>
                <a:path h="3437523" w="11499952">
                  <a:moveTo>
                    <a:pt x="319647" y="0"/>
                  </a:moveTo>
                  <a:lnTo>
                    <a:pt x="11180305" y="0"/>
                  </a:lnTo>
                  <a:cubicBezTo>
                    <a:pt x="11265081" y="0"/>
                    <a:pt x="11346384" y="33677"/>
                    <a:pt x="11406330" y="93623"/>
                  </a:cubicBezTo>
                  <a:cubicBezTo>
                    <a:pt x="11466275" y="153568"/>
                    <a:pt x="11499952" y="234872"/>
                    <a:pt x="11499952" y="319647"/>
                  </a:cubicBezTo>
                  <a:lnTo>
                    <a:pt x="11499952" y="3117876"/>
                  </a:lnTo>
                  <a:cubicBezTo>
                    <a:pt x="11499952" y="3202652"/>
                    <a:pt x="11466275" y="3283955"/>
                    <a:pt x="11406330" y="3343901"/>
                  </a:cubicBezTo>
                  <a:cubicBezTo>
                    <a:pt x="11346384" y="3403846"/>
                    <a:pt x="11265081" y="3437523"/>
                    <a:pt x="11180305" y="3437523"/>
                  </a:cubicBezTo>
                  <a:lnTo>
                    <a:pt x="319647" y="3437523"/>
                  </a:lnTo>
                  <a:cubicBezTo>
                    <a:pt x="234872" y="3437523"/>
                    <a:pt x="153568" y="3403846"/>
                    <a:pt x="93623" y="3343901"/>
                  </a:cubicBezTo>
                  <a:cubicBezTo>
                    <a:pt x="33677" y="3283955"/>
                    <a:pt x="0" y="3202652"/>
                    <a:pt x="0" y="3117876"/>
                  </a:cubicBezTo>
                  <a:lnTo>
                    <a:pt x="0" y="319647"/>
                  </a:lnTo>
                  <a:cubicBezTo>
                    <a:pt x="0" y="234872"/>
                    <a:pt x="33677" y="153568"/>
                    <a:pt x="93623" y="93623"/>
                  </a:cubicBezTo>
                  <a:cubicBezTo>
                    <a:pt x="153568" y="33677"/>
                    <a:pt x="234872" y="0"/>
                    <a:pt x="31964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05655" y="2838869"/>
            <a:ext cx="6732805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Lida com escalabilidade de sistemas distribuidos. Utiliza a noção de espaços como repositórios compartilhados de dados e processos.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538333" y="4954520"/>
            <a:ext cx="7267449" cy="1753631"/>
            <a:chOff x="0" y="0"/>
            <a:chExt cx="11500046" cy="27749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499952" cy="2774916"/>
            </a:xfrm>
            <a:custGeom>
              <a:avLst/>
              <a:gdLst/>
              <a:ahLst/>
              <a:cxnLst/>
              <a:rect r="r" b="b" t="t" l="l"/>
              <a:pathLst>
                <a:path h="2774916" w="11499952">
                  <a:moveTo>
                    <a:pt x="319647" y="0"/>
                  </a:moveTo>
                  <a:lnTo>
                    <a:pt x="11180305" y="0"/>
                  </a:lnTo>
                  <a:cubicBezTo>
                    <a:pt x="11265081" y="0"/>
                    <a:pt x="11346384" y="33677"/>
                    <a:pt x="11406330" y="93623"/>
                  </a:cubicBezTo>
                  <a:cubicBezTo>
                    <a:pt x="11466275" y="153568"/>
                    <a:pt x="11499952" y="234872"/>
                    <a:pt x="11499952" y="319647"/>
                  </a:cubicBezTo>
                  <a:lnTo>
                    <a:pt x="11499952" y="2455269"/>
                  </a:lnTo>
                  <a:cubicBezTo>
                    <a:pt x="11499952" y="2540045"/>
                    <a:pt x="11466275" y="2621348"/>
                    <a:pt x="11406330" y="2681294"/>
                  </a:cubicBezTo>
                  <a:cubicBezTo>
                    <a:pt x="11346384" y="2741239"/>
                    <a:pt x="11265081" y="2774916"/>
                    <a:pt x="11180305" y="2774916"/>
                  </a:cubicBezTo>
                  <a:lnTo>
                    <a:pt x="319647" y="2774916"/>
                  </a:lnTo>
                  <a:cubicBezTo>
                    <a:pt x="234872" y="2774916"/>
                    <a:pt x="153568" y="2741239"/>
                    <a:pt x="93623" y="2681294"/>
                  </a:cubicBezTo>
                  <a:cubicBezTo>
                    <a:pt x="33677" y="2621348"/>
                    <a:pt x="0" y="2540045"/>
                    <a:pt x="0" y="2455269"/>
                  </a:cubicBezTo>
                  <a:lnTo>
                    <a:pt x="0" y="319647"/>
                  </a:lnTo>
                  <a:cubicBezTo>
                    <a:pt x="0" y="234872"/>
                    <a:pt x="33677" y="153568"/>
                    <a:pt x="93623" y="93623"/>
                  </a:cubicBezTo>
                  <a:cubicBezTo>
                    <a:pt x="153568" y="33677"/>
                    <a:pt x="234872" y="0"/>
                    <a:pt x="31964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805655" y="5105400"/>
            <a:ext cx="673280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escolha para sistemas que precisam escalar horizontalmente sem centralizar a carga de trabalho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6896259" cy="7346627"/>
          </a:xfrm>
          <a:custGeom>
            <a:avLst/>
            <a:gdLst/>
            <a:ahLst/>
            <a:cxnLst/>
            <a:rect r="r" b="b" t="t" l="l"/>
            <a:pathLst>
              <a:path h="7346627" w="6896259">
                <a:moveTo>
                  <a:pt x="0" y="0"/>
                </a:moveTo>
                <a:lnTo>
                  <a:pt x="6896259" y="0"/>
                </a:lnTo>
                <a:lnTo>
                  <a:pt x="6896259" y="7346627"/>
                </a:lnTo>
                <a:lnTo>
                  <a:pt x="0" y="73466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754457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10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Publicador-Inscrito (Pub/Sub)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444002" y="2678265"/>
            <a:ext cx="7055335" cy="2054764"/>
            <a:chOff x="0" y="0"/>
            <a:chExt cx="11500046" cy="33492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329257" y="0"/>
                  </a:moveTo>
                  <a:lnTo>
                    <a:pt x="11170695" y="0"/>
                  </a:lnTo>
                  <a:cubicBezTo>
                    <a:pt x="11258020" y="0"/>
                    <a:pt x="11341767" y="34690"/>
                    <a:pt x="11403515" y="96437"/>
                  </a:cubicBezTo>
                  <a:cubicBezTo>
                    <a:pt x="11465263" y="158185"/>
                    <a:pt x="11499952" y="241933"/>
                    <a:pt x="11499952" y="329257"/>
                  </a:cubicBezTo>
                  <a:lnTo>
                    <a:pt x="11499952" y="3019918"/>
                  </a:lnTo>
                  <a:cubicBezTo>
                    <a:pt x="11499952" y="3107243"/>
                    <a:pt x="11465263" y="3190990"/>
                    <a:pt x="11403515" y="3252738"/>
                  </a:cubicBezTo>
                  <a:cubicBezTo>
                    <a:pt x="11341767" y="3314486"/>
                    <a:pt x="11258020" y="3349175"/>
                    <a:pt x="11170695" y="3349175"/>
                  </a:cubicBezTo>
                  <a:lnTo>
                    <a:pt x="329257" y="3349175"/>
                  </a:lnTo>
                  <a:cubicBezTo>
                    <a:pt x="241933" y="3349175"/>
                    <a:pt x="158185" y="3314486"/>
                    <a:pt x="96437" y="3252738"/>
                  </a:cubicBezTo>
                  <a:cubicBezTo>
                    <a:pt x="34690" y="3190990"/>
                    <a:pt x="0" y="3107243"/>
                    <a:pt x="0" y="3019918"/>
                  </a:cubicBezTo>
                  <a:lnTo>
                    <a:pt x="0" y="329257"/>
                  </a:lnTo>
                  <a:cubicBezTo>
                    <a:pt x="0" y="241933"/>
                    <a:pt x="34690" y="158185"/>
                    <a:pt x="96437" y="96437"/>
                  </a:cubicBezTo>
                  <a:cubicBezTo>
                    <a:pt x="158185" y="34690"/>
                    <a:pt x="241933" y="0"/>
                    <a:pt x="32925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744848" y="2838869"/>
            <a:ext cx="6453645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Os produtores de mensagens(Pub) não enviam mensagens diretamente aos consumidores(Sub), mas por meio de um intermédio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444002" y="4971991"/>
            <a:ext cx="7153041" cy="2655806"/>
            <a:chOff x="0" y="0"/>
            <a:chExt cx="11659305" cy="432892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744848" y="5218804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Distribui as mensagens para todos os inscritos. Útil para sistemas que exigem comunicação assíncrona e alta flexibilidade na adição ou remoção dos componentes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838918"/>
            <a:ext cx="7970986" cy="8448082"/>
          </a:xfrm>
          <a:custGeom>
            <a:avLst/>
            <a:gdLst/>
            <a:ahLst/>
            <a:cxnLst/>
            <a:rect r="r" b="b" t="t" l="l"/>
            <a:pathLst>
              <a:path h="8448082" w="7970986">
                <a:moveTo>
                  <a:pt x="0" y="0"/>
                </a:moveTo>
                <a:lnTo>
                  <a:pt x="7970986" y="0"/>
                </a:lnTo>
                <a:lnTo>
                  <a:pt x="7970986" y="8448082"/>
                </a:lnTo>
                <a:lnTo>
                  <a:pt x="0" y="84480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9137" t="0" r="-48620" b="-4956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31433" y="528228"/>
            <a:ext cx="2907621" cy="1001258"/>
            <a:chOff x="0" y="0"/>
            <a:chExt cx="2907627" cy="100125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1010286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732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1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070"/>
                  </a:lnTo>
                  <a:cubicBezTo>
                    <a:pt x="887477" y="189406"/>
                    <a:pt x="886081" y="236650"/>
                    <a:pt x="855727" y="264209"/>
                  </a:cubicBezTo>
                  <a:lnTo>
                    <a:pt x="542672" y="548054"/>
                  </a:lnTo>
                  <a:lnTo>
                    <a:pt x="748285" y="548054"/>
                  </a:lnTo>
                  <a:cubicBezTo>
                    <a:pt x="806705" y="548054"/>
                    <a:pt x="834899" y="619555"/>
                    <a:pt x="792227" y="659686"/>
                  </a:cubicBezTo>
                  <a:lnTo>
                    <a:pt x="643256" y="799513"/>
                  </a:lnTo>
                  <a:cubicBezTo>
                    <a:pt x="608458" y="832152"/>
                    <a:pt x="562484" y="850313"/>
                    <a:pt x="514732" y="850313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99999" y="66654"/>
              <a:ext cx="900084" cy="871112"/>
            </a:xfrm>
            <a:custGeom>
              <a:avLst/>
              <a:gdLst/>
              <a:ahLst/>
              <a:cxnLst/>
              <a:rect r="r" b="b" t="t" l="l"/>
              <a:pathLst>
                <a:path h="871112" w="900084">
                  <a:moveTo>
                    <a:pt x="525019" y="871112"/>
                  </a:moveTo>
                  <a:lnTo>
                    <a:pt x="66294" y="871112"/>
                  </a:lnTo>
                  <a:cubicBezTo>
                    <a:pt x="29718" y="871112"/>
                    <a:pt x="0" y="841267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3" y="263926"/>
                    <a:pt x="46355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714" y="23897"/>
                  </a:lnTo>
                  <a:cubicBezTo>
                    <a:pt x="640335" y="8403"/>
                    <a:pt x="661036" y="-487"/>
                    <a:pt x="683388" y="21"/>
                  </a:cubicBezTo>
                  <a:cubicBezTo>
                    <a:pt x="705486" y="275"/>
                    <a:pt x="726187" y="9038"/>
                    <a:pt x="741808" y="24913"/>
                  </a:cubicBezTo>
                  <a:lnTo>
                    <a:pt x="876555" y="163215"/>
                  </a:lnTo>
                  <a:cubicBezTo>
                    <a:pt x="892430" y="179471"/>
                    <a:pt x="900685" y="200807"/>
                    <a:pt x="900051" y="223413"/>
                  </a:cubicBezTo>
                  <a:cubicBezTo>
                    <a:pt x="899415" y="246019"/>
                    <a:pt x="889763" y="266847"/>
                    <a:pt x="872872" y="282087"/>
                  </a:cubicBezTo>
                  <a:lnTo>
                    <a:pt x="579502" y="548152"/>
                  </a:lnTo>
                  <a:lnTo>
                    <a:pt x="758572" y="548152"/>
                  </a:lnTo>
                  <a:cubicBezTo>
                    <a:pt x="789941" y="548152"/>
                    <a:pt x="816484" y="566313"/>
                    <a:pt x="828041" y="595396"/>
                  </a:cubicBezTo>
                  <a:cubicBezTo>
                    <a:pt x="839598" y="624479"/>
                    <a:pt x="832486" y="655974"/>
                    <a:pt x="809626" y="677437"/>
                  </a:cubicBezTo>
                  <a:lnTo>
                    <a:pt x="660655" y="817391"/>
                  </a:lnTo>
                  <a:cubicBezTo>
                    <a:pt x="623698" y="852062"/>
                    <a:pt x="575565" y="871112"/>
                    <a:pt x="525146" y="871112"/>
                  </a:cubicBezTo>
                  <a:close/>
                  <a:moveTo>
                    <a:pt x="277369" y="52091"/>
                  </a:moveTo>
                  <a:cubicBezTo>
                    <a:pt x="261494" y="52091"/>
                    <a:pt x="244222" y="57679"/>
                    <a:pt x="229744" y="72665"/>
                  </a:cubicBezTo>
                  <a:lnTo>
                    <a:pt x="60960" y="247416"/>
                  </a:lnTo>
                  <a:cubicBezTo>
                    <a:pt x="34798" y="274467"/>
                    <a:pt x="20447" y="310154"/>
                    <a:pt x="20447" y="347746"/>
                  </a:cubicBezTo>
                  <a:lnTo>
                    <a:pt x="20447" y="804564"/>
                  </a:lnTo>
                  <a:cubicBezTo>
                    <a:pt x="20447" y="829837"/>
                    <a:pt x="41021" y="850411"/>
                    <a:pt x="66167" y="850411"/>
                  </a:cubicBezTo>
                  <a:lnTo>
                    <a:pt x="525019" y="850411"/>
                  </a:lnTo>
                  <a:cubicBezTo>
                    <a:pt x="570231" y="850411"/>
                    <a:pt x="613411" y="833266"/>
                    <a:pt x="646431" y="802278"/>
                  </a:cubicBezTo>
                  <a:lnTo>
                    <a:pt x="795529" y="662324"/>
                  </a:lnTo>
                  <a:cubicBezTo>
                    <a:pt x="815341" y="643782"/>
                    <a:pt x="815341" y="619398"/>
                    <a:pt x="808864" y="602762"/>
                  </a:cubicBezTo>
                  <a:cubicBezTo>
                    <a:pt x="802387" y="586125"/>
                    <a:pt x="785623" y="568472"/>
                    <a:pt x="758445" y="568472"/>
                  </a:cubicBezTo>
                  <a:lnTo>
                    <a:pt x="552832" y="568472"/>
                  </a:lnTo>
                  <a:cubicBezTo>
                    <a:pt x="548641" y="568472"/>
                    <a:pt x="544831" y="565932"/>
                    <a:pt x="543307" y="561868"/>
                  </a:cubicBezTo>
                  <a:cubicBezTo>
                    <a:pt x="541783" y="557804"/>
                    <a:pt x="542926" y="553486"/>
                    <a:pt x="545974" y="550565"/>
                  </a:cubicBezTo>
                  <a:lnTo>
                    <a:pt x="858902" y="266720"/>
                  </a:lnTo>
                  <a:cubicBezTo>
                    <a:pt x="871475" y="255290"/>
                    <a:pt x="878714" y="239669"/>
                    <a:pt x="879222" y="222651"/>
                  </a:cubicBezTo>
                  <a:cubicBezTo>
                    <a:pt x="879730" y="205633"/>
                    <a:pt x="873507" y="189631"/>
                    <a:pt x="861696" y="177439"/>
                  </a:cubicBezTo>
                  <a:lnTo>
                    <a:pt x="726949" y="39391"/>
                  </a:lnTo>
                  <a:cubicBezTo>
                    <a:pt x="715392" y="27453"/>
                    <a:pt x="699771" y="20849"/>
                    <a:pt x="683134" y="20595"/>
                  </a:cubicBezTo>
                  <a:cubicBezTo>
                    <a:pt x="682880" y="20595"/>
                    <a:pt x="682753" y="20595"/>
                    <a:pt x="682626" y="20595"/>
                  </a:cubicBezTo>
                  <a:cubicBezTo>
                    <a:pt x="666243" y="20595"/>
                    <a:pt x="650749" y="26945"/>
                    <a:pt x="639065" y="38629"/>
                  </a:cubicBezTo>
                  <a:lnTo>
                    <a:pt x="327915" y="339110"/>
                  </a:lnTo>
                  <a:cubicBezTo>
                    <a:pt x="324740" y="342158"/>
                    <a:pt x="319914" y="342920"/>
                    <a:pt x="315977" y="340888"/>
                  </a:cubicBezTo>
                  <a:cubicBezTo>
                    <a:pt x="312040" y="338856"/>
                    <a:pt x="309881" y="334538"/>
                    <a:pt x="310643" y="330093"/>
                  </a:cubicBezTo>
                  <a:lnTo>
                    <a:pt x="345314" y="118893"/>
                  </a:lnTo>
                  <a:cubicBezTo>
                    <a:pt x="345060" y="85873"/>
                    <a:pt x="323470" y="65426"/>
                    <a:pt x="303277" y="57298"/>
                  </a:cubicBezTo>
                  <a:cubicBezTo>
                    <a:pt x="295657" y="54123"/>
                    <a:pt x="286767" y="52091"/>
                    <a:pt x="277369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954278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986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2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3" y="160069"/>
                  </a:lnTo>
                  <a:cubicBezTo>
                    <a:pt x="887478" y="189406"/>
                    <a:pt x="886081" y="236650"/>
                    <a:pt x="855728" y="264209"/>
                  </a:cubicBezTo>
                  <a:lnTo>
                    <a:pt x="542672" y="548054"/>
                  </a:lnTo>
                  <a:lnTo>
                    <a:pt x="748286" y="548054"/>
                  </a:lnTo>
                  <a:cubicBezTo>
                    <a:pt x="806706" y="548054"/>
                    <a:pt x="834899" y="619555"/>
                    <a:pt x="792227" y="659686"/>
                  </a:cubicBezTo>
                  <a:lnTo>
                    <a:pt x="643383" y="799513"/>
                  </a:lnTo>
                  <a:cubicBezTo>
                    <a:pt x="608585" y="832152"/>
                    <a:pt x="562738" y="850313"/>
                    <a:pt x="514986" y="850313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43991" y="66654"/>
              <a:ext cx="900211" cy="871112"/>
            </a:xfrm>
            <a:custGeom>
              <a:avLst/>
              <a:gdLst/>
              <a:ahLst/>
              <a:cxnLst/>
              <a:rect r="r" b="b" t="t" l="l"/>
              <a:pathLst>
                <a:path h="871112" w="900211">
                  <a:moveTo>
                    <a:pt x="525273" y="871112"/>
                  </a:moveTo>
                  <a:lnTo>
                    <a:pt x="66294" y="871112"/>
                  </a:lnTo>
                  <a:cubicBezTo>
                    <a:pt x="29845" y="871112"/>
                    <a:pt x="0" y="841394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4" y="263926"/>
                    <a:pt x="46356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841" y="23897"/>
                  </a:lnTo>
                  <a:cubicBezTo>
                    <a:pt x="640462" y="8403"/>
                    <a:pt x="661036" y="-487"/>
                    <a:pt x="683515" y="21"/>
                  </a:cubicBezTo>
                  <a:cubicBezTo>
                    <a:pt x="705740" y="275"/>
                    <a:pt x="726315" y="9038"/>
                    <a:pt x="741936" y="24913"/>
                  </a:cubicBezTo>
                  <a:lnTo>
                    <a:pt x="876683" y="163215"/>
                  </a:lnTo>
                  <a:cubicBezTo>
                    <a:pt x="892558" y="179471"/>
                    <a:pt x="900813" y="200807"/>
                    <a:pt x="900178" y="223413"/>
                  </a:cubicBezTo>
                  <a:cubicBezTo>
                    <a:pt x="899543" y="246019"/>
                    <a:pt x="889891" y="266847"/>
                    <a:pt x="873000" y="282087"/>
                  </a:cubicBezTo>
                  <a:lnTo>
                    <a:pt x="579756" y="548025"/>
                  </a:lnTo>
                  <a:lnTo>
                    <a:pt x="758827" y="548025"/>
                  </a:lnTo>
                  <a:cubicBezTo>
                    <a:pt x="790196" y="548025"/>
                    <a:pt x="816739" y="566186"/>
                    <a:pt x="828296" y="595269"/>
                  </a:cubicBezTo>
                  <a:cubicBezTo>
                    <a:pt x="839852" y="624351"/>
                    <a:pt x="832740" y="655847"/>
                    <a:pt x="809880" y="677310"/>
                  </a:cubicBezTo>
                  <a:lnTo>
                    <a:pt x="660782" y="817264"/>
                  </a:lnTo>
                  <a:cubicBezTo>
                    <a:pt x="623825" y="852062"/>
                    <a:pt x="575692" y="871112"/>
                    <a:pt x="525273" y="871112"/>
                  </a:cubicBezTo>
                  <a:close/>
                  <a:moveTo>
                    <a:pt x="277496" y="52091"/>
                  </a:moveTo>
                  <a:cubicBezTo>
                    <a:pt x="261621" y="52091"/>
                    <a:pt x="244349" y="57679"/>
                    <a:pt x="229871" y="72665"/>
                  </a:cubicBezTo>
                  <a:lnTo>
                    <a:pt x="61341" y="247289"/>
                  </a:lnTo>
                  <a:cubicBezTo>
                    <a:pt x="35179" y="274340"/>
                    <a:pt x="20828" y="310027"/>
                    <a:pt x="20828" y="347619"/>
                  </a:cubicBezTo>
                  <a:lnTo>
                    <a:pt x="20828" y="804564"/>
                  </a:lnTo>
                  <a:cubicBezTo>
                    <a:pt x="20828" y="829837"/>
                    <a:pt x="41275" y="850411"/>
                    <a:pt x="66548" y="850411"/>
                  </a:cubicBezTo>
                  <a:lnTo>
                    <a:pt x="525527" y="850411"/>
                  </a:lnTo>
                  <a:cubicBezTo>
                    <a:pt x="570739" y="850411"/>
                    <a:pt x="613919" y="833266"/>
                    <a:pt x="646939" y="802278"/>
                  </a:cubicBezTo>
                  <a:lnTo>
                    <a:pt x="796037" y="662324"/>
                  </a:lnTo>
                  <a:cubicBezTo>
                    <a:pt x="815849" y="643782"/>
                    <a:pt x="815849" y="619398"/>
                    <a:pt x="809372" y="602762"/>
                  </a:cubicBezTo>
                  <a:cubicBezTo>
                    <a:pt x="802895" y="586125"/>
                    <a:pt x="786132" y="568472"/>
                    <a:pt x="758953" y="568472"/>
                  </a:cubicBezTo>
                  <a:lnTo>
                    <a:pt x="553213" y="568472"/>
                  </a:lnTo>
                  <a:cubicBezTo>
                    <a:pt x="549022" y="568472"/>
                    <a:pt x="545212" y="565932"/>
                    <a:pt x="543688" y="561868"/>
                  </a:cubicBezTo>
                  <a:cubicBezTo>
                    <a:pt x="542164" y="557804"/>
                    <a:pt x="543307" y="553486"/>
                    <a:pt x="546355" y="550565"/>
                  </a:cubicBezTo>
                  <a:lnTo>
                    <a:pt x="859284" y="266720"/>
                  </a:lnTo>
                  <a:cubicBezTo>
                    <a:pt x="871857" y="255290"/>
                    <a:pt x="879096" y="239669"/>
                    <a:pt x="879604" y="222651"/>
                  </a:cubicBezTo>
                  <a:cubicBezTo>
                    <a:pt x="880112" y="205633"/>
                    <a:pt x="873889" y="189631"/>
                    <a:pt x="862078" y="177439"/>
                  </a:cubicBezTo>
                  <a:lnTo>
                    <a:pt x="727077" y="39391"/>
                  </a:lnTo>
                  <a:cubicBezTo>
                    <a:pt x="715520" y="27453"/>
                    <a:pt x="699898" y="20849"/>
                    <a:pt x="683261" y="20595"/>
                  </a:cubicBezTo>
                  <a:cubicBezTo>
                    <a:pt x="683007" y="20595"/>
                    <a:pt x="683007" y="20595"/>
                    <a:pt x="682753" y="20595"/>
                  </a:cubicBezTo>
                  <a:cubicBezTo>
                    <a:pt x="666370" y="20595"/>
                    <a:pt x="650876" y="26945"/>
                    <a:pt x="639192" y="38629"/>
                  </a:cubicBezTo>
                  <a:lnTo>
                    <a:pt x="328042" y="339110"/>
                  </a:lnTo>
                  <a:cubicBezTo>
                    <a:pt x="324867" y="342158"/>
                    <a:pt x="320041" y="342920"/>
                    <a:pt x="316104" y="340888"/>
                  </a:cubicBezTo>
                  <a:cubicBezTo>
                    <a:pt x="312167" y="338856"/>
                    <a:pt x="310008" y="334538"/>
                    <a:pt x="310770" y="330093"/>
                  </a:cubicBezTo>
                  <a:lnTo>
                    <a:pt x="345441" y="118893"/>
                  </a:lnTo>
                  <a:cubicBezTo>
                    <a:pt x="345187" y="85873"/>
                    <a:pt x="323597" y="65426"/>
                    <a:pt x="303404" y="57298"/>
                  </a:cubicBezTo>
                  <a:cubicBezTo>
                    <a:pt x="295911" y="54123"/>
                    <a:pt x="287021" y="52091"/>
                    <a:pt x="277623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73787" y="76912"/>
              <a:ext cx="879446" cy="850567"/>
            </a:xfrm>
            <a:custGeom>
              <a:avLst/>
              <a:gdLst/>
              <a:ahLst/>
              <a:cxnLst/>
              <a:rect r="r" b="b" t="t" l="l"/>
              <a:pathLst>
                <a:path h="850567" w="879446">
                  <a:moveTo>
                    <a:pt x="514859" y="850567"/>
                  </a:moveTo>
                  <a:lnTo>
                    <a:pt x="53975" y="850567"/>
                  </a:lnTo>
                  <a:cubicBezTo>
                    <a:pt x="24130" y="850567"/>
                    <a:pt x="0" y="826310"/>
                    <a:pt x="0" y="796465"/>
                  </a:cubicBezTo>
                  <a:lnTo>
                    <a:pt x="0" y="337488"/>
                  </a:lnTo>
                  <a:cubicBezTo>
                    <a:pt x="0" y="297356"/>
                    <a:pt x="15621" y="258875"/>
                    <a:pt x="43434" y="229919"/>
                  </a:cubicBezTo>
                  <a:lnTo>
                    <a:pt x="212090" y="55295"/>
                  </a:lnTo>
                  <a:cubicBezTo>
                    <a:pt x="260604" y="5257"/>
                    <a:pt x="345314" y="39547"/>
                    <a:pt x="345314" y="109270"/>
                  </a:cubicBezTo>
                  <a:lnTo>
                    <a:pt x="310515" y="321486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196"/>
                  </a:lnTo>
                  <a:cubicBezTo>
                    <a:pt x="887477" y="189533"/>
                    <a:pt x="886080" y="236777"/>
                    <a:pt x="855727" y="264336"/>
                  </a:cubicBezTo>
                  <a:lnTo>
                    <a:pt x="542672" y="548181"/>
                  </a:lnTo>
                  <a:lnTo>
                    <a:pt x="748412" y="548181"/>
                  </a:lnTo>
                  <a:cubicBezTo>
                    <a:pt x="806832" y="548181"/>
                    <a:pt x="835026" y="619682"/>
                    <a:pt x="792354" y="659813"/>
                  </a:cubicBezTo>
                  <a:lnTo>
                    <a:pt x="643256" y="799640"/>
                  </a:lnTo>
                  <a:cubicBezTo>
                    <a:pt x="608458" y="832279"/>
                    <a:pt x="562484" y="850440"/>
                    <a:pt x="514732" y="85044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6675"/>
              <a:ext cx="900084" cy="871091"/>
            </a:xfrm>
            <a:custGeom>
              <a:avLst/>
              <a:gdLst/>
              <a:ahLst/>
              <a:cxnLst/>
              <a:rect r="r" b="b" t="t" l="l"/>
              <a:pathLst>
                <a:path h="871091" w="900084">
                  <a:moveTo>
                    <a:pt x="525146" y="871091"/>
                  </a:moveTo>
                  <a:lnTo>
                    <a:pt x="64262" y="871091"/>
                  </a:lnTo>
                  <a:cubicBezTo>
                    <a:pt x="28829" y="871091"/>
                    <a:pt x="0" y="842135"/>
                    <a:pt x="0" y="806575"/>
                  </a:cubicBezTo>
                  <a:lnTo>
                    <a:pt x="0" y="347725"/>
                  </a:lnTo>
                  <a:cubicBezTo>
                    <a:pt x="0" y="304672"/>
                    <a:pt x="16383" y="263905"/>
                    <a:pt x="46355" y="233044"/>
                  </a:cubicBezTo>
                  <a:lnTo>
                    <a:pt x="215011" y="58420"/>
                  </a:lnTo>
                  <a:cubicBezTo>
                    <a:pt x="240411" y="32131"/>
                    <a:pt x="277241" y="24384"/>
                    <a:pt x="311023" y="37973"/>
                  </a:cubicBezTo>
                  <a:cubicBezTo>
                    <a:pt x="344806" y="51562"/>
                    <a:pt x="365888" y="82931"/>
                    <a:pt x="365888" y="119507"/>
                  </a:cubicBezTo>
                  <a:cubicBezTo>
                    <a:pt x="365888" y="120015"/>
                    <a:pt x="365888" y="120650"/>
                    <a:pt x="365761" y="121158"/>
                  </a:cubicBezTo>
                  <a:lnTo>
                    <a:pt x="336042" y="302640"/>
                  </a:lnTo>
                  <a:lnTo>
                    <a:pt x="624841" y="23749"/>
                  </a:lnTo>
                  <a:cubicBezTo>
                    <a:pt x="640208" y="8509"/>
                    <a:pt x="660782" y="0"/>
                    <a:pt x="682753" y="0"/>
                  </a:cubicBezTo>
                  <a:cubicBezTo>
                    <a:pt x="683007" y="0"/>
                    <a:pt x="683134" y="0"/>
                    <a:pt x="683515" y="0"/>
                  </a:cubicBezTo>
                  <a:cubicBezTo>
                    <a:pt x="705740" y="254"/>
                    <a:pt x="726314" y="9017"/>
                    <a:pt x="741935" y="24892"/>
                  </a:cubicBezTo>
                  <a:lnTo>
                    <a:pt x="876555" y="163194"/>
                  </a:lnTo>
                  <a:cubicBezTo>
                    <a:pt x="892430" y="179450"/>
                    <a:pt x="900685" y="200786"/>
                    <a:pt x="900050" y="223392"/>
                  </a:cubicBezTo>
                  <a:cubicBezTo>
                    <a:pt x="899415" y="245998"/>
                    <a:pt x="889763" y="266826"/>
                    <a:pt x="872999" y="282066"/>
                  </a:cubicBezTo>
                  <a:lnTo>
                    <a:pt x="579629" y="548131"/>
                  </a:lnTo>
                  <a:lnTo>
                    <a:pt x="758572" y="548131"/>
                  </a:lnTo>
                  <a:cubicBezTo>
                    <a:pt x="789941" y="548131"/>
                    <a:pt x="816484" y="566292"/>
                    <a:pt x="828041" y="595375"/>
                  </a:cubicBezTo>
                  <a:cubicBezTo>
                    <a:pt x="839598" y="624457"/>
                    <a:pt x="832486" y="655953"/>
                    <a:pt x="809626" y="677416"/>
                  </a:cubicBezTo>
                  <a:lnTo>
                    <a:pt x="660528" y="817497"/>
                  </a:lnTo>
                  <a:cubicBezTo>
                    <a:pt x="623698" y="852041"/>
                    <a:pt x="575692" y="871091"/>
                    <a:pt x="525019" y="871091"/>
                  </a:cubicBezTo>
                  <a:close/>
                  <a:moveTo>
                    <a:pt x="277368" y="52070"/>
                  </a:moveTo>
                  <a:cubicBezTo>
                    <a:pt x="261493" y="52070"/>
                    <a:pt x="244221" y="57658"/>
                    <a:pt x="229616" y="72644"/>
                  </a:cubicBezTo>
                  <a:lnTo>
                    <a:pt x="61087" y="247395"/>
                  </a:lnTo>
                  <a:cubicBezTo>
                    <a:pt x="34925" y="274446"/>
                    <a:pt x="20574" y="310133"/>
                    <a:pt x="20574" y="347725"/>
                  </a:cubicBezTo>
                  <a:lnTo>
                    <a:pt x="20574" y="806702"/>
                  </a:lnTo>
                  <a:cubicBezTo>
                    <a:pt x="20574" y="830832"/>
                    <a:pt x="40259" y="850517"/>
                    <a:pt x="64262" y="850517"/>
                  </a:cubicBezTo>
                  <a:lnTo>
                    <a:pt x="525146" y="850517"/>
                  </a:lnTo>
                  <a:cubicBezTo>
                    <a:pt x="570358" y="850517"/>
                    <a:pt x="613538" y="833372"/>
                    <a:pt x="646558" y="802384"/>
                  </a:cubicBezTo>
                  <a:lnTo>
                    <a:pt x="795529" y="662557"/>
                  </a:lnTo>
                  <a:cubicBezTo>
                    <a:pt x="815341" y="644015"/>
                    <a:pt x="815341" y="619631"/>
                    <a:pt x="808864" y="602995"/>
                  </a:cubicBezTo>
                  <a:cubicBezTo>
                    <a:pt x="802387" y="586358"/>
                    <a:pt x="785623" y="568705"/>
                    <a:pt x="758445" y="568705"/>
                  </a:cubicBezTo>
                  <a:lnTo>
                    <a:pt x="552959" y="568705"/>
                  </a:lnTo>
                  <a:cubicBezTo>
                    <a:pt x="548768" y="568705"/>
                    <a:pt x="544958" y="566165"/>
                    <a:pt x="543434" y="562101"/>
                  </a:cubicBezTo>
                  <a:cubicBezTo>
                    <a:pt x="541910" y="558037"/>
                    <a:pt x="543053" y="553719"/>
                    <a:pt x="546101" y="550798"/>
                  </a:cubicBezTo>
                  <a:lnTo>
                    <a:pt x="859029" y="266953"/>
                  </a:lnTo>
                  <a:cubicBezTo>
                    <a:pt x="871729" y="255523"/>
                    <a:pt x="878841" y="239902"/>
                    <a:pt x="879349" y="222884"/>
                  </a:cubicBezTo>
                  <a:cubicBezTo>
                    <a:pt x="879857" y="205866"/>
                    <a:pt x="873634" y="189864"/>
                    <a:pt x="861823" y="177672"/>
                  </a:cubicBezTo>
                  <a:lnTo>
                    <a:pt x="726949" y="39370"/>
                  </a:lnTo>
                  <a:cubicBezTo>
                    <a:pt x="715392" y="27432"/>
                    <a:pt x="699771" y="20828"/>
                    <a:pt x="683134" y="20574"/>
                  </a:cubicBezTo>
                  <a:cubicBezTo>
                    <a:pt x="666116" y="20193"/>
                    <a:pt x="650876" y="26797"/>
                    <a:pt x="639065" y="38608"/>
                  </a:cubicBezTo>
                  <a:lnTo>
                    <a:pt x="328042" y="339089"/>
                  </a:lnTo>
                  <a:cubicBezTo>
                    <a:pt x="324866" y="342137"/>
                    <a:pt x="320040" y="342899"/>
                    <a:pt x="316103" y="340867"/>
                  </a:cubicBezTo>
                  <a:cubicBezTo>
                    <a:pt x="312166" y="338835"/>
                    <a:pt x="310007" y="334517"/>
                    <a:pt x="310769" y="330072"/>
                  </a:cubicBezTo>
                  <a:lnTo>
                    <a:pt x="345441" y="118872"/>
                  </a:lnTo>
                  <a:cubicBezTo>
                    <a:pt x="345187" y="85852"/>
                    <a:pt x="323596" y="65405"/>
                    <a:pt x="303403" y="57277"/>
                  </a:cubicBezTo>
                  <a:cubicBezTo>
                    <a:pt x="295783" y="54102"/>
                    <a:pt x="287020" y="52070"/>
                    <a:pt x="277495" y="5207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2778383" cy="873885"/>
            </a:xfrm>
            <a:custGeom>
              <a:avLst/>
              <a:gdLst/>
              <a:ahLst/>
              <a:cxnLst/>
              <a:rect r="r" b="b" t="t" l="l"/>
              <a:pathLst>
                <a:path h="873885" w="2778383">
                  <a:moveTo>
                    <a:pt x="0" y="873885"/>
                  </a:moveTo>
                  <a:lnTo>
                    <a:pt x="2778383" y="873885"/>
                  </a:lnTo>
                  <a:lnTo>
                    <a:pt x="27783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711482" y="-270196"/>
            <a:ext cx="10688182" cy="2331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Qual escolher?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33865" y="2795097"/>
            <a:ext cx="913416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foi apresentado, existem vários tipos de padrões de Arquitetura de Software. Outros além dos citados nesta aula. Então, como escolher um padrão?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33865" y="4796128"/>
            <a:ext cx="913416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Infelizmente não é apenas pegar o modelo que estiver mais em alta. A chance dele ser a escolha correta para o seu problema é bem pequena.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533865" y="6704341"/>
            <a:ext cx="9134161" cy="2552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escolha correta começa pelo entendimento do problema que precisa de uma solução. É necessário ter compreensão do seu modelo de negócio, limitações e vantagens de cada padrão. Além de ter total liberdade de mudar aquilo que não encaixar 100% no seu caso.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5197" y="2488015"/>
            <a:ext cx="2365305" cy="1063019"/>
            <a:chOff x="0" y="0"/>
            <a:chExt cx="2365312" cy="106301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73406" y="74549"/>
              <a:ext cx="2218186" cy="911476"/>
            </a:xfrm>
            <a:custGeom>
              <a:avLst/>
              <a:gdLst/>
              <a:ahLst/>
              <a:cxnLst/>
              <a:rect r="r" b="b" t="t" l="l"/>
              <a:pathLst>
                <a:path h="911476" w="2218186">
                  <a:moveTo>
                    <a:pt x="1761112" y="911475"/>
                  </a:moveTo>
                  <a:lnTo>
                    <a:pt x="457074" y="911475"/>
                  </a:lnTo>
                  <a:cubicBezTo>
                    <a:pt x="204598" y="911475"/>
                    <a:pt x="0" y="707387"/>
                    <a:pt x="0" y="455801"/>
                  </a:cubicBezTo>
                  <a:cubicBezTo>
                    <a:pt x="0" y="204215"/>
                    <a:pt x="204598" y="0"/>
                    <a:pt x="457074" y="0"/>
                  </a:cubicBezTo>
                  <a:lnTo>
                    <a:pt x="1761112" y="0"/>
                  </a:lnTo>
                  <a:cubicBezTo>
                    <a:pt x="2013462" y="0"/>
                    <a:pt x="2218186" y="204088"/>
                    <a:pt x="2218186" y="455801"/>
                  </a:cubicBezTo>
                  <a:cubicBezTo>
                    <a:pt x="2218186" y="707514"/>
                    <a:pt x="2013462" y="911475"/>
                    <a:pt x="1761112" y="911475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4643"/>
              <a:ext cx="2237998" cy="931161"/>
            </a:xfrm>
            <a:custGeom>
              <a:avLst/>
              <a:gdLst/>
              <a:ahLst/>
              <a:cxnLst/>
              <a:rect r="r" b="b" t="t" l="l"/>
              <a:pathLst>
                <a:path h="931161" w="2237998">
                  <a:moveTo>
                    <a:pt x="1771018" y="931160"/>
                  </a:moveTo>
                  <a:lnTo>
                    <a:pt x="466980" y="931160"/>
                  </a:lnTo>
                  <a:cubicBezTo>
                    <a:pt x="209424" y="931160"/>
                    <a:pt x="0" y="722373"/>
                    <a:pt x="0" y="465707"/>
                  </a:cubicBezTo>
                  <a:cubicBezTo>
                    <a:pt x="0" y="209041"/>
                    <a:pt x="209424" y="0"/>
                    <a:pt x="466980" y="0"/>
                  </a:cubicBezTo>
                  <a:lnTo>
                    <a:pt x="1771018" y="0"/>
                  </a:lnTo>
                  <a:cubicBezTo>
                    <a:pt x="2028448" y="0"/>
                    <a:pt x="2237998" y="208787"/>
                    <a:pt x="2237998" y="465580"/>
                  </a:cubicBezTo>
                  <a:cubicBezTo>
                    <a:pt x="2237998" y="722373"/>
                    <a:pt x="2028448" y="931160"/>
                    <a:pt x="1771018" y="931160"/>
                  </a:cubicBezTo>
                  <a:close/>
                  <a:moveTo>
                    <a:pt x="466980" y="19685"/>
                  </a:moveTo>
                  <a:cubicBezTo>
                    <a:pt x="220346" y="19685"/>
                    <a:pt x="19685" y="219709"/>
                    <a:pt x="19685" y="465707"/>
                  </a:cubicBezTo>
                  <a:cubicBezTo>
                    <a:pt x="19685" y="711705"/>
                    <a:pt x="220346" y="911603"/>
                    <a:pt x="466980" y="911603"/>
                  </a:cubicBezTo>
                  <a:lnTo>
                    <a:pt x="1771018" y="911603"/>
                  </a:lnTo>
                  <a:cubicBezTo>
                    <a:pt x="2017526" y="911603"/>
                    <a:pt x="2218186" y="711578"/>
                    <a:pt x="2218186" y="465707"/>
                  </a:cubicBezTo>
                  <a:cubicBezTo>
                    <a:pt x="2218186" y="219836"/>
                    <a:pt x="2017653" y="19685"/>
                    <a:pt x="1771018" y="19685"/>
                  </a:cubicBezTo>
                  <a:lnTo>
                    <a:pt x="466980" y="19685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800228" y="489710"/>
              <a:ext cx="82296" cy="82042"/>
            </a:xfrm>
            <a:custGeom>
              <a:avLst/>
              <a:gdLst/>
              <a:ahLst/>
              <a:cxnLst/>
              <a:rect r="r" b="b" t="t" l="l"/>
              <a:pathLst>
                <a:path h="82042" w="82296">
                  <a:moveTo>
                    <a:pt x="82296" y="41021"/>
                  </a:moveTo>
                  <a:cubicBezTo>
                    <a:pt x="82296" y="46482"/>
                    <a:pt x="81280" y="51689"/>
                    <a:pt x="79121" y="56642"/>
                  </a:cubicBezTo>
                  <a:cubicBezTo>
                    <a:pt x="76962" y="61595"/>
                    <a:pt x="74042" y="66040"/>
                    <a:pt x="70231" y="69977"/>
                  </a:cubicBezTo>
                  <a:cubicBezTo>
                    <a:pt x="66421" y="73914"/>
                    <a:pt x="61976" y="76835"/>
                    <a:pt x="56896" y="78867"/>
                  </a:cubicBezTo>
                  <a:cubicBezTo>
                    <a:pt x="51817" y="80899"/>
                    <a:pt x="46609" y="82042"/>
                    <a:pt x="41148" y="82042"/>
                  </a:cubicBezTo>
                  <a:cubicBezTo>
                    <a:pt x="35687" y="82042"/>
                    <a:pt x="30480" y="81026"/>
                    <a:pt x="25400" y="78867"/>
                  </a:cubicBezTo>
                  <a:cubicBezTo>
                    <a:pt x="20320" y="76708"/>
                    <a:pt x="15875" y="73787"/>
                    <a:pt x="12065" y="69977"/>
                  </a:cubicBezTo>
                  <a:cubicBezTo>
                    <a:pt x="8255" y="66167"/>
                    <a:pt x="5207" y="61722"/>
                    <a:pt x="3175" y="56642"/>
                  </a:cubicBezTo>
                  <a:cubicBezTo>
                    <a:pt x="1143" y="51562"/>
                    <a:pt x="0" y="46355"/>
                    <a:pt x="0" y="41021"/>
                  </a:cubicBezTo>
                  <a:cubicBezTo>
                    <a:pt x="0" y="35687"/>
                    <a:pt x="1016" y="30353"/>
                    <a:pt x="3175" y="25400"/>
                  </a:cubicBezTo>
                  <a:cubicBezTo>
                    <a:pt x="5334" y="20447"/>
                    <a:pt x="8255" y="16002"/>
                    <a:pt x="12065" y="12065"/>
                  </a:cubicBezTo>
                  <a:cubicBezTo>
                    <a:pt x="15875" y="8128"/>
                    <a:pt x="20320" y="5207"/>
                    <a:pt x="25400" y="3175"/>
                  </a:cubicBezTo>
                  <a:cubicBezTo>
                    <a:pt x="30480" y="1143"/>
                    <a:pt x="35687" y="0"/>
                    <a:pt x="41148" y="0"/>
                  </a:cubicBezTo>
                  <a:cubicBezTo>
                    <a:pt x="46609" y="0"/>
                    <a:pt x="51817" y="1016"/>
                    <a:pt x="56896" y="3175"/>
                  </a:cubicBezTo>
                  <a:cubicBezTo>
                    <a:pt x="61976" y="5334"/>
                    <a:pt x="66421" y="8255"/>
                    <a:pt x="70231" y="12065"/>
                  </a:cubicBezTo>
                  <a:cubicBezTo>
                    <a:pt x="74042" y="15875"/>
                    <a:pt x="77089" y="20320"/>
                    <a:pt x="79121" y="25400"/>
                  </a:cubicBezTo>
                  <a:cubicBezTo>
                    <a:pt x="81153" y="30480"/>
                    <a:pt x="82296" y="35687"/>
                    <a:pt x="82296" y="4102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795402" y="484757"/>
              <a:ext cx="92202" cy="91821"/>
            </a:xfrm>
            <a:custGeom>
              <a:avLst/>
              <a:gdLst/>
              <a:ahLst/>
              <a:cxnLst/>
              <a:rect r="r" b="b" t="t" l="l"/>
              <a:pathLst>
                <a:path h="91821" w="92202">
                  <a:moveTo>
                    <a:pt x="46101" y="91821"/>
                  </a:moveTo>
                  <a:cubicBezTo>
                    <a:pt x="20701" y="91821"/>
                    <a:pt x="0" y="71247"/>
                    <a:pt x="0" y="45974"/>
                  </a:cubicBezTo>
                  <a:cubicBezTo>
                    <a:pt x="0" y="20701"/>
                    <a:pt x="20574" y="0"/>
                    <a:pt x="46101" y="0"/>
                  </a:cubicBezTo>
                  <a:cubicBezTo>
                    <a:pt x="71628" y="0"/>
                    <a:pt x="92203" y="20574"/>
                    <a:pt x="92203" y="45974"/>
                  </a:cubicBezTo>
                  <a:cubicBezTo>
                    <a:pt x="92203" y="71374"/>
                    <a:pt x="71501" y="91821"/>
                    <a:pt x="46101" y="91821"/>
                  </a:cubicBezTo>
                  <a:close/>
                  <a:moveTo>
                    <a:pt x="46101" y="9906"/>
                  </a:moveTo>
                  <a:cubicBezTo>
                    <a:pt x="26162" y="9906"/>
                    <a:pt x="9906" y="26035"/>
                    <a:pt x="9906" y="45974"/>
                  </a:cubicBezTo>
                  <a:cubicBezTo>
                    <a:pt x="9906" y="65913"/>
                    <a:pt x="26035" y="82042"/>
                    <a:pt x="46101" y="82042"/>
                  </a:cubicBezTo>
                  <a:cubicBezTo>
                    <a:pt x="66168" y="82042"/>
                    <a:pt x="82297" y="65913"/>
                    <a:pt x="82297" y="45974"/>
                  </a:cubicBezTo>
                  <a:cubicBezTo>
                    <a:pt x="82297" y="26035"/>
                    <a:pt x="66041" y="9906"/>
                    <a:pt x="46101" y="990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812928" y="216661"/>
              <a:ext cx="55753" cy="623568"/>
            </a:xfrm>
            <a:custGeom>
              <a:avLst/>
              <a:gdLst/>
              <a:ahLst/>
              <a:cxnLst/>
              <a:rect r="r" b="b" t="t" l="l"/>
              <a:pathLst>
                <a:path h="623568" w="55753">
                  <a:moveTo>
                    <a:pt x="0" y="622425"/>
                  </a:moveTo>
                  <a:lnTo>
                    <a:pt x="36068" y="0"/>
                  </a:lnTo>
                  <a:lnTo>
                    <a:pt x="55753" y="1143"/>
                  </a:lnTo>
                  <a:lnTo>
                    <a:pt x="19685" y="623568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689230" y="246506"/>
              <a:ext cx="303277" cy="563624"/>
            </a:xfrm>
            <a:custGeom>
              <a:avLst/>
              <a:gdLst/>
              <a:ahLst/>
              <a:cxnLst/>
              <a:rect r="r" b="b" t="t" l="l"/>
              <a:pathLst>
                <a:path h="563624" w="303277">
                  <a:moveTo>
                    <a:pt x="0" y="554607"/>
                  </a:moveTo>
                  <a:lnTo>
                    <a:pt x="285751" y="0"/>
                  </a:lnTo>
                  <a:lnTo>
                    <a:pt x="303277" y="9017"/>
                  </a:lnTo>
                  <a:lnTo>
                    <a:pt x="17526" y="563624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598044" y="316737"/>
              <a:ext cx="485395" cy="423289"/>
            </a:xfrm>
            <a:custGeom>
              <a:avLst/>
              <a:gdLst/>
              <a:ahLst/>
              <a:cxnLst/>
              <a:rect r="r" b="b" t="t" l="l"/>
              <a:pathLst>
                <a:path h="423289" w="485395">
                  <a:moveTo>
                    <a:pt x="0" y="408430"/>
                  </a:moveTo>
                  <a:lnTo>
                    <a:pt x="472441" y="0"/>
                  </a:lnTo>
                  <a:lnTo>
                    <a:pt x="485395" y="14859"/>
                  </a:lnTo>
                  <a:lnTo>
                    <a:pt x="12954" y="42328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1539878" y="424432"/>
              <a:ext cx="601727" cy="208025"/>
            </a:xfrm>
            <a:custGeom>
              <a:avLst/>
              <a:gdLst/>
              <a:ahLst/>
              <a:cxnLst/>
              <a:rect r="r" b="b" t="t" l="l"/>
              <a:pathLst>
                <a:path h="208025" w="601727">
                  <a:moveTo>
                    <a:pt x="0" y="189230"/>
                  </a:moveTo>
                  <a:lnTo>
                    <a:pt x="595758" y="0"/>
                  </a:lnTo>
                  <a:lnTo>
                    <a:pt x="601727" y="18796"/>
                  </a:lnTo>
                  <a:lnTo>
                    <a:pt x="5969" y="208026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527940" y="500378"/>
              <a:ext cx="625349" cy="55753"/>
            </a:xfrm>
            <a:custGeom>
              <a:avLst/>
              <a:gdLst/>
              <a:ahLst/>
              <a:cxnLst/>
              <a:rect r="r" b="b" t="t" l="l"/>
              <a:pathLst>
                <a:path h="55753" w="625349">
                  <a:moveTo>
                    <a:pt x="0" y="19685"/>
                  </a:moveTo>
                  <a:lnTo>
                    <a:pt x="1143" y="0"/>
                  </a:lnTo>
                  <a:lnTo>
                    <a:pt x="625349" y="36068"/>
                  </a:lnTo>
                  <a:lnTo>
                    <a:pt x="624206" y="557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560198" y="373252"/>
              <a:ext cx="561214" cy="310260"/>
            </a:xfrm>
            <a:custGeom>
              <a:avLst/>
              <a:gdLst/>
              <a:ahLst/>
              <a:cxnLst/>
              <a:rect r="r" b="b" t="t" l="l"/>
              <a:pathLst>
                <a:path h="310260" w="561214">
                  <a:moveTo>
                    <a:pt x="0" y="17399"/>
                  </a:moveTo>
                  <a:lnTo>
                    <a:pt x="9271" y="0"/>
                  </a:lnTo>
                  <a:lnTo>
                    <a:pt x="561214" y="292861"/>
                  </a:lnTo>
                  <a:lnTo>
                    <a:pt x="551943" y="31026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628905" y="286003"/>
              <a:ext cx="423800" cy="484503"/>
            </a:xfrm>
            <a:custGeom>
              <a:avLst/>
              <a:gdLst/>
              <a:ahLst/>
              <a:cxnLst/>
              <a:rect r="r" b="b" t="t" l="l"/>
              <a:pathLst>
                <a:path h="484503" w="423800">
                  <a:moveTo>
                    <a:pt x="0" y="12827"/>
                  </a:moveTo>
                  <a:lnTo>
                    <a:pt x="14986" y="0"/>
                  </a:lnTo>
                  <a:lnTo>
                    <a:pt x="423800" y="471676"/>
                  </a:lnTo>
                  <a:lnTo>
                    <a:pt x="408814" y="48450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740665" y="227075"/>
              <a:ext cx="200406" cy="602359"/>
            </a:xfrm>
            <a:custGeom>
              <a:avLst/>
              <a:gdLst/>
              <a:ahLst/>
              <a:cxnLst/>
              <a:rect r="r" b="b" t="t" l="l"/>
              <a:pathLst>
                <a:path h="602359" w="200406">
                  <a:moveTo>
                    <a:pt x="0" y="5715"/>
                  </a:moveTo>
                  <a:lnTo>
                    <a:pt x="18923" y="0"/>
                  </a:lnTo>
                  <a:lnTo>
                    <a:pt x="200406" y="596644"/>
                  </a:lnTo>
                  <a:lnTo>
                    <a:pt x="181483" y="60235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99924" y="244601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10871" y="255650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753873" y="4269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734442" y="6428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4"/>
                    <a:pt x="35687" y="62483"/>
                    <a:pt x="31496" y="62483"/>
                  </a:cubicBezTo>
                  <a:cubicBezTo>
                    <a:pt x="27305" y="62483"/>
                    <a:pt x="23368" y="61722"/>
                    <a:pt x="19431" y="60071"/>
                  </a:cubicBezTo>
                  <a:cubicBezTo>
                    <a:pt x="15494" y="58419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566167" y="780793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351664" y="761489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211836" y="595374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2"/>
                  </a:moveTo>
                  <a:cubicBezTo>
                    <a:pt x="62993" y="35433"/>
                    <a:pt x="62231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1" y="23114"/>
                    <a:pt x="62993" y="27178"/>
                    <a:pt x="62993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231394" y="383285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1"/>
                  </a:moveTo>
                  <a:cubicBezTo>
                    <a:pt x="62993" y="35433"/>
                    <a:pt x="62231" y="39369"/>
                    <a:pt x="60580" y="43179"/>
                  </a:cubicBezTo>
                  <a:cubicBezTo>
                    <a:pt x="58929" y="46989"/>
                    <a:pt x="56770" y="50418"/>
                    <a:pt x="53722" y="53339"/>
                  </a:cubicBezTo>
                  <a:cubicBezTo>
                    <a:pt x="50674" y="56260"/>
                    <a:pt x="47372" y="58546"/>
                    <a:pt x="43562" y="60070"/>
                  </a:cubicBezTo>
                  <a:cubicBezTo>
                    <a:pt x="39752" y="61594"/>
                    <a:pt x="35687" y="62483"/>
                    <a:pt x="31496" y="62483"/>
                  </a:cubicBezTo>
                  <a:cubicBezTo>
                    <a:pt x="27305" y="62483"/>
                    <a:pt x="23368" y="61721"/>
                    <a:pt x="19431" y="60070"/>
                  </a:cubicBezTo>
                  <a:cubicBezTo>
                    <a:pt x="15494" y="58419"/>
                    <a:pt x="12192" y="56260"/>
                    <a:pt x="9271" y="53339"/>
                  </a:cubicBezTo>
                  <a:cubicBezTo>
                    <a:pt x="6350" y="50418"/>
                    <a:pt x="4064" y="46989"/>
                    <a:pt x="2413" y="43179"/>
                  </a:cubicBezTo>
                  <a:cubicBezTo>
                    <a:pt x="762" y="39369"/>
                    <a:pt x="0" y="35305"/>
                    <a:pt x="0" y="31241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2" y="2413"/>
                  </a:cubicBezTo>
                  <a:cubicBezTo>
                    <a:pt x="47499" y="4064"/>
                    <a:pt x="50801" y="6223"/>
                    <a:pt x="53722" y="9144"/>
                  </a:cubicBezTo>
                  <a:cubicBezTo>
                    <a:pt x="56643" y="12065"/>
                    <a:pt x="58929" y="15494"/>
                    <a:pt x="60580" y="19304"/>
                  </a:cubicBezTo>
                  <a:cubicBezTo>
                    <a:pt x="62231" y="23114"/>
                    <a:pt x="62993" y="27178"/>
                    <a:pt x="62993" y="3124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63500" y="63500"/>
              <a:ext cx="2238252" cy="935987"/>
            </a:xfrm>
            <a:custGeom>
              <a:avLst/>
              <a:gdLst/>
              <a:ahLst/>
              <a:cxnLst/>
              <a:rect r="r" b="b" t="t" l="l"/>
              <a:pathLst>
                <a:path h="935987" w="2238252">
                  <a:moveTo>
                    <a:pt x="0" y="935986"/>
                  </a:moveTo>
                  <a:lnTo>
                    <a:pt x="2238252" y="935986"/>
                  </a:lnTo>
                  <a:lnTo>
                    <a:pt x="2238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24" id="24"/>
          <p:cNvSpPr/>
          <p:nvPr/>
        </p:nvSpPr>
        <p:spPr>
          <a:xfrm flipH="false" flipV="false" rot="0">
            <a:off x="7331129" y="1535645"/>
            <a:ext cx="12251316" cy="9214740"/>
          </a:xfrm>
          <a:custGeom>
            <a:avLst/>
            <a:gdLst/>
            <a:ahLst/>
            <a:cxnLst/>
            <a:rect r="r" b="b" t="t" l="l"/>
            <a:pathLst>
              <a:path h="9214740" w="12251316">
                <a:moveTo>
                  <a:pt x="0" y="0"/>
                </a:moveTo>
                <a:lnTo>
                  <a:pt x="12251316" y="0"/>
                </a:lnTo>
                <a:lnTo>
                  <a:pt x="12251316" y="9214740"/>
                </a:lnTo>
                <a:lnTo>
                  <a:pt x="0" y="9214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9315631" y="4090378"/>
            <a:ext cx="1449457" cy="1250699"/>
            <a:chOff x="0" y="0"/>
            <a:chExt cx="1449451" cy="12506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271525" y="69723"/>
              <a:ext cx="907285" cy="907031"/>
            </a:xfrm>
            <a:custGeom>
              <a:avLst/>
              <a:gdLst/>
              <a:ahLst/>
              <a:cxnLst/>
              <a:rect r="r" b="b" t="t" l="l"/>
              <a:pathLst>
                <a:path h="907031" w="907285">
                  <a:moveTo>
                    <a:pt x="907285" y="453516"/>
                  </a:moveTo>
                  <a:cubicBezTo>
                    <a:pt x="907285" y="468374"/>
                    <a:pt x="906523" y="483233"/>
                    <a:pt x="905126" y="497965"/>
                  </a:cubicBezTo>
                  <a:cubicBezTo>
                    <a:pt x="903729" y="512697"/>
                    <a:pt x="901443" y="527429"/>
                    <a:pt x="898649" y="542034"/>
                  </a:cubicBezTo>
                  <a:cubicBezTo>
                    <a:pt x="895855" y="556639"/>
                    <a:pt x="892172" y="570990"/>
                    <a:pt x="887854" y="585214"/>
                  </a:cubicBezTo>
                  <a:cubicBezTo>
                    <a:pt x="883536" y="599438"/>
                    <a:pt x="878583" y="613408"/>
                    <a:pt x="872868" y="627124"/>
                  </a:cubicBezTo>
                  <a:cubicBezTo>
                    <a:pt x="867153" y="640840"/>
                    <a:pt x="860803" y="654302"/>
                    <a:pt x="853818" y="667383"/>
                  </a:cubicBezTo>
                  <a:cubicBezTo>
                    <a:pt x="846833" y="680464"/>
                    <a:pt x="839213" y="693164"/>
                    <a:pt x="830958" y="705610"/>
                  </a:cubicBezTo>
                  <a:cubicBezTo>
                    <a:pt x="822703" y="718056"/>
                    <a:pt x="813813" y="729867"/>
                    <a:pt x="804415" y="741297"/>
                  </a:cubicBezTo>
                  <a:cubicBezTo>
                    <a:pt x="795017" y="752727"/>
                    <a:pt x="784984" y="763776"/>
                    <a:pt x="774570" y="774317"/>
                  </a:cubicBezTo>
                  <a:cubicBezTo>
                    <a:pt x="764156" y="784857"/>
                    <a:pt x="753107" y="794763"/>
                    <a:pt x="741550" y="804161"/>
                  </a:cubicBezTo>
                  <a:cubicBezTo>
                    <a:pt x="729993" y="813560"/>
                    <a:pt x="718182" y="822449"/>
                    <a:pt x="705736" y="830704"/>
                  </a:cubicBezTo>
                  <a:cubicBezTo>
                    <a:pt x="693290" y="838959"/>
                    <a:pt x="680717" y="846579"/>
                    <a:pt x="667509" y="853564"/>
                  </a:cubicBezTo>
                  <a:cubicBezTo>
                    <a:pt x="654302" y="860549"/>
                    <a:pt x="640966" y="866899"/>
                    <a:pt x="627251" y="872614"/>
                  </a:cubicBezTo>
                  <a:cubicBezTo>
                    <a:pt x="613535" y="878329"/>
                    <a:pt x="599565" y="883282"/>
                    <a:pt x="585341" y="887600"/>
                  </a:cubicBezTo>
                  <a:cubicBezTo>
                    <a:pt x="571117" y="891918"/>
                    <a:pt x="556766" y="895474"/>
                    <a:pt x="542161" y="898395"/>
                  </a:cubicBezTo>
                  <a:cubicBezTo>
                    <a:pt x="527556" y="901316"/>
                    <a:pt x="512951" y="903475"/>
                    <a:pt x="498092" y="904872"/>
                  </a:cubicBezTo>
                  <a:cubicBezTo>
                    <a:pt x="483233" y="906269"/>
                    <a:pt x="468501" y="907031"/>
                    <a:pt x="453642" y="907031"/>
                  </a:cubicBezTo>
                  <a:cubicBezTo>
                    <a:pt x="438783" y="907031"/>
                    <a:pt x="423924" y="906269"/>
                    <a:pt x="409192" y="904872"/>
                  </a:cubicBezTo>
                  <a:cubicBezTo>
                    <a:pt x="394460" y="903475"/>
                    <a:pt x="379729" y="901189"/>
                    <a:pt x="365124" y="898395"/>
                  </a:cubicBezTo>
                  <a:cubicBezTo>
                    <a:pt x="350519" y="895601"/>
                    <a:pt x="336168" y="891918"/>
                    <a:pt x="321944" y="887600"/>
                  </a:cubicBezTo>
                  <a:cubicBezTo>
                    <a:pt x="307720" y="883282"/>
                    <a:pt x="293750" y="878329"/>
                    <a:pt x="280034" y="872614"/>
                  </a:cubicBezTo>
                  <a:cubicBezTo>
                    <a:pt x="266318" y="866899"/>
                    <a:pt x="252856" y="860549"/>
                    <a:pt x="239775" y="853564"/>
                  </a:cubicBezTo>
                  <a:cubicBezTo>
                    <a:pt x="226694" y="846579"/>
                    <a:pt x="213994" y="838959"/>
                    <a:pt x="201548" y="830704"/>
                  </a:cubicBezTo>
                  <a:cubicBezTo>
                    <a:pt x="189102" y="822449"/>
                    <a:pt x="177291" y="813560"/>
                    <a:pt x="165734" y="804161"/>
                  </a:cubicBezTo>
                  <a:cubicBezTo>
                    <a:pt x="154177" y="794763"/>
                    <a:pt x="143255" y="784730"/>
                    <a:pt x="132714" y="774317"/>
                  </a:cubicBezTo>
                  <a:cubicBezTo>
                    <a:pt x="122174" y="763903"/>
                    <a:pt x="112268" y="752854"/>
                    <a:pt x="102870" y="741297"/>
                  </a:cubicBezTo>
                  <a:cubicBezTo>
                    <a:pt x="93472" y="729740"/>
                    <a:pt x="84582" y="717929"/>
                    <a:pt x="76327" y="705610"/>
                  </a:cubicBezTo>
                  <a:cubicBezTo>
                    <a:pt x="68072" y="693291"/>
                    <a:pt x="60452" y="680591"/>
                    <a:pt x="53467" y="667383"/>
                  </a:cubicBezTo>
                  <a:cubicBezTo>
                    <a:pt x="46482" y="654175"/>
                    <a:pt x="40132" y="640840"/>
                    <a:pt x="34417" y="627124"/>
                  </a:cubicBezTo>
                  <a:cubicBezTo>
                    <a:pt x="28702" y="613408"/>
                    <a:pt x="23749" y="599438"/>
                    <a:pt x="19431" y="585214"/>
                  </a:cubicBezTo>
                  <a:cubicBezTo>
                    <a:pt x="15113" y="570990"/>
                    <a:pt x="11557" y="556639"/>
                    <a:pt x="8636" y="542034"/>
                  </a:cubicBezTo>
                  <a:cubicBezTo>
                    <a:pt x="5715" y="527429"/>
                    <a:pt x="3556" y="512824"/>
                    <a:pt x="2159" y="497965"/>
                  </a:cubicBezTo>
                  <a:cubicBezTo>
                    <a:pt x="762" y="483106"/>
                    <a:pt x="0" y="468374"/>
                    <a:pt x="0" y="453516"/>
                  </a:cubicBezTo>
                  <a:cubicBezTo>
                    <a:pt x="0" y="438657"/>
                    <a:pt x="762" y="423798"/>
                    <a:pt x="2159" y="409066"/>
                  </a:cubicBezTo>
                  <a:cubicBezTo>
                    <a:pt x="3556" y="394334"/>
                    <a:pt x="5842" y="379602"/>
                    <a:pt x="8636" y="364997"/>
                  </a:cubicBezTo>
                  <a:cubicBezTo>
                    <a:pt x="11430" y="350392"/>
                    <a:pt x="15113" y="336041"/>
                    <a:pt x="19431" y="321817"/>
                  </a:cubicBezTo>
                  <a:cubicBezTo>
                    <a:pt x="23749" y="307593"/>
                    <a:pt x="28702" y="293623"/>
                    <a:pt x="34417" y="279907"/>
                  </a:cubicBezTo>
                  <a:cubicBezTo>
                    <a:pt x="40132" y="266191"/>
                    <a:pt x="46482" y="252729"/>
                    <a:pt x="53467" y="239648"/>
                  </a:cubicBezTo>
                  <a:cubicBezTo>
                    <a:pt x="60452" y="226567"/>
                    <a:pt x="68072" y="213867"/>
                    <a:pt x="76327" y="201421"/>
                  </a:cubicBezTo>
                  <a:cubicBezTo>
                    <a:pt x="84582" y="188975"/>
                    <a:pt x="93472" y="177164"/>
                    <a:pt x="102870" y="165734"/>
                  </a:cubicBezTo>
                  <a:cubicBezTo>
                    <a:pt x="112268" y="154304"/>
                    <a:pt x="122301" y="143255"/>
                    <a:pt x="132714" y="132714"/>
                  </a:cubicBezTo>
                  <a:cubicBezTo>
                    <a:pt x="143128" y="122173"/>
                    <a:pt x="154177" y="112267"/>
                    <a:pt x="165734" y="102870"/>
                  </a:cubicBezTo>
                  <a:cubicBezTo>
                    <a:pt x="177291" y="93472"/>
                    <a:pt x="189102" y="84582"/>
                    <a:pt x="201548" y="76327"/>
                  </a:cubicBezTo>
                  <a:cubicBezTo>
                    <a:pt x="213994" y="68072"/>
                    <a:pt x="226567" y="60452"/>
                    <a:pt x="239775" y="53467"/>
                  </a:cubicBezTo>
                  <a:cubicBezTo>
                    <a:pt x="252983" y="46482"/>
                    <a:pt x="266318" y="40132"/>
                    <a:pt x="280034" y="34417"/>
                  </a:cubicBezTo>
                  <a:cubicBezTo>
                    <a:pt x="293750" y="28702"/>
                    <a:pt x="307720" y="23749"/>
                    <a:pt x="321944" y="19431"/>
                  </a:cubicBezTo>
                  <a:cubicBezTo>
                    <a:pt x="336168" y="15113"/>
                    <a:pt x="350519" y="11557"/>
                    <a:pt x="365124" y="8636"/>
                  </a:cubicBezTo>
                  <a:cubicBezTo>
                    <a:pt x="379729" y="5715"/>
                    <a:pt x="394333" y="3556"/>
                    <a:pt x="409192" y="2159"/>
                  </a:cubicBezTo>
                  <a:cubicBezTo>
                    <a:pt x="424051" y="762"/>
                    <a:pt x="438783" y="0"/>
                    <a:pt x="453642" y="0"/>
                  </a:cubicBezTo>
                  <a:cubicBezTo>
                    <a:pt x="468501" y="0"/>
                    <a:pt x="483360" y="762"/>
                    <a:pt x="498092" y="2159"/>
                  </a:cubicBezTo>
                  <a:cubicBezTo>
                    <a:pt x="512824" y="3556"/>
                    <a:pt x="527556" y="5842"/>
                    <a:pt x="542161" y="8636"/>
                  </a:cubicBezTo>
                  <a:cubicBezTo>
                    <a:pt x="556766" y="11430"/>
                    <a:pt x="571117" y="15113"/>
                    <a:pt x="585341" y="19431"/>
                  </a:cubicBezTo>
                  <a:cubicBezTo>
                    <a:pt x="599565" y="23749"/>
                    <a:pt x="613535" y="28702"/>
                    <a:pt x="627251" y="34417"/>
                  </a:cubicBezTo>
                  <a:cubicBezTo>
                    <a:pt x="640966" y="40132"/>
                    <a:pt x="654429" y="46482"/>
                    <a:pt x="667509" y="53467"/>
                  </a:cubicBezTo>
                  <a:cubicBezTo>
                    <a:pt x="680590" y="60452"/>
                    <a:pt x="693290" y="68072"/>
                    <a:pt x="705736" y="76327"/>
                  </a:cubicBezTo>
                  <a:cubicBezTo>
                    <a:pt x="718182" y="84582"/>
                    <a:pt x="729993" y="93472"/>
                    <a:pt x="741550" y="102870"/>
                  </a:cubicBezTo>
                  <a:cubicBezTo>
                    <a:pt x="753107" y="112267"/>
                    <a:pt x="764029" y="122300"/>
                    <a:pt x="774570" y="132714"/>
                  </a:cubicBezTo>
                  <a:cubicBezTo>
                    <a:pt x="785111" y="143128"/>
                    <a:pt x="795017" y="154177"/>
                    <a:pt x="804415" y="165734"/>
                  </a:cubicBezTo>
                  <a:cubicBezTo>
                    <a:pt x="813813" y="177291"/>
                    <a:pt x="822703" y="189102"/>
                    <a:pt x="830958" y="201421"/>
                  </a:cubicBezTo>
                  <a:cubicBezTo>
                    <a:pt x="839213" y="213740"/>
                    <a:pt x="846833" y="226440"/>
                    <a:pt x="853818" y="239648"/>
                  </a:cubicBezTo>
                  <a:cubicBezTo>
                    <a:pt x="860803" y="252856"/>
                    <a:pt x="867153" y="266191"/>
                    <a:pt x="872868" y="279907"/>
                  </a:cubicBezTo>
                  <a:cubicBezTo>
                    <a:pt x="878583" y="293623"/>
                    <a:pt x="883536" y="307593"/>
                    <a:pt x="887854" y="321817"/>
                  </a:cubicBezTo>
                  <a:cubicBezTo>
                    <a:pt x="892172" y="336041"/>
                    <a:pt x="895727" y="350392"/>
                    <a:pt x="898649" y="364997"/>
                  </a:cubicBezTo>
                  <a:cubicBezTo>
                    <a:pt x="901570" y="379602"/>
                    <a:pt x="903729" y="394207"/>
                    <a:pt x="905126" y="409066"/>
                  </a:cubicBezTo>
                  <a:cubicBezTo>
                    <a:pt x="906523" y="423925"/>
                    <a:pt x="907285" y="438657"/>
                    <a:pt x="907285" y="453516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265429" y="63500"/>
              <a:ext cx="919731" cy="919477"/>
            </a:xfrm>
            <a:custGeom>
              <a:avLst/>
              <a:gdLst/>
              <a:ahLst/>
              <a:cxnLst/>
              <a:rect r="r" b="b" t="t" l="l"/>
              <a:pathLst>
                <a:path h="919477" w="919731">
                  <a:moveTo>
                    <a:pt x="459865" y="919477"/>
                  </a:moveTo>
                  <a:cubicBezTo>
                    <a:pt x="206374" y="919477"/>
                    <a:pt x="0" y="713230"/>
                    <a:pt x="0" y="459739"/>
                  </a:cubicBezTo>
                  <a:cubicBezTo>
                    <a:pt x="0" y="206247"/>
                    <a:pt x="206374" y="0"/>
                    <a:pt x="459865" y="0"/>
                  </a:cubicBezTo>
                  <a:cubicBezTo>
                    <a:pt x="713356" y="0"/>
                    <a:pt x="919731" y="206247"/>
                    <a:pt x="919731" y="459739"/>
                  </a:cubicBezTo>
                  <a:cubicBezTo>
                    <a:pt x="919731" y="713230"/>
                    <a:pt x="713356" y="919477"/>
                    <a:pt x="459865" y="919477"/>
                  </a:cubicBezTo>
                  <a:close/>
                  <a:moveTo>
                    <a:pt x="459865" y="12573"/>
                  </a:moveTo>
                  <a:cubicBezTo>
                    <a:pt x="213232" y="12573"/>
                    <a:pt x="12573" y="213232"/>
                    <a:pt x="12573" y="459738"/>
                  </a:cubicBezTo>
                  <a:cubicBezTo>
                    <a:pt x="12573" y="706245"/>
                    <a:pt x="213232" y="906904"/>
                    <a:pt x="459865" y="906904"/>
                  </a:cubicBezTo>
                  <a:cubicBezTo>
                    <a:pt x="706498" y="906904"/>
                    <a:pt x="907158" y="706372"/>
                    <a:pt x="907158" y="459739"/>
                  </a:cubicBezTo>
                  <a:cubicBezTo>
                    <a:pt x="907158" y="213105"/>
                    <a:pt x="706498" y="12573"/>
                    <a:pt x="459865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452118" y="244220"/>
              <a:ext cx="546860" cy="546860"/>
            </a:xfrm>
            <a:custGeom>
              <a:avLst/>
              <a:gdLst/>
              <a:ahLst/>
              <a:cxnLst/>
              <a:rect r="r" b="b" t="t" l="l"/>
              <a:pathLst>
                <a:path h="546860" w="546860">
                  <a:moveTo>
                    <a:pt x="546860" y="273430"/>
                  </a:moveTo>
                  <a:cubicBezTo>
                    <a:pt x="546860" y="282447"/>
                    <a:pt x="546479" y="291337"/>
                    <a:pt x="545590" y="300227"/>
                  </a:cubicBezTo>
                  <a:cubicBezTo>
                    <a:pt x="544701" y="309117"/>
                    <a:pt x="543431" y="318007"/>
                    <a:pt x="541653" y="326770"/>
                  </a:cubicBezTo>
                  <a:cubicBezTo>
                    <a:pt x="539875" y="335533"/>
                    <a:pt x="537716" y="344296"/>
                    <a:pt x="535176" y="352805"/>
                  </a:cubicBezTo>
                  <a:cubicBezTo>
                    <a:pt x="532636" y="361314"/>
                    <a:pt x="529588" y="369823"/>
                    <a:pt x="526159" y="378078"/>
                  </a:cubicBezTo>
                  <a:cubicBezTo>
                    <a:pt x="522730" y="386333"/>
                    <a:pt x="518920" y="394461"/>
                    <a:pt x="514729" y="402335"/>
                  </a:cubicBezTo>
                  <a:cubicBezTo>
                    <a:pt x="510538" y="410209"/>
                    <a:pt x="505839" y="417956"/>
                    <a:pt x="500886" y="425322"/>
                  </a:cubicBezTo>
                  <a:cubicBezTo>
                    <a:pt x="495933" y="432688"/>
                    <a:pt x="490599" y="439927"/>
                    <a:pt x="484884" y="446912"/>
                  </a:cubicBezTo>
                  <a:cubicBezTo>
                    <a:pt x="479170" y="453897"/>
                    <a:pt x="473201" y="460501"/>
                    <a:pt x="466851" y="466851"/>
                  </a:cubicBezTo>
                  <a:cubicBezTo>
                    <a:pt x="460501" y="473201"/>
                    <a:pt x="453897" y="479170"/>
                    <a:pt x="446912" y="484885"/>
                  </a:cubicBezTo>
                  <a:cubicBezTo>
                    <a:pt x="439927" y="490600"/>
                    <a:pt x="432815" y="495934"/>
                    <a:pt x="425322" y="500887"/>
                  </a:cubicBezTo>
                  <a:cubicBezTo>
                    <a:pt x="417829" y="505840"/>
                    <a:pt x="410209" y="510412"/>
                    <a:pt x="402335" y="514730"/>
                  </a:cubicBezTo>
                  <a:cubicBezTo>
                    <a:pt x="394461" y="519048"/>
                    <a:pt x="386333" y="522731"/>
                    <a:pt x="378078" y="526160"/>
                  </a:cubicBezTo>
                  <a:cubicBezTo>
                    <a:pt x="369823" y="529589"/>
                    <a:pt x="361314" y="532637"/>
                    <a:pt x="352805" y="535177"/>
                  </a:cubicBezTo>
                  <a:cubicBezTo>
                    <a:pt x="344296" y="537717"/>
                    <a:pt x="335533" y="540003"/>
                    <a:pt x="326770" y="541654"/>
                  </a:cubicBezTo>
                  <a:cubicBezTo>
                    <a:pt x="318007" y="543305"/>
                    <a:pt x="309117" y="544702"/>
                    <a:pt x="300227" y="545591"/>
                  </a:cubicBezTo>
                  <a:cubicBezTo>
                    <a:pt x="291337" y="546480"/>
                    <a:pt x="282320" y="546861"/>
                    <a:pt x="273430" y="546861"/>
                  </a:cubicBezTo>
                  <a:cubicBezTo>
                    <a:pt x="264540" y="546861"/>
                    <a:pt x="255523" y="546480"/>
                    <a:pt x="246633" y="545591"/>
                  </a:cubicBezTo>
                  <a:cubicBezTo>
                    <a:pt x="237743" y="544702"/>
                    <a:pt x="228853" y="543432"/>
                    <a:pt x="220090" y="541654"/>
                  </a:cubicBezTo>
                  <a:cubicBezTo>
                    <a:pt x="211328" y="539876"/>
                    <a:pt x="202565" y="537717"/>
                    <a:pt x="194056" y="535177"/>
                  </a:cubicBezTo>
                  <a:cubicBezTo>
                    <a:pt x="185547" y="532637"/>
                    <a:pt x="177038" y="529589"/>
                    <a:pt x="168783" y="526160"/>
                  </a:cubicBezTo>
                  <a:cubicBezTo>
                    <a:pt x="160528" y="522731"/>
                    <a:pt x="152400" y="518921"/>
                    <a:pt x="144526" y="514730"/>
                  </a:cubicBezTo>
                  <a:cubicBezTo>
                    <a:pt x="136652" y="510539"/>
                    <a:pt x="128905" y="505967"/>
                    <a:pt x="121539" y="500887"/>
                  </a:cubicBezTo>
                  <a:cubicBezTo>
                    <a:pt x="114173" y="495807"/>
                    <a:pt x="106934" y="490600"/>
                    <a:pt x="99949" y="484885"/>
                  </a:cubicBezTo>
                  <a:cubicBezTo>
                    <a:pt x="92964" y="479170"/>
                    <a:pt x="86360" y="473201"/>
                    <a:pt x="80010" y="466851"/>
                  </a:cubicBezTo>
                  <a:cubicBezTo>
                    <a:pt x="73660" y="460501"/>
                    <a:pt x="67691" y="453897"/>
                    <a:pt x="61976" y="446912"/>
                  </a:cubicBezTo>
                  <a:cubicBezTo>
                    <a:pt x="56261" y="439927"/>
                    <a:pt x="50927" y="432815"/>
                    <a:pt x="45974" y="425322"/>
                  </a:cubicBezTo>
                  <a:cubicBezTo>
                    <a:pt x="41021" y="417829"/>
                    <a:pt x="36449" y="410209"/>
                    <a:pt x="32131" y="402335"/>
                  </a:cubicBezTo>
                  <a:cubicBezTo>
                    <a:pt x="27813" y="394461"/>
                    <a:pt x="24130" y="386333"/>
                    <a:pt x="20701" y="378078"/>
                  </a:cubicBezTo>
                  <a:cubicBezTo>
                    <a:pt x="17272" y="369823"/>
                    <a:pt x="14224" y="361314"/>
                    <a:pt x="11684" y="352805"/>
                  </a:cubicBezTo>
                  <a:cubicBezTo>
                    <a:pt x="9144" y="344296"/>
                    <a:pt x="6858" y="335533"/>
                    <a:pt x="5207" y="326770"/>
                  </a:cubicBezTo>
                  <a:cubicBezTo>
                    <a:pt x="3556" y="318007"/>
                    <a:pt x="2159" y="309117"/>
                    <a:pt x="1270" y="300227"/>
                  </a:cubicBezTo>
                  <a:cubicBezTo>
                    <a:pt x="381" y="291337"/>
                    <a:pt x="0" y="282320"/>
                    <a:pt x="0" y="273430"/>
                  </a:cubicBezTo>
                  <a:cubicBezTo>
                    <a:pt x="0" y="264541"/>
                    <a:pt x="381" y="255524"/>
                    <a:pt x="1270" y="246634"/>
                  </a:cubicBezTo>
                  <a:cubicBezTo>
                    <a:pt x="2159" y="237744"/>
                    <a:pt x="3429" y="228854"/>
                    <a:pt x="5207" y="220091"/>
                  </a:cubicBezTo>
                  <a:cubicBezTo>
                    <a:pt x="6985" y="211328"/>
                    <a:pt x="9144" y="202565"/>
                    <a:pt x="11684" y="194056"/>
                  </a:cubicBezTo>
                  <a:cubicBezTo>
                    <a:pt x="14224" y="185547"/>
                    <a:pt x="17272" y="177038"/>
                    <a:pt x="20701" y="168783"/>
                  </a:cubicBezTo>
                  <a:cubicBezTo>
                    <a:pt x="24130" y="160528"/>
                    <a:pt x="27940" y="152400"/>
                    <a:pt x="32131" y="144526"/>
                  </a:cubicBezTo>
                  <a:cubicBezTo>
                    <a:pt x="36322" y="136652"/>
                    <a:pt x="41021" y="128905"/>
                    <a:pt x="45974" y="121539"/>
                  </a:cubicBezTo>
                  <a:cubicBezTo>
                    <a:pt x="50927" y="114173"/>
                    <a:pt x="56261" y="106934"/>
                    <a:pt x="61976" y="99949"/>
                  </a:cubicBezTo>
                  <a:cubicBezTo>
                    <a:pt x="67691" y="92964"/>
                    <a:pt x="73660" y="86360"/>
                    <a:pt x="80010" y="80010"/>
                  </a:cubicBezTo>
                  <a:cubicBezTo>
                    <a:pt x="86360" y="73660"/>
                    <a:pt x="92964" y="67691"/>
                    <a:pt x="99949" y="61976"/>
                  </a:cubicBezTo>
                  <a:cubicBezTo>
                    <a:pt x="106934" y="56261"/>
                    <a:pt x="114046" y="50927"/>
                    <a:pt x="121539" y="45974"/>
                  </a:cubicBezTo>
                  <a:cubicBezTo>
                    <a:pt x="129032" y="41021"/>
                    <a:pt x="136652" y="36449"/>
                    <a:pt x="144526" y="32131"/>
                  </a:cubicBezTo>
                  <a:cubicBezTo>
                    <a:pt x="152400" y="27813"/>
                    <a:pt x="160528" y="24130"/>
                    <a:pt x="168783" y="20701"/>
                  </a:cubicBezTo>
                  <a:cubicBezTo>
                    <a:pt x="177038" y="17272"/>
                    <a:pt x="185547" y="14224"/>
                    <a:pt x="194056" y="11684"/>
                  </a:cubicBezTo>
                  <a:cubicBezTo>
                    <a:pt x="202565" y="9144"/>
                    <a:pt x="211328" y="6858"/>
                    <a:pt x="220090" y="5207"/>
                  </a:cubicBezTo>
                  <a:cubicBezTo>
                    <a:pt x="228853" y="3556"/>
                    <a:pt x="237743" y="2159"/>
                    <a:pt x="246633" y="1270"/>
                  </a:cubicBezTo>
                  <a:cubicBezTo>
                    <a:pt x="255523" y="381"/>
                    <a:pt x="264540" y="0"/>
                    <a:pt x="273430" y="0"/>
                  </a:cubicBezTo>
                  <a:cubicBezTo>
                    <a:pt x="282320" y="0"/>
                    <a:pt x="291337" y="381"/>
                    <a:pt x="300227" y="1270"/>
                  </a:cubicBezTo>
                  <a:cubicBezTo>
                    <a:pt x="309117" y="2159"/>
                    <a:pt x="318007" y="3429"/>
                    <a:pt x="326770" y="5207"/>
                  </a:cubicBezTo>
                  <a:cubicBezTo>
                    <a:pt x="335533" y="6985"/>
                    <a:pt x="344296" y="9144"/>
                    <a:pt x="352805" y="11684"/>
                  </a:cubicBezTo>
                  <a:cubicBezTo>
                    <a:pt x="361314" y="14224"/>
                    <a:pt x="369823" y="17272"/>
                    <a:pt x="378078" y="20701"/>
                  </a:cubicBezTo>
                  <a:cubicBezTo>
                    <a:pt x="386333" y="24130"/>
                    <a:pt x="394461" y="27940"/>
                    <a:pt x="402335" y="32131"/>
                  </a:cubicBezTo>
                  <a:cubicBezTo>
                    <a:pt x="410209" y="36322"/>
                    <a:pt x="417956" y="40894"/>
                    <a:pt x="425322" y="45974"/>
                  </a:cubicBezTo>
                  <a:cubicBezTo>
                    <a:pt x="432688" y="51054"/>
                    <a:pt x="439927" y="56261"/>
                    <a:pt x="446912" y="61976"/>
                  </a:cubicBezTo>
                  <a:cubicBezTo>
                    <a:pt x="453897" y="67691"/>
                    <a:pt x="460501" y="73660"/>
                    <a:pt x="466851" y="80010"/>
                  </a:cubicBezTo>
                  <a:cubicBezTo>
                    <a:pt x="473201" y="86360"/>
                    <a:pt x="479170" y="92964"/>
                    <a:pt x="484884" y="99949"/>
                  </a:cubicBezTo>
                  <a:cubicBezTo>
                    <a:pt x="490599" y="106934"/>
                    <a:pt x="495933" y="114046"/>
                    <a:pt x="500886" y="121539"/>
                  </a:cubicBezTo>
                  <a:cubicBezTo>
                    <a:pt x="505839" y="129032"/>
                    <a:pt x="510411" y="136652"/>
                    <a:pt x="514729" y="144526"/>
                  </a:cubicBezTo>
                  <a:cubicBezTo>
                    <a:pt x="519047" y="152400"/>
                    <a:pt x="522730" y="160528"/>
                    <a:pt x="526159" y="168783"/>
                  </a:cubicBezTo>
                  <a:cubicBezTo>
                    <a:pt x="529588" y="177038"/>
                    <a:pt x="532636" y="185547"/>
                    <a:pt x="535176" y="194056"/>
                  </a:cubicBezTo>
                  <a:cubicBezTo>
                    <a:pt x="537716" y="202565"/>
                    <a:pt x="540002" y="211328"/>
                    <a:pt x="541653" y="220091"/>
                  </a:cubicBezTo>
                  <a:cubicBezTo>
                    <a:pt x="543304" y="228854"/>
                    <a:pt x="544701" y="237744"/>
                    <a:pt x="545590" y="246634"/>
                  </a:cubicBezTo>
                  <a:cubicBezTo>
                    <a:pt x="546479" y="255524"/>
                    <a:pt x="546860" y="264541"/>
                    <a:pt x="546860" y="27343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445387" y="237743"/>
              <a:ext cx="559814" cy="559814"/>
            </a:xfrm>
            <a:custGeom>
              <a:avLst/>
              <a:gdLst/>
              <a:ahLst/>
              <a:cxnLst/>
              <a:rect r="r" b="b" t="t" l="l"/>
              <a:pathLst>
                <a:path h="559814" w="559814">
                  <a:moveTo>
                    <a:pt x="279907" y="559815"/>
                  </a:moveTo>
                  <a:cubicBezTo>
                    <a:pt x="125603" y="559815"/>
                    <a:pt x="0" y="434212"/>
                    <a:pt x="0" y="279907"/>
                  </a:cubicBezTo>
                  <a:cubicBezTo>
                    <a:pt x="0" y="125603"/>
                    <a:pt x="125603" y="0"/>
                    <a:pt x="279907" y="0"/>
                  </a:cubicBezTo>
                  <a:cubicBezTo>
                    <a:pt x="434212" y="0"/>
                    <a:pt x="559814" y="125603"/>
                    <a:pt x="559814" y="279907"/>
                  </a:cubicBezTo>
                  <a:cubicBezTo>
                    <a:pt x="559814" y="434212"/>
                    <a:pt x="434212" y="559815"/>
                    <a:pt x="279907" y="559815"/>
                  </a:cubicBezTo>
                  <a:close/>
                  <a:moveTo>
                    <a:pt x="279907" y="12573"/>
                  </a:moveTo>
                  <a:cubicBezTo>
                    <a:pt x="132461" y="12573"/>
                    <a:pt x="12573" y="132461"/>
                    <a:pt x="12573" y="279907"/>
                  </a:cubicBezTo>
                  <a:cubicBezTo>
                    <a:pt x="12573" y="427354"/>
                    <a:pt x="132461" y="547242"/>
                    <a:pt x="279907" y="547242"/>
                  </a:cubicBezTo>
                  <a:cubicBezTo>
                    <a:pt x="427354" y="547242"/>
                    <a:pt x="547241" y="427354"/>
                    <a:pt x="547241" y="279908"/>
                  </a:cubicBezTo>
                  <a:cubicBezTo>
                    <a:pt x="547241" y="132461"/>
                    <a:pt x="427354" y="12573"/>
                    <a:pt x="279907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70993" y="526667"/>
              <a:ext cx="1308603" cy="654175"/>
            </a:xfrm>
            <a:custGeom>
              <a:avLst/>
              <a:gdLst/>
              <a:ahLst/>
              <a:cxnLst/>
              <a:rect r="r" b="b" t="t" l="l"/>
              <a:pathLst>
                <a:path h="654175" w="1308603">
                  <a:moveTo>
                    <a:pt x="847214" y="127"/>
                  </a:moveTo>
                  <a:cubicBezTo>
                    <a:pt x="847214" y="106680"/>
                    <a:pt x="760854" y="192913"/>
                    <a:pt x="654301" y="192913"/>
                  </a:cubicBezTo>
                  <a:cubicBezTo>
                    <a:pt x="547749" y="192913"/>
                    <a:pt x="461516" y="106680"/>
                    <a:pt x="461389" y="254"/>
                  </a:cubicBezTo>
                  <a:lnTo>
                    <a:pt x="0" y="635"/>
                  </a:lnTo>
                  <a:cubicBezTo>
                    <a:pt x="254" y="359282"/>
                    <a:pt x="295528" y="654176"/>
                    <a:pt x="654301" y="654176"/>
                  </a:cubicBezTo>
                  <a:cubicBezTo>
                    <a:pt x="1013202" y="654176"/>
                    <a:pt x="1308603" y="358902"/>
                    <a:pt x="1308603" y="0"/>
                  </a:cubicBezTo>
                  <a:lnTo>
                    <a:pt x="847214" y="0"/>
                  </a:ln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64643" y="520572"/>
              <a:ext cx="1321049" cy="666621"/>
            </a:xfrm>
            <a:custGeom>
              <a:avLst/>
              <a:gdLst/>
              <a:ahLst/>
              <a:cxnLst/>
              <a:rect r="r" b="b" t="t" l="l"/>
              <a:pathLst>
                <a:path h="666621" w="1321049">
                  <a:moveTo>
                    <a:pt x="660651" y="666621"/>
                  </a:moveTo>
                  <a:cubicBezTo>
                    <a:pt x="485519" y="666621"/>
                    <a:pt x="320039" y="597660"/>
                    <a:pt x="194690" y="472438"/>
                  </a:cubicBezTo>
                  <a:cubicBezTo>
                    <a:pt x="69342" y="347217"/>
                    <a:pt x="254" y="181990"/>
                    <a:pt x="0" y="6730"/>
                  </a:cubicBezTo>
                  <a:cubicBezTo>
                    <a:pt x="0" y="3301"/>
                    <a:pt x="2794" y="507"/>
                    <a:pt x="6223" y="507"/>
                  </a:cubicBezTo>
                  <a:lnTo>
                    <a:pt x="467866" y="126"/>
                  </a:lnTo>
                  <a:cubicBezTo>
                    <a:pt x="469517" y="126"/>
                    <a:pt x="471168" y="761"/>
                    <a:pt x="472311" y="1904"/>
                  </a:cubicBezTo>
                  <a:cubicBezTo>
                    <a:pt x="473454" y="3047"/>
                    <a:pt x="474089" y="4699"/>
                    <a:pt x="474089" y="6349"/>
                  </a:cubicBezTo>
                  <a:cubicBezTo>
                    <a:pt x="474216" y="109092"/>
                    <a:pt x="557909" y="192785"/>
                    <a:pt x="660651" y="192785"/>
                  </a:cubicBezTo>
                  <a:cubicBezTo>
                    <a:pt x="763394" y="192785"/>
                    <a:pt x="847214" y="109092"/>
                    <a:pt x="847214" y="6222"/>
                  </a:cubicBezTo>
                  <a:cubicBezTo>
                    <a:pt x="847214" y="2793"/>
                    <a:pt x="850007" y="0"/>
                    <a:pt x="853437" y="0"/>
                  </a:cubicBezTo>
                  <a:lnTo>
                    <a:pt x="1314826" y="0"/>
                  </a:lnTo>
                  <a:cubicBezTo>
                    <a:pt x="1318255" y="0"/>
                    <a:pt x="1321049" y="2793"/>
                    <a:pt x="1321049" y="6222"/>
                  </a:cubicBezTo>
                  <a:cubicBezTo>
                    <a:pt x="1321049" y="181482"/>
                    <a:pt x="1251961" y="346962"/>
                    <a:pt x="1126612" y="472311"/>
                  </a:cubicBezTo>
                  <a:cubicBezTo>
                    <a:pt x="1001264" y="597660"/>
                    <a:pt x="835657" y="666621"/>
                    <a:pt x="660397" y="666621"/>
                  </a:cubicBezTo>
                  <a:close/>
                  <a:moveTo>
                    <a:pt x="12700" y="13080"/>
                  </a:moveTo>
                  <a:cubicBezTo>
                    <a:pt x="14478" y="182498"/>
                    <a:pt x="82168" y="342391"/>
                    <a:pt x="203580" y="463675"/>
                  </a:cubicBezTo>
                  <a:cubicBezTo>
                    <a:pt x="326516" y="586484"/>
                    <a:pt x="488821" y="654175"/>
                    <a:pt x="660651" y="654175"/>
                  </a:cubicBezTo>
                  <a:cubicBezTo>
                    <a:pt x="832482" y="654175"/>
                    <a:pt x="995041" y="586484"/>
                    <a:pt x="1117977" y="463421"/>
                  </a:cubicBezTo>
                  <a:cubicBezTo>
                    <a:pt x="1239515" y="341883"/>
                    <a:pt x="1307079" y="181990"/>
                    <a:pt x="1308603" y="12445"/>
                  </a:cubicBezTo>
                  <a:lnTo>
                    <a:pt x="859659" y="12445"/>
                  </a:lnTo>
                  <a:cubicBezTo>
                    <a:pt x="856357" y="119379"/>
                    <a:pt x="768347" y="205231"/>
                    <a:pt x="660651" y="205231"/>
                  </a:cubicBezTo>
                  <a:cubicBezTo>
                    <a:pt x="552956" y="205231"/>
                    <a:pt x="465072" y="119379"/>
                    <a:pt x="461643" y="12572"/>
                  </a:cubicBezTo>
                  <a:lnTo>
                    <a:pt x="12700" y="129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15161" y="378317"/>
              <a:ext cx="218744" cy="175275"/>
            </a:xfrm>
            <a:custGeom>
              <a:avLst/>
              <a:gdLst/>
              <a:ahLst/>
              <a:cxnLst/>
              <a:rect r="r" b="b" t="t" l="l"/>
              <a:pathLst>
                <a:path h="175275" w="218744">
                  <a:moveTo>
                    <a:pt x="196620" y="175274"/>
                  </a:moveTo>
                  <a:lnTo>
                    <a:pt x="147979" y="138444"/>
                  </a:lnTo>
                  <a:cubicBezTo>
                    <a:pt x="153821" y="130698"/>
                    <a:pt x="157123" y="121554"/>
                    <a:pt x="157631" y="111902"/>
                  </a:cubicBezTo>
                  <a:cubicBezTo>
                    <a:pt x="158266" y="98948"/>
                    <a:pt x="153948" y="86629"/>
                    <a:pt x="145312" y="76977"/>
                  </a:cubicBezTo>
                  <a:cubicBezTo>
                    <a:pt x="136676" y="67325"/>
                    <a:pt x="124865" y="61737"/>
                    <a:pt x="111911" y="61102"/>
                  </a:cubicBezTo>
                  <a:cubicBezTo>
                    <a:pt x="85368" y="59705"/>
                    <a:pt x="62508" y="80152"/>
                    <a:pt x="61111" y="106822"/>
                  </a:cubicBezTo>
                  <a:cubicBezTo>
                    <a:pt x="60603" y="117744"/>
                    <a:pt x="63524" y="128158"/>
                    <a:pt x="69747" y="137048"/>
                  </a:cubicBezTo>
                  <a:lnTo>
                    <a:pt x="19710" y="172099"/>
                  </a:lnTo>
                  <a:cubicBezTo>
                    <a:pt x="5613" y="151906"/>
                    <a:pt x="-1118" y="128285"/>
                    <a:pt x="152" y="103647"/>
                  </a:cubicBezTo>
                  <a:cubicBezTo>
                    <a:pt x="3327" y="43449"/>
                    <a:pt x="54888" y="-2906"/>
                    <a:pt x="115086" y="142"/>
                  </a:cubicBezTo>
                  <a:cubicBezTo>
                    <a:pt x="144296" y="1666"/>
                    <a:pt x="171093" y="14493"/>
                    <a:pt x="190651" y="36210"/>
                  </a:cubicBezTo>
                  <a:cubicBezTo>
                    <a:pt x="210209" y="57927"/>
                    <a:pt x="220115" y="85994"/>
                    <a:pt x="218591" y="115204"/>
                  </a:cubicBezTo>
                  <a:cubicBezTo>
                    <a:pt x="217448" y="137048"/>
                    <a:pt x="209828" y="157748"/>
                    <a:pt x="196620" y="17527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3500" y="63500"/>
              <a:ext cx="1320668" cy="1121407"/>
            </a:xfrm>
            <a:custGeom>
              <a:avLst/>
              <a:gdLst/>
              <a:ahLst/>
              <a:cxnLst/>
              <a:rect r="r" b="b" t="t" l="l"/>
              <a:pathLst>
                <a:path h="1121407" w="1320668">
                  <a:moveTo>
                    <a:pt x="0" y="1121407"/>
                  </a:moveTo>
                  <a:lnTo>
                    <a:pt x="1320668" y="1121407"/>
                  </a:lnTo>
                  <a:lnTo>
                    <a:pt x="13206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5501995" y="8271253"/>
            <a:ext cx="2073173" cy="1050550"/>
            <a:chOff x="0" y="0"/>
            <a:chExt cx="2073173" cy="105054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70866" y="72390"/>
              <a:ext cx="966597" cy="906015"/>
            </a:xfrm>
            <a:custGeom>
              <a:avLst/>
              <a:gdLst/>
              <a:ahLst/>
              <a:cxnLst/>
              <a:rect r="r" b="b" t="t" l="l"/>
              <a:pathLst>
                <a:path h="906015" w="966597">
                  <a:moveTo>
                    <a:pt x="491744" y="697354"/>
                  </a:moveTo>
                  <a:lnTo>
                    <a:pt x="966597" y="0"/>
                  </a:lnTo>
                  <a:lnTo>
                    <a:pt x="452120" y="0"/>
                  </a:lnTo>
                  <a:cubicBezTo>
                    <a:pt x="202438" y="0"/>
                    <a:pt x="0" y="202818"/>
                    <a:pt x="0" y="453007"/>
                  </a:cubicBezTo>
                  <a:cubicBezTo>
                    <a:pt x="0" y="703196"/>
                    <a:pt x="202438" y="906015"/>
                    <a:pt x="452120" y="906015"/>
                  </a:cubicBezTo>
                  <a:lnTo>
                    <a:pt x="904240" y="906015"/>
                  </a:lnTo>
                  <a:lnTo>
                    <a:pt x="904240" y="697354"/>
                  </a:lnTo>
                  <a:lnTo>
                    <a:pt x="491744" y="697354"/>
                  </a:ln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63500" y="64897"/>
              <a:ext cx="981433" cy="920874"/>
            </a:xfrm>
            <a:custGeom>
              <a:avLst/>
              <a:gdLst/>
              <a:ahLst/>
              <a:cxnLst/>
              <a:rect r="r" b="b" t="t" l="l"/>
              <a:pathLst>
                <a:path h="920874" w="981433">
                  <a:moveTo>
                    <a:pt x="911479" y="920874"/>
                  </a:moveTo>
                  <a:lnTo>
                    <a:pt x="459486" y="920874"/>
                  </a:lnTo>
                  <a:cubicBezTo>
                    <a:pt x="206121" y="920874"/>
                    <a:pt x="0" y="714372"/>
                    <a:pt x="0" y="460500"/>
                  </a:cubicBezTo>
                  <a:cubicBezTo>
                    <a:pt x="0" y="206628"/>
                    <a:pt x="206121" y="0"/>
                    <a:pt x="459486" y="0"/>
                  </a:cubicBezTo>
                  <a:lnTo>
                    <a:pt x="974090" y="0"/>
                  </a:lnTo>
                  <a:cubicBezTo>
                    <a:pt x="976757" y="0"/>
                    <a:pt x="979297" y="1524"/>
                    <a:pt x="980567" y="3937"/>
                  </a:cubicBezTo>
                  <a:cubicBezTo>
                    <a:pt x="981837" y="6350"/>
                    <a:pt x="981710" y="9271"/>
                    <a:pt x="980186" y="11557"/>
                  </a:cubicBezTo>
                  <a:lnTo>
                    <a:pt x="513207" y="697354"/>
                  </a:lnTo>
                  <a:lnTo>
                    <a:pt x="911479" y="697354"/>
                  </a:lnTo>
                  <a:cubicBezTo>
                    <a:pt x="915543" y="697354"/>
                    <a:pt x="918845" y="700656"/>
                    <a:pt x="918845" y="704720"/>
                  </a:cubicBezTo>
                  <a:lnTo>
                    <a:pt x="918845" y="913508"/>
                  </a:lnTo>
                  <a:cubicBezTo>
                    <a:pt x="918845" y="917445"/>
                    <a:pt x="915543" y="920874"/>
                    <a:pt x="911479" y="920874"/>
                  </a:cubicBezTo>
                  <a:close/>
                  <a:moveTo>
                    <a:pt x="459486" y="14859"/>
                  </a:moveTo>
                  <a:cubicBezTo>
                    <a:pt x="214249" y="14859"/>
                    <a:pt x="14732" y="214756"/>
                    <a:pt x="14732" y="460500"/>
                  </a:cubicBezTo>
                  <a:cubicBezTo>
                    <a:pt x="14732" y="706244"/>
                    <a:pt x="214249" y="906142"/>
                    <a:pt x="459486" y="906142"/>
                  </a:cubicBezTo>
                  <a:lnTo>
                    <a:pt x="904240" y="906142"/>
                  </a:lnTo>
                  <a:lnTo>
                    <a:pt x="904240" y="712213"/>
                  </a:lnTo>
                  <a:lnTo>
                    <a:pt x="499110" y="712213"/>
                  </a:lnTo>
                  <a:cubicBezTo>
                    <a:pt x="496443" y="712213"/>
                    <a:pt x="493903" y="710689"/>
                    <a:pt x="492633" y="708276"/>
                  </a:cubicBezTo>
                  <a:cubicBezTo>
                    <a:pt x="491363" y="705863"/>
                    <a:pt x="491490" y="702942"/>
                    <a:pt x="493014" y="700656"/>
                  </a:cubicBezTo>
                  <a:lnTo>
                    <a:pt x="959993" y="14859"/>
                  </a:lnTo>
                  <a:lnTo>
                    <a:pt x="459486" y="14859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1037463" y="72390"/>
              <a:ext cx="961390" cy="906015"/>
            </a:xfrm>
            <a:custGeom>
              <a:avLst/>
              <a:gdLst/>
              <a:ahLst/>
              <a:cxnLst/>
              <a:rect r="r" b="b" t="t" l="l"/>
              <a:pathLst>
                <a:path h="906015" w="961390">
                  <a:moveTo>
                    <a:pt x="509271" y="0"/>
                  </a:moveTo>
                  <a:lnTo>
                    <a:pt x="0" y="0"/>
                  </a:lnTo>
                  <a:lnTo>
                    <a:pt x="474981" y="697354"/>
                  </a:lnTo>
                  <a:lnTo>
                    <a:pt x="62484" y="697354"/>
                  </a:lnTo>
                  <a:lnTo>
                    <a:pt x="62484" y="906015"/>
                  </a:lnTo>
                  <a:lnTo>
                    <a:pt x="509271" y="906015"/>
                  </a:lnTo>
                  <a:cubicBezTo>
                    <a:pt x="758953" y="906015"/>
                    <a:pt x="961391" y="703196"/>
                    <a:pt x="961391" y="453007"/>
                  </a:cubicBezTo>
                  <a:cubicBezTo>
                    <a:pt x="961391" y="202818"/>
                    <a:pt x="759080" y="0"/>
                    <a:pt x="509271" y="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1030121" y="65024"/>
              <a:ext cx="976099" cy="920874"/>
            </a:xfrm>
            <a:custGeom>
              <a:avLst/>
              <a:gdLst/>
              <a:ahLst/>
              <a:cxnLst/>
              <a:rect r="r" b="b" t="t" l="l"/>
              <a:pathLst>
                <a:path h="920874" w="976099">
                  <a:moveTo>
                    <a:pt x="516613" y="920747"/>
                  </a:moveTo>
                  <a:lnTo>
                    <a:pt x="69826" y="920747"/>
                  </a:lnTo>
                  <a:cubicBezTo>
                    <a:pt x="65762" y="920747"/>
                    <a:pt x="62460" y="917445"/>
                    <a:pt x="62460" y="913381"/>
                  </a:cubicBezTo>
                  <a:lnTo>
                    <a:pt x="62460" y="704720"/>
                  </a:lnTo>
                  <a:cubicBezTo>
                    <a:pt x="62460" y="700656"/>
                    <a:pt x="65762" y="697354"/>
                    <a:pt x="69826" y="697354"/>
                  </a:cubicBezTo>
                  <a:lnTo>
                    <a:pt x="468226" y="697354"/>
                  </a:lnTo>
                  <a:lnTo>
                    <a:pt x="1246" y="11557"/>
                  </a:lnTo>
                  <a:cubicBezTo>
                    <a:pt x="-278" y="9271"/>
                    <a:pt x="-405" y="6350"/>
                    <a:pt x="865" y="3937"/>
                  </a:cubicBezTo>
                  <a:cubicBezTo>
                    <a:pt x="2135" y="1524"/>
                    <a:pt x="4675" y="0"/>
                    <a:pt x="7342" y="0"/>
                  </a:cubicBezTo>
                  <a:lnTo>
                    <a:pt x="516613" y="0"/>
                  </a:lnTo>
                  <a:cubicBezTo>
                    <a:pt x="769978" y="0"/>
                    <a:pt x="976099" y="206501"/>
                    <a:pt x="976099" y="460500"/>
                  </a:cubicBezTo>
                  <a:cubicBezTo>
                    <a:pt x="976099" y="714499"/>
                    <a:pt x="769851" y="920874"/>
                    <a:pt x="516613" y="920874"/>
                  </a:cubicBezTo>
                  <a:close/>
                  <a:moveTo>
                    <a:pt x="77192" y="906142"/>
                  </a:moveTo>
                  <a:lnTo>
                    <a:pt x="516613" y="906142"/>
                  </a:lnTo>
                  <a:cubicBezTo>
                    <a:pt x="761850" y="906142"/>
                    <a:pt x="961367" y="706244"/>
                    <a:pt x="961367" y="460500"/>
                  </a:cubicBezTo>
                  <a:cubicBezTo>
                    <a:pt x="961367" y="214756"/>
                    <a:pt x="761850" y="14732"/>
                    <a:pt x="516613" y="14732"/>
                  </a:cubicBezTo>
                  <a:lnTo>
                    <a:pt x="21312" y="14732"/>
                  </a:lnTo>
                  <a:lnTo>
                    <a:pt x="488292" y="700529"/>
                  </a:lnTo>
                  <a:cubicBezTo>
                    <a:pt x="489815" y="702815"/>
                    <a:pt x="489943" y="705736"/>
                    <a:pt x="488673" y="708149"/>
                  </a:cubicBezTo>
                  <a:cubicBezTo>
                    <a:pt x="487403" y="710562"/>
                    <a:pt x="484863" y="712086"/>
                    <a:pt x="482196" y="712086"/>
                  </a:cubicBezTo>
                  <a:lnTo>
                    <a:pt x="77192" y="712086"/>
                  </a:lnTo>
                  <a:lnTo>
                    <a:pt x="77192" y="905888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63500" y="63500"/>
              <a:ext cx="1946149" cy="923541"/>
            </a:xfrm>
            <a:custGeom>
              <a:avLst/>
              <a:gdLst/>
              <a:ahLst/>
              <a:cxnLst/>
              <a:rect r="r" b="b" t="t" l="l"/>
              <a:pathLst>
                <a:path h="923541" w="1946149">
                  <a:moveTo>
                    <a:pt x="0" y="923541"/>
                  </a:moveTo>
                  <a:lnTo>
                    <a:pt x="1946149" y="923541"/>
                  </a:lnTo>
                  <a:lnTo>
                    <a:pt x="194614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965197" y="262341"/>
            <a:ext cx="14970871" cy="2308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67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Complemento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112448" y="7007016"/>
            <a:ext cx="7668572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pode ser visto. Arquitetura de Software não é definida apenas por uma descrição, ela é meio que tudo em todo lugar ao mesmo tempo, sendo mais fácil definir o que ela não é.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12448" y="4062410"/>
            <a:ext cx="7668572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Nem todo dev sênior é um arquiteto de software. Afinal, é necessário estudos mais focados, com conhecimento em diferentes aspectos do desenvolvimento e estudo continuo.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5197" y="965197"/>
            <a:ext cx="2467280" cy="850659"/>
            <a:chOff x="0" y="0"/>
            <a:chExt cx="2467280" cy="8506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9977" y="63500"/>
              <a:ext cx="648970" cy="723648"/>
            </a:xfrm>
            <a:custGeom>
              <a:avLst/>
              <a:gdLst/>
              <a:ahLst/>
              <a:cxnLst/>
              <a:rect r="r" b="b" t="t" l="l"/>
              <a:pathLst>
                <a:path h="723648" w="648970">
                  <a:moveTo>
                    <a:pt x="617474" y="581916"/>
                  </a:moveTo>
                  <a:cubicBezTo>
                    <a:pt x="555625" y="653671"/>
                    <a:pt x="464058" y="699264"/>
                    <a:pt x="361950" y="699264"/>
                  </a:cubicBezTo>
                  <a:cubicBezTo>
                    <a:pt x="175768" y="699264"/>
                    <a:pt x="24384" y="547879"/>
                    <a:pt x="24384" y="361824"/>
                  </a:cubicBezTo>
                  <a:cubicBezTo>
                    <a:pt x="24384" y="175769"/>
                    <a:pt x="175895" y="24384"/>
                    <a:pt x="361950" y="24384"/>
                  </a:cubicBezTo>
                  <a:cubicBezTo>
                    <a:pt x="464058" y="24384"/>
                    <a:pt x="555625" y="69977"/>
                    <a:pt x="617474" y="141733"/>
                  </a:cubicBezTo>
                  <a:cubicBezTo>
                    <a:pt x="623062" y="148083"/>
                    <a:pt x="628269" y="154560"/>
                    <a:pt x="633222" y="161291"/>
                  </a:cubicBezTo>
                  <a:cubicBezTo>
                    <a:pt x="638175" y="154560"/>
                    <a:pt x="643382" y="148083"/>
                    <a:pt x="648970" y="141733"/>
                  </a:cubicBezTo>
                  <a:cubicBezTo>
                    <a:pt x="644144" y="135255"/>
                    <a:pt x="638810" y="128905"/>
                    <a:pt x="633222" y="122682"/>
                  </a:cubicBezTo>
                  <a:cubicBezTo>
                    <a:pt x="567055" y="47498"/>
                    <a:pt x="469900" y="0"/>
                    <a:pt x="361950" y="0"/>
                  </a:cubicBezTo>
                  <a:cubicBezTo>
                    <a:pt x="162433" y="0"/>
                    <a:pt x="0" y="162307"/>
                    <a:pt x="0" y="361824"/>
                  </a:cubicBezTo>
                  <a:cubicBezTo>
                    <a:pt x="0" y="561342"/>
                    <a:pt x="162433" y="723648"/>
                    <a:pt x="361950" y="723648"/>
                  </a:cubicBezTo>
                  <a:cubicBezTo>
                    <a:pt x="469900" y="723648"/>
                    <a:pt x="567055" y="676150"/>
                    <a:pt x="633222" y="600966"/>
                  </a:cubicBezTo>
                  <a:cubicBezTo>
                    <a:pt x="638810" y="594743"/>
                    <a:pt x="644144" y="588393"/>
                    <a:pt x="648970" y="581916"/>
                  </a:cubicBezTo>
                  <a:cubicBezTo>
                    <a:pt x="643382" y="575566"/>
                    <a:pt x="638175" y="569089"/>
                    <a:pt x="633222" y="562358"/>
                  </a:cubicBezTo>
                  <a:cubicBezTo>
                    <a:pt x="628269" y="569089"/>
                    <a:pt x="623062" y="575566"/>
                    <a:pt x="617474" y="58191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87451" y="63500"/>
              <a:ext cx="568452" cy="723648"/>
            </a:xfrm>
            <a:custGeom>
              <a:avLst/>
              <a:gdLst/>
              <a:ahLst/>
              <a:cxnLst/>
              <a:rect r="r" b="b" t="t" l="l"/>
              <a:pathLst>
                <a:path h="723648" w="568452">
                  <a:moveTo>
                    <a:pt x="552323" y="570105"/>
                  </a:moveTo>
                  <a:cubicBezTo>
                    <a:pt x="547370" y="576709"/>
                    <a:pt x="541909" y="583059"/>
                    <a:pt x="536321" y="589155"/>
                  </a:cubicBezTo>
                  <a:cubicBezTo>
                    <a:pt x="474599" y="656846"/>
                    <a:pt x="385699" y="699264"/>
                    <a:pt x="287020" y="699264"/>
                  </a:cubicBezTo>
                  <a:cubicBezTo>
                    <a:pt x="184912" y="699264"/>
                    <a:pt x="93345" y="653671"/>
                    <a:pt x="31496" y="581916"/>
                  </a:cubicBezTo>
                  <a:cubicBezTo>
                    <a:pt x="25908" y="575566"/>
                    <a:pt x="20701" y="569089"/>
                    <a:pt x="15748" y="562358"/>
                  </a:cubicBezTo>
                  <a:cubicBezTo>
                    <a:pt x="10795" y="569089"/>
                    <a:pt x="5588" y="575566"/>
                    <a:pt x="0" y="581916"/>
                  </a:cubicBezTo>
                  <a:cubicBezTo>
                    <a:pt x="4826" y="588393"/>
                    <a:pt x="10160" y="594743"/>
                    <a:pt x="15748" y="600966"/>
                  </a:cubicBezTo>
                  <a:cubicBezTo>
                    <a:pt x="81915" y="676150"/>
                    <a:pt x="179070" y="723648"/>
                    <a:pt x="287020" y="723648"/>
                  </a:cubicBezTo>
                  <a:cubicBezTo>
                    <a:pt x="391795" y="723648"/>
                    <a:pt x="486156" y="678944"/>
                    <a:pt x="552323" y="607697"/>
                  </a:cubicBezTo>
                  <a:cubicBezTo>
                    <a:pt x="557911" y="601728"/>
                    <a:pt x="563372" y="595632"/>
                    <a:pt x="568452" y="589282"/>
                  </a:cubicBezTo>
                  <a:cubicBezTo>
                    <a:pt x="562864" y="583059"/>
                    <a:pt x="557276" y="576709"/>
                    <a:pt x="552323" y="570105"/>
                  </a:cubicBezTo>
                  <a:close/>
                  <a:moveTo>
                    <a:pt x="31623" y="141733"/>
                  </a:moveTo>
                  <a:cubicBezTo>
                    <a:pt x="93472" y="69977"/>
                    <a:pt x="185039" y="24384"/>
                    <a:pt x="287147" y="24384"/>
                  </a:cubicBezTo>
                  <a:cubicBezTo>
                    <a:pt x="385826" y="24384"/>
                    <a:pt x="474726" y="66929"/>
                    <a:pt x="536448" y="134493"/>
                  </a:cubicBezTo>
                  <a:cubicBezTo>
                    <a:pt x="542036" y="140590"/>
                    <a:pt x="547497" y="146940"/>
                    <a:pt x="552450" y="153544"/>
                  </a:cubicBezTo>
                  <a:cubicBezTo>
                    <a:pt x="557403" y="146940"/>
                    <a:pt x="562864" y="140590"/>
                    <a:pt x="568452" y="134493"/>
                  </a:cubicBezTo>
                  <a:cubicBezTo>
                    <a:pt x="563499" y="128143"/>
                    <a:pt x="558038" y="121920"/>
                    <a:pt x="552450" y="115951"/>
                  </a:cubicBezTo>
                  <a:cubicBezTo>
                    <a:pt x="486156" y="44704"/>
                    <a:pt x="391668" y="0"/>
                    <a:pt x="287020" y="0"/>
                  </a:cubicBezTo>
                  <a:cubicBezTo>
                    <a:pt x="179070" y="0"/>
                    <a:pt x="81915" y="47498"/>
                    <a:pt x="15748" y="122682"/>
                  </a:cubicBezTo>
                  <a:cubicBezTo>
                    <a:pt x="10160" y="128905"/>
                    <a:pt x="4826" y="135255"/>
                    <a:pt x="0" y="141733"/>
                  </a:cubicBezTo>
                  <a:cubicBezTo>
                    <a:pt x="5588" y="148083"/>
                    <a:pt x="10795" y="154560"/>
                    <a:pt x="15748" y="161291"/>
                  </a:cubicBezTo>
                  <a:cubicBezTo>
                    <a:pt x="20701" y="154560"/>
                    <a:pt x="25908" y="148083"/>
                    <a:pt x="31496" y="141733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223644" y="63500"/>
              <a:ext cx="643255" cy="723648"/>
            </a:xfrm>
            <a:custGeom>
              <a:avLst/>
              <a:gdLst/>
              <a:ahLst/>
              <a:cxnLst/>
              <a:rect r="r" b="b" t="t" l="l"/>
              <a:pathLst>
                <a:path h="723648" w="643255">
                  <a:moveTo>
                    <a:pt x="281305" y="0"/>
                  </a:moveTo>
                  <a:cubicBezTo>
                    <a:pt x="176657" y="0"/>
                    <a:pt x="82170" y="44704"/>
                    <a:pt x="16003" y="115951"/>
                  </a:cubicBezTo>
                  <a:cubicBezTo>
                    <a:pt x="10414" y="121920"/>
                    <a:pt x="4953" y="128143"/>
                    <a:pt x="0" y="134493"/>
                  </a:cubicBezTo>
                  <a:cubicBezTo>
                    <a:pt x="5589" y="140590"/>
                    <a:pt x="11050" y="146940"/>
                    <a:pt x="16003" y="153544"/>
                  </a:cubicBezTo>
                  <a:cubicBezTo>
                    <a:pt x="20956" y="146940"/>
                    <a:pt x="26417" y="140590"/>
                    <a:pt x="32005" y="134493"/>
                  </a:cubicBezTo>
                  <a:cubicBezTo>
                    <a:pt x="93727" y="66802"/>
                    <a:pt x="182626" y="24384"/>
                    <a:pt x="281305" y="24384"/>
                  </a:cubicBezTo>
                  <a:cubicBezTo>
                    <a:pt x="467487" y="24384"/>
                    <a:pt x="618871" y="175769"/>
                    <a:pt x="618871" y="361824"/>
                  </a:cubicBezTo>
                  <a:cubicBezTo>
                    <a:pt x="618871" y="547879"/>
                    <a:pt x="467487" y="699264"/>
                    <a:pt x="281305" y="699264"/>
                  </a:cubicBezTo>
                  <a:cubicBezTo>
                    <a:pt x="182753" y="699264"/>
                    <a:pt x="93853" y="656719"/>
                    <a:pt x="32131" y="589282"/>
                  </a:cubicBezTo>
                  <a:cubicBezTo>
                    <a:pt x="26544" y="583059"/>
                    <a:pt x="20956" y="576709"/>
                    <a:pt x="16003" y="570105"/>
                  </a:cubicBezTo>
                  <a:cubicBezTo>
                    <a:pt x="11050" y="576709"/>
                    <a:pt x="5589" y="583059"/>
                    <a:pt x="0" y="589155"/>
                  </a:cubicBezTo>
                  <a:cubicBezTo>
                    <a:pt x="4953" y="595505"/>
                    <a:pt x="10414" y="601728"/>
                    <a:pt x="16003" y="607697"/>
                  </a:cubicBezTo>
                  <a:cubicBezTo>
                    <a:pt x="82042" y="678944"/>
                    <a:pt x="176657" y="723648"/>
                    <a:pt x="281305" y="723648"/>
                  </a:cubicBezTo>
                  <a:cubicBezTo>
                    <a:pt x="480949" y="723648"/>
                    <a:pt x="643255" y="561342"/>
                    <a:pt x="643255" y="361824"/>
                  </a:cubicBezTo>
                  <a:cubicBezTo>
                    <a:pt x="643255" y="162307"/>
                    <a:pt x="480949" y="0"/>
                    <a:pt x="281305" y="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94234" y="87884"/>
              <a:ext cx="1748408" cy="674880"/>
            </a:xfrm>
            <a:custGeom>
              <a:avLst/>
              <a:gdLst/>
              <a:ahLst/>
              <a:cxnLst/>
              <a:rect r="r" b="b" t="t" l="l"/>
              <a:pathLst>
                <a:path h="674880" w="1748408">
                  <a:moveTo>
                    <a:pt x="1748281" y="337440"/>
                  </a:moveTo>
                  <a:cubicBezTo>
                    <a:pt x="1748281" y="523496"/>
                    <a:pt x="1596897" y="674880"/>
                    <a:pt x="1410715" y="674880"/>
                  </a:cubicBezTo>
                  <a:cubicBezTo>
                    <a:pt x="1312163" y="674880"/>
                    <a:pt x="1223264" y="632335"/>
                    <a:pt x="1161542" y="564898"/>
                  </a:cubicBezTo>
                  <a:cubicBezTo>
                    <a:pt x="1155954" y="558675"/>
                    <a:pt x="1150366" y="552325"/>
                    <a:pt x="1145413" y="545721"/>
                  </a:cubicBezTo>
                  <a:cubicBezTo>
                    <a:pt x="1140460" y="552325"/>
                    <a:pt x="1134999" y="558675"/>
                    <a:pt x="1129410" y="564771"/>
                  </a:cubicBezTo>
                  <a:cubicBezTo>
                    <a:pt x="1067688" y="632462"/>
                    <a:pt x="978789" y="674880"/>
                    <a:pt x="880110" y="674880"/>
                  </a:cubicBezTo>
                  <a:cubicBezTo>
                    <a:pt x="778002" y="674880"/>
                    <a:pt x="686435" y="629287"/>
                    <a:pt x="624586" y="557532"/>
                  </a:cubicBezTo>
                  <a:cubicBezTo>
                    <a:pt x="618998" y="551182"/>
                    <a:pt x="613791" y="544705"/>
                    <a:pt x="608838" y="537974"/>
                  </a:cubicBezTo>
                  <a:cubicBezTo>
                    <a:pt x="603885" y="544705"/>
                    <a:pt x="598678" y="551182"/>
                    <a:pt x="593090" y="557532"/>
                  </a:cubicBezTo>
                  <a:cubicBezTo>
                    <a:pt x="531241" y="629287"/>
                    <a:pt x="439674" y="674880"/>
                    <a:pt x="337566" y="674880"/>
                  </a:cubicBezTo>
                  <a:cubicBezTo>
                    <a:pt x="151384" y="674880"/>
                    <a:pt x="0" y="523496"/>
                    <a:pt x="0" y="337440"/>
                  </a:cubicBezTo>
                  <a:cubicBezTo>
                    <a:pt x="0" y="151385"/>
                    <a:pt x="151638" y="0"/>
                    <a:pt x="337693" y="0"/>
                  </a:cubicBezTo>
                  <a:cubicBezTo>
                    <a:pt x="439801" y="0"/>
                    <a:pt x="531368" y="45593"/>
                    <a:pt x="593217" y="117349"/>
                  </a:cubicBezTo>
                  <a:cubicBezTo>
                    <a:pt x="598805" y="123699"/>
                    <a:pt x="604012" y="130176"/>
                    <a:pt x="608965" y="136907"/>
                  </a:cubicBezTo>
                  <a:cubicBezTo>
                    <a:pt x="613918" y="130176"/>
                    <a:pt x="619125" y="123699"/>
                    <a:pt x="624713" y="117349"/>
                  </a:cubicBezTo>
                  <a:cubicBezTo>
                    <a:pt x="686562" y="45593"/>
                    <a:pt x="778129" y="0"/>
                    <a:pt x="880237" y="0"/>
                  </a:cubicBezTo>
                  <a:cubicBezTo>
                    <a:pt x="978916" y="0"/>
                    <a:pt x="1067816" y="42545"/>
                    <a:pt x="1129538" y="110109"/>
                  </a:cubicBezTo>
                  <a:cubicBezTo>
                    <a:pt x="1135125" y="116206"/>
                    <a:pt x="1140586" y="122556"/>
                    <a:pt x="1145540" y="129160"/>
                  </a:cubicBezTo>
                  <a:cubicBezTo>
                    <a:pt x="1150493" y="122556"/>
                    <a:pt x="1155954" y="116206"/>
                    <a:pt x="1161541" y="110109"/>
                  </a:cubicBezTo>
                  <a:cubicBezTo>
                    <a:pt x="1223263" y="42418"/>
                    <a:pt x="1312163" y="0"/>
                    <a:pt x="1410842" y="0"/>
                  </a:cubicBezTo>
                  <a:cubicBezTo>
                    <a:pt x="1597024" y="0"/>
                    <a:pt x="1748408" y="151385"/>
                    <a:pt x="1748408" y="33744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771649" y="75692"/>
              <a:ext cx="616458" cy="699264"/>
            </a:xfrm>
            <a:custGeom>
              <a:avLst/>
              <a:gdLst/>
              <a:ahLst/>
              <a:cxnLst/>
              <a:rect r="r" b="b" t="t" l="l"/>
              <a:pathLst>
                <a:path h="699264" w="616458">
                  <a:moveTo>
                    <a:pt x="266700" y="0"/>
                  </a:moveTo>
                  <a:cubicBezTo>
                    <a:pt x="159893" y="0"/>
                    <a:pt x="64135" y="48006"/>
                    <a:pt x="0" y="123445"/>
                  </a:cubicBezTo>
                  <a:cubicBezTo>
                    <a:pt x="51816" y="184405"/>
                    <a:pt x="83185" y="263399"/>
                    <a:pt x="83185" y="349632"/>
                  </a:cubicBezTo>
                  <a:cubicBezTo>
                    <a:pt x="83185" y="435865"/>
                    <a:pt x="51816" y="514859"/>
                    <a:pt x="0" y="575820"/>
                  </a:cubicBezTo>
                  <a:cubicBezTo>
                    <a:pt x="64135" y="651385"/>
                    <a:pt x="159893" y="699264"/>
                    <a:pt x="266700" y="699264"/>
                  </a:cubicBezTo>
                  <a:cubicBezTo>
                    <a:pt x="459867" y="699264"/>
                    <a:pt x="616458" y="542800"/>
                    <a:pt x="616458" y="349632"/>
                  </a:cubicBezTo>
                  <a:cubicBezTo>
                    <a:pt x="616458" y="156465"/>
                    <a:pt x="459867" y="0"/>
                    <a:pt x="266700" y="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755647" y="63500"/>
              <a:ext cx="644652" cy="723648"/>
            </a:xfrm>
            <a:custGeom>
              <a:avLst/>
              <a:gdLst/>
              <a:ahLst/>
              <a:cxnLst/>
              <a:rect r="r" b="b" t="t" l="l"/>
              <a:pathLst>
                <a:path h="723648" w="644652">
                  <a:moveTo>
                    <a:pt x="282702" y="723648"/>
                  </a:moveTo>
                  <a:cubicBezTo>
                    <a:pt x="176149" y="723648"/>
                    <a:pt x="75692" y="677166"/>
                    <a:pt x="6731" y="596013"/>
                  </a:cubicBezTo>
                  <a:lnTo>
                    <a:pt x="3810" y="592584"/>
                  </a:lnTo>
                  <a:lnTo>
                    <a:pt x="3810" y="583567"/>
                  </a:lnTo>
                  <a:lnTo>
                    <a:pt x="6731" y="580138"/>
                  </a:lnTo>
                  <a:cubicBezTo>
                    <a:pt x="58547" y="519177"/>
                    <a:pt x="86995" y="441707"/>
                    <a:pt x="86995" y="361824"/>
                  </a:cubicBezTo>
                  <a:cubicBezTo>
                    <a:pt x="86995" y="281941"/>
                    <a:pt x="58547" y="204471"/>
                    <a:pt x="6731" y="143510"/>
                  </a:cubicBezTo>
                  <a:lnTo>
                    <a:pt x="0" y="135636"/>
                  </a:lnTo>
                  <a:lnTo>
                    <a:pt x="6731" y="127762"/>
                  </a:lnTo>
                  <a:cubicBezTo>
                    <a:pt x="75692" y="46482"/>
                    <a:pt x="176276" y="0"/>
                    <a:pt x="282702" y="0"/>
                  </a:cubicBezTo>
                  <a:cubicBezTo>
                    <a:pt x="482219" y="0"/>
                    <a:pt x="644652" y="162307"/>
                    <a:pt x="644652" y="361824"/>
                  </a:cubicBezTo>
                  <a:cubicBezTo>
                    <a:pt x="644652" y="561342"/>
                    <a:pt x="482346" y="723648"/>
                    <a:pt x="282702" y="723648"/>
                  </a:cubicBezTo>
                  <a:close/>
                  <a:moveTo>
                    <a:pt x="32131" y="587758"/>
                  </a:moveTo>
                  <a:cubicBezTo>
                    <a:pt x="96139" y="658624"/>
                    <a:pt x="186944" y="699264"/>
                    <a:pt x="282829" y="699264"/>
                  </a:cubicBezTo>
                  <a:cubicBezTo>
                    <a:pt x="469011" y="699264"/>
                    <a:pt x="620395" y="547880"/>
                    <a:pt x="620395" y="361824"/>
                  </a:cubicBezTo>
                  <a:cubicBezTo>
                    <a:pt x="620395" y="175769"/>
                    <a:pt x="468757" y="24384"/>
                    <a:pt x="282702" y="24384"/>
                  </a:cubicBezTo>
                  <a:cubicBezTo>
                    <a:pt x="186817" y="24384"/>
                    <a:pt x="96139" y="64897"/>
                    <a:pt x="32004" y="135890"/>
                  </a:cubicBezTo>
                  <a:cubicBezTo>
                    <a:pt x="83312" y="199899"/>
                    <a:pt x="111379" y="279655"/>
                    <a:pt x="111379" y="361824"/>
                  </a:cubicBezTo>
                  <a:cubicBezTo>
                    <a:pt x="111379" y="443993"/>
                    <a:pt x="83312" y="523749"/>
                    <a:pt x="32131" y="58775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676272" y="191262"/>
              <a:ext cx="104648" cy="468250"/>
            </a:xfrm>
            <a:custGeom>
              <a:avLst/>
              <a:gdLst/>
              <a:ahLst/>
              <a:cxnLst/>
              <a:rect r="r" b="b" t="t" l="l"/>
              <a:pathLst>
                <a:path h="468250" w="104648">
                  <a:moveTo>
                    <a:pt x="85979" y="468251"/>
                  </a:moveTo>
                  <a:cubicBezTo>
                    <a:pt x="30480" y="403099"/>
                    <a:pt x="0" y="319914"/>
                    <a:pt x="0" y="234062"/>
                  </a:cubicBezTo>
                  <a:cubicBezTo>
                    <a:pt x="0" y="148210"/>
                    <a:pt x="30480" y="65279"/>
                    <a:pt x="85979" y="0"/>
                  </a:cubicBezTo>
                  <a:lnTo>
                    <a:pt x="104648" y="15748"/>
                  </a:lnTo>
                  <a:cubicBezTo>
                    <a:pt x="52959" y="76582"/>
                    <a:pt x="24511" y="154052"/>
                    <a:pt x="24511" y="234062"/>
                  </a:cubicBezTo>
                  <a:cubicBezTo>
                    <a:pt x="24511" y="314072"/>
                    <a:pt x="52959" y="391542"/>
                    <a:pt x="104648" y="452376"/>
                  </a:cubicBezTo>
                  <a:lnTo>
                    <a:pt x="85979" y="468251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37964" y="254705"/>
              <a:ext cx="58916" cy="325051"/>
            </a:xfrm>
            <a:custGeom>
              <a:avLst/>
              <a:gdLst/>
              <a:ahLst/>
              <a:cxnLst/>
              <a:rect r="r" b="b" t="t" l="l"/>
              <a:pathLst>
                <a:path h="325051" w="58916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333" y="-577"/>
                    <a:pt x="48064" y="58"/>
                  </a:cubicBezTo>
                  <a:cubicBezTo>
                    <a:pt x="54795" y="693"/>
                    <a:pt x="59494" y="6916"/>
                    <a:pt x="58859" y="13647"/>
                  </a:cubicBezTo>
                  <a:lnTo>
                    <a:pt x="24569" y="314129"/>
                  </a:lnTo>
                  <a:cubicBezTo>
                    <a:pt x="23807" y="320479"/>
                    <a:pt x="18600" y="325051"/>
                    <a:pt x="12504" y="325051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807188" y="348425"/>
              <a:ext cx="98640" cy="169483"/>
            </a:xfrm>
            <a:custGeom>
              <a:avLst/>
              <a:gdLst/>
              <a:ahLst/>
              <a:cxnLst/>
              <a:rect r="r" b="b" t="t" l="l"/>
              <a:pathLst>
                <a:path h="169483" w="98640">
                  <a:moveTo>
                    <a:pt x="75970" y="169355"/>
                  </a:moveTo>
                  <a:cubicBezTo>
                    <a:pt x="72541" y="169355"/>
                    <a:pt x="69239" y="167958"/>
                    <a:pt x="66826" y="165164"/>
                  </a:cubicBezTo>
                  <a:lnTo>
                    <a:pt x="3072" y="92774"/>
                  </a:lnTo>
                  <a:cubicBezTo>
                    <a:pt x="-1246" y="87948"/>
                    <a:pt x="-992" y="80582"/>
                    <a:pt x="3707" y="75883"/>
                  </a:cubicBezTo>
                  <a:lnTo>
                    <a:pt x="77875" y="3493"/>
                  </a:lnTo>
                  <a:cubicBezTo>
                    <a:pt x="82701" y="-1206"/>
                    <a:pt x="90448" y="-1206"/>
                    <a:pt x="95147" y="3747"/>
                  </a:cubicBezTo>
                  <a:cubicBezTo>
                    <a:pt x="99846" y="8700"/>
                    <a:pt x="99846" y="16320"/>
                    <a:pt x="94893" y="21019"/>
                  </a:cubicBezTo>
                  <a:lnTo>
                    <a:pt x="29107" y="85408"/>
                  </a:lnTo>
                  <a:lnTo>
                    <a:pt x="85241" y="149162"/>
                  </a:lnTo>
                  <a:cubicBezTo>
                    <a:pt x="89686" y="154115"/>
                    <a:pt x="89305" y="161989"/>
                    <a:pt x="84098" y="166434"/>
                  </a:cubicBezTo>
                  <a:cubicBezTo>
                    <a:pt x="81812" y="168466"/>
                    <a:pt x="79018" y="169482"/>
                    <a:pt x="76097" y="16948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031127" y="348383"/>
              <a:ext cx="98688" cy="169398"/>
            </a:xfrm>
            <a:custGeom>
              <a:avLst/>
              <a:gdLst/>
              <a:ahLst/>
              <a:cxnLst/>
              <a:rect r="r" b="b" t="t" l="l"/>
              <a:pathLst>
                <a:path h="169398" w="98688">
                  <a:moveTo>
                    <a:pt x="12305" y="169397"/>
                  </a:moveTo>
                  <a:cubicBezTo>
                    <a:pt x="9130" y="169397"/>
                    <a:pt x="5955" y="168127"/>
                    <a:pt x="3542" y="165714"/>
                  </a:cubicBezTo>
                  <a:cubicBezTo>
                    <a:pt x="-1284" y="160888"/>
                    <a:pt x="-1157" y="153141"/>
                    <a:pt x="3796" y="148442"/>
                  </a:cubicBezTo>
                  <a:lnTo>
                    <a:pt x="69582" y="84053"/>
                  </a:lnTo>
                  <a:lnTo>
                    <a:pt x="13448" y="20299"/>
                  </a:lnTo>
                  <a:cubicBezTo>
                    <a:pt x="9003" y="15346"/>
                    <a:pt x="9384" y="7472"/>
                    <a:pt x="14591" y="3027"/>
                  </a:cubicBezTo>
                  <a:cubicBezTo>
                    <a:pt x="19798" y="-1418"/>
                    <a:pt x="27418" y="-910"/>
                    <a:pt x="31863" y="4170"/>
                  </a:cubicBezTo>
                  <a:lnTo>
                    <a:pt x="95617" y="76560"/>
                  </a:lnTo>
                  <a:cubicBezTo>
                    <a:pt x="99935" y="81386"/>
                    <a:pt x="99681" y="88752"/>
                    <a:pt x="94982" y="93451"/>
                  </a:cubicBezTo>
                  <a:lnTo>
                    <a:pt x="20814" y="165841"/>
                  </a:lnTo>
                  <a:cubicBezTo>
                    <a:pt x="18655" y="168127"/>
                    <a:pt x="15480" y="169270"/>
                    <a:pt x="12432" y="16927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365010" y="321669"/>
              <a:ext cx="98689" cy="169441"/>
            </a:xfrm>
            <a:custGeom>
              <a:avLst/>
              <a:gdLst/>
              <a:ahLst/>
              <a:cxnLst/>
              <a:rect r="r" b="b" t="t" l="l"/>
              <a:pathLst>
                <a:path h="169441" w="98689">
                  <a:moveTo>
                    <a:pt x="12304" y="169441"/>
                  </a:moveTo>
                  <a:cubicBezTo>
                    <a:pt x="9129" y="169441"/>
                    <a:pt x="5954" y="168171"/>
                    <a:pt x="3541" y="165758"/>
                  </a:cubicBezTo>
                  <a:cubicBezTo>
                    <a:pt x="-1285" y="160932"/>
                    <a:pt x="-1158" y="153185"/>
                    <a:pt x="3795" y="148486"/>
                  </a:cubicBezTo>
                  <a:lnTo>
                    <a:pt x="69581" y="84097"/>
                  </a:lnTo>
                  <a:lnTo>
                    <a:pt x="13447" y="20343"/>
                  </a:lnTo>
                  <a:cubicBezTo>
                    <a:pt x="9002" y="15390"/>
                    <a:pt x="9510" y="7516"/>
                    <a:pt x="14590" y="3071"/>
                  </a:cubicBezTo>
                  <a:cubicBezTo>
                    <a:pt x="19670" y="-1374"/>
                    <a:pt x="27417" y="-993"/>
                    <a:pt x="31862" y="4214"/>
                  </a:cubicBezTo>
                  <a:lnTo>
                    <a:pt x="95616" y="76604"/>
                  </a:lnTo>
                  <a:cubicBezTo>
                    <a:pt x="99934" y="81430"/>
                    <a:pt x="99680" y="88796"/>
                    <a:pt x="94981" y="93495"/>
                  </a:cubicBezTo>
                  <a:lnTo>
                    <a:pt x="20813" y="165885"/>
                  </a:lnTo>
                  <a:cubicBezTo>
                    <a:pt x="18654" y="168044"/>
                    <a:pt x="15606" y="169314"/>
                    <a:pt x="12431" y="16931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478152" y="488443"/>
              <a:ext cx="164592" cy="24384"/>
            </a:xfrm>
            <a:custGeom>
              <a:avLst/>
              <a:gdLst/>
              <a:ahLst/>
              <a:cxnLst/>
              <a:rect r="r" b="b" t="t" l="l"/>
              <a:pathLst>
                <a:path h="24384" w="164592">
                  <a:moveTo>
                    <a:pt x="152400" y="24384"/>
                  </a:moveTo>
                  <a:lnTo>
                    <a:pt x="12192" y="24384"/>
                  </a:lnTo>
                  <a:cubicBezTo>
                    <a:pt x="5461" y="24384"/>
                    <a:pt x="0" y="18923"/>
                    <a:pt x="0" y="12192"/>
                  </a:cubicBezTo>
                  <a:cubicBezTo>
                    <a:pt x="0" y="5461"/>
                    <a:pt x="5461" y="0"/>
                    <a:pt x="12192" y="0"/>
                  </a:cubicBezTo>
                  <a:lnTo>
                    <a:pt x="152400" y="0"/>
                  </a:lnTo>
                  <a:cubicBezTo>
                    <a:pt x="159131" y="0"/>
                    <a:pt x="164592" y="5461"/>
                    <a:pt x="164592" y="12192"/>
                  </a:cubicBezTo>
                  <a:cubicBezTo>
                    <a:pt x="164592" y="18923"/>
                    <a:pt x="159131" y="24384"/>
                    <a:pt x="152400" y="2438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84117" y="253689"/>
              <a:ext cx="58915" cy="325178"/>
            </a:xfrm>
            <a:custGeom>
              <a:avLst/>
              <a:gdLst/>
              <a:ahLst/>
              <a:cxnLst/>
              <a:rect r="r" b="b" t="t" l="l"/>
              <a:pathLst>
                <a:path h="325178" w="58915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460" y="-577"/>
                    <a:pt x="48064" y="58"/>
                  </a:cubicBezTo>
                  <a:cubicBezTo>
                    <a:pt x="54668" y="693"/>
                    <a:pt x="59494" y="6916"/>
                    <a:pt x="58859" y="13647"/>
                  </a:cubicBezTo>
                  <a:lnTo>
                    <a:pt x="24569" y="314256"/>
                  </a:lnTo>
                  <a:cubicBezTo>
                    <a:pt x="23807" y="320606"/>
                    <a:pt x="18600" y="325178"/>
                    <a:pt x="12504" y="32517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505968" y="320549"/>
              <a:ext cx="68580" cy="225680"/>
            </a:xfrm>
            <a:custGeom>
              <a:avLst/>
              <a:gdLst/>
              <a:ahLst/>
              <a:cxnLst/>
              <a:rect r="r" b="b" t="t" l="l"/>
              <a:pathLst>
                <a:path h="225680" w="68580">
                  <a:moveTo>
                    <a:pt x="0" y="206883"/>
                  </a:moveTo>
                  <a:cubicBezTo>
                    <a:pt x="11684" y="202692"/>
                    <a:pt x="17653" y="191643"/>
                    <a:pt x="17907" y="173482"/>
                  </a:cubicBezTo>
                  <a:lnTo>
                    <a:pt x="17907" y="148971"/>
                  </a:lnTo>
                  <a:cubicBezTo>
                    <a:pt x="17907" y="131699"/>
                    <a:pt x="25019" y="119507"/>
                    <a:pt x="38989" y="112776"/>
                  </a:cubicBezTo>
                  <a:cubicBezTo>
                    <a:pt x="24892" y="106045"/>
                    <a:pt x="17907" y="93726"/>
                    <a:pt x="17907" y="76073"/>
                  </a:cubicBezTo>
                  <a:lnTo>
                    <a:pt x="17907" y="51943"/>
                  </a:lnTo>
                  <a:cubicBezTo>
                    <a:pt x="17526" y="34036"/>
                    <a:pt x="11557" y="22860"/>
                    <a:pt x="0" y="18542"/>
                  </a:cubicBezTo>
                  <a:lnTo>
                    <a:pt x="6477" y="0"/>
                  </a:lnTo>
                  <a:cubicBezTo>
                    <a:pt x="20320" y="3937"/>
                    <a:pt x="30607" y="10160"/>
                    <a:pt x="37465" y="18796"/>
                  </a:cubicBezTo>
                  <a:cubicBezTo>
                    <a:pt x="44323" y="27432"/>
                    <a:pt x="47879" y="38989"/>
                    <a:pt x="48006" y="53086"/>
                  </a:cubicBezTo>
                  <a:lnTo>
                    <a:pt x="48006" y="77851"/>
                  </a:lnTo>
                  <a:cubicBezTo>
                    <a:pt x="48387" y="93091"/>
                    <a:pt x="55245" y="100838"/>
                    <a:pt x="68580" y="100838"/>
                  </a:cubicBezTo>
                  <a:lnTo>
                    <a:pt x="68580" y="124714"/>
                  </a:lnTo>
                  <a:cubicBezTo>
                    <a:pt x="54864" y="124714"/>
                    <a:pt x="48006" y="132715"/>
                    <a:pt x="48006" y="148844"/>
                  </a:cubicBezTo>
                  <a:lnTo>
                    <a:pt x="48006" y="173863"/>
                  </a:lnTo>
                  <a:cubicBezTo>
                    <a:pt x="47371" y="200787"/>
                    <a:pt x="33655" y="218059"/>
                    <a:pt x="6477" y="225679"/>
                  </a:cubicBezTo>
                  <a:lnTo>
                    <a:pt x="0" y="207010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257429" y="324867"/>
              <a:ext cx="68580" cy="225426"/>
            </a:xfrm>
            <a:custGeom>
              <a:avLst/>
              <a:gdLst/>
              <a:ahLst/>
              <a:cxnLst/>
              <a:rect r="r" b="b" t="t" l="l"/>
              <a:pathLst>
                <a:path h="225426" w="68580">
                  <a:moveTo>
                    <a:pt x="68580" y="18669"/>
                  </a:moveTo>
                  <a:cubicBezTo>
                    <a:pt x="56896" y="22860"/>
                    <a:pt x="50927" y="33909"/>
                    <a:pt x="50673" y="52070"/>
                  </a:cubicBezTo>
                  <a:lnTo>
                    <a:pt x="50673" y="76454"/>
                  </a:lnTo>
                  <a:cubicBezTo>
                    <a:pt x="50673" y="93726"/>
                    <a:pt x="43561" y="105918"/>
                    <a:pt x="29591" y="112649"/>
                  </a:cubicBezTo>
                  <a:cubicBezTo>
                    <a:pt x="43688" y="119380"/>
                    <a:pt x="50673" y="131699"/>
                    <a:pt x="50673" y="149352"/>
                  </a:cubicBezTo>
                  <a:lnTo>
                    <a:pt x="50673" y="173482"/>
                  </a:lnTo>
                  <a:cubicBezTo>
                    <a:pt x="51054" y="191389"/>
                    <a:pt x="57023" y="202565"/>
                    <a:pt x="68580" y="206883"/>
                  </a:cubicBezTo>
                  <a:lnTo>
                    <a:pt x="62103" y="225425"/>
                  </a:lnTo>
                  <a:cubicBezTo>
                    <a:pt x="48260" y="221488"/>
                    <a:pt x="37973" y="215265"/>
                    <a:pt x="31115" y="206629"/>
                  </a:cubicBezTo>
                  <a:cubicBezTo>
                    <a:pt x="24257" y="197993"/>
                    <a:pt x="20701" y="186436"/>
                    <a:pt x="20574" y="172339"/>
                  </a:cubicBezTo>
                  <a:lnTo>
                    <a:pt x="20574" y="147828"/>
                  </a:lnTo>
                  <a:cubicBezTo>
                    <a:pt x="20193" y="132588"/>
                    <a:pt x="13335" y="124841"/>
                    <a:pt x="0" y="124841"/>
                  </a:cubicBezTo>
                  <a:lnTo>
                    <a:pt x="0" y="100965"/>
                  </a:lnTo>
                  <a:cubicBezTo>
                    <a:pt x="13716" y="100965"/>
                    <a:pt x="20574" y="92964"/>
                    <a:pt x="20574" y="76835"/>
                  </a:cubicBezTo>
                  <a:lnTo>
                    <a:pt x="20574" y="51816"/>
                  </a:lnTo>
                  <a:cubicBezTo>
                    <a:pt x="21209" y="24892"/>
                    <a:pt x="34925" y="7620"/>
                    <a:pt x="62103" y="0"/>
                  </a:cubicBezTo>
                  <a:lnTo>
                    <a:pt x="68580" y="18669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887600" y="252985"/>
              <a:ext cx="345186" cy="344933"/>
            </a:xfrm>
            <a:custGeom>
              <a:avLst/>
              <a:gdLst/>
              <a:ahLst/>
              <a:cxnLst/>
              <a:rect r="r" b="b" t="t" l="l"/>
              <a:pathLst>
                <a:path h="344933" w="345186">
                  <a:moveTo>
                    <a:pt x="345186" y="172466"/>
                  </a:moveTo>
                  <a:cubicBezTo>
                    <a:pt x="231775" y="205105"/>
                    <a:pt x="205232" y="231521"/>
                    <a:pt x="172593" y="344932"/>
                  </a:cubicBezTo>
                  <a:cubicBezTo>
                    <a:pt x="139954" y="231521"/>
                    <a:pt x="113538" y="204978"/>
                    <a:pt x="0" y="172466"/>
                  </a:cubicBezTo>
                  <a:cubicBezTo>
                    <a:pt x="113411" y="139827"/>
                    <a:pt x="139954" y="113411"/>
                    <a:pt x="172593" y="0"/>
                  </a:cubicBezTo>
                  <a:cubicBezTo>
                    <a:pt x="205232" y="113411"/>
                    <a:pt x="231648" y="139827"/>
                    <a:pt x="345186" y="17246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2340228" cy="723394"/>
            </a:xfrm>
            <a:custGeom>
              <a:avLst/>
              <a:gdLst/>
              <a:ahLst/>
              <a:cxnLst/>
              <a:rect r="r" b="b" t="t" l="l"/>
              <a:pathLst>
                <a:path h="723394" w="2340228">
                  <a:moveTo>
                    <a:pt x="0" y="723394"/>
                  </a:moveTo>
                  <a:lnTo>
                    <a:pt x="2340228" y="723394"/>
                  </a:lnTo>
                  <a:lnTo>
                    <a:pt x="23402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6237010" y="965197"/>
            <a:ext cx="1087955" cy="1108072"/>
            <a:chOff x="0" y="0"/>
            <a:chExt cx="1087946" cy="110807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93166" y="69977"/>
              <a:ext cx="824734" cy="824230"/>
            </a:xfrm>
            <a:custGeom>
              <a:avLst/>
              <a:gdLst/>
              <a:ahLst/>
              <a:cxnLst/>
              <a:rect r="r" b="b" t="t" l="l"/>
              <a:pathLst>
                <a:path h="824230" w="824734">
                  <a:moveTo>
                    <a:pt x="0" y="0"/>
                  </a:moveTo>
                  <a:lnTo>
                    <a:pt x="824734" y="0"/>
                  </a:lnTo>
                  <a:lnTo>
                    <a:pt x="824734" y="824230"/>
                  </a:lnTo>
                  <a:lnTo>
                    <a:pt x="0" y="824230"/>
                  </a:lnTo>
                  <a:close/>
                </a:path>
              </a:pathLst>
            </a:custGeom>
            <a:solidFill>
              <a:srgbClr val="E3DAC5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186562" y="63500"/>
              <a:ext cx="837815" cy="837311"/>
            </a:xfrm>
            <a:custGeom>
              <a:avLst/>
              <a:gdLst/>
              <a:ahLst/>
              <a:cxnLst/>
              <a:rect r="r" b="b" t="t" l="l"/>
              <a:pathLst>
                <a:path h="837311" w="837815">
                  <a:moveTo>
                    <a:pt x="831338" y="837311"/>
                  </a:moveTo>
                  <a:lnTo>
                    <a:pt x="6604" y="837311"/>
                  </a:lnTo>
                  <a:cubicBezTo>
                    <a:pt x="3048" y="837311"/>
                    <a:pt x="0" y="834390"/>
                    <a:pt x="0" y="830834"/>
                  </a:cubicBezTo>
                  <a:lnTo>
                    <a:pt x="0" y="6477"/>
                  </a:lnTo>
                  <a:cubicBezTo>
                    <a:pt x="0" y="2921"/>
                    <a:pt x="2921" y="0"/>
                    <a:pt x="6604" y="0"/>
                  </a:cubicBezTo>
                  <a:lnTo>
                    <a:pt x="831338" y="0"/>
                  </a:lnTo>
                  <a:cubicBezTo>
                    <a:pt x="834894" y="0"/>
                    <a:pt x="837815" y="2921"/>
                    <a:pt x="837815" y="6477"/>
                  </a:cubicBezTo>
                  <a:lnTo>
                    <a:pt x="837815" y="830707"/>
                  </a:lnTo>
                  <a:cubicBezTo>
                    <a:pt x="837815" y="834263"/>
                    <a:pt x="834894" y="837184"/>
                    <a:pt x="831338" y="837184"/>
                  </a:cubicBezTo>
                  <a:close/>
                  <a:moveTo>
                    <a:pt x="13208" y="824230"/>
                  </a:moveTo>
                  <a:lnTo>
                    <a:pt x="824861" y="824230"/>
                  </a:lnTo>
                  <a:lnTo>
                    <a:pt x="824861" y="13081"/>
                  </a:lnTo>
                  <a:lnTo>
                    <a:pt x="13208" y="13081"/>
                  </a:lnTo>
                  <a:lnTo>
                    <a:pt x="13208" y="82423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71374" y="533908"/>
              <a:ext cx="504696" cy="504444"/>
            </a:xfrm>
            <a:custGeom>
              <a:avLst/>
              <a:gdLst/>
              <a:ahLst/>
              <a:cxnLst/>
              <a:rect r="r" b="b" t="t" l="l"/>
              <a:pathLst>
                <a:path h="504444" w="504696">
                  <a:moveTo>
                    <a:pt x="0" y="0"/>
                  </a:moveTo>
                  <a:lnTo>
                    <a:pt x="504695" y="0"/>
                  </a:lnTo>
                  <a:lnTo>
                    <a:pt x="504695" y="504444"/>
                  </a:lnTo>
                  <a:lnTo>
                    <a:pt x="0" y="504444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64897" y="527431"/>
              <a:ext cx="517650" cy="517144"/>
            </a:xfrm>
            <a:custGeom>
              <a:avLst/>
              <a:gdLst/>
              <a:ahLst/>
              <a:cxnLst/>
              <a:rect r="r" b="b" t="t" l="l"/>
              <a:pathLst>
                <a:path h="517144" w="517650">
                  <a:moveTo>
                    <a:pt x="504695" y="12954"/>
                  </a:moveTo>
                  <a:lnTo>
                    <a:pt x="504695" y="504444"/>
                  </a:lnTo>
                  <a:lnTo>
                    <a:pt x="13081" y="504444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510921"/>
                  </a:lnTo>
                  <a:cubicBezTo>
                    <a:pt x="0" y="513842"/>
                    <a:pt x="1905" y="516255"/>
                    <a:pt x="4445" y="517144"/>
                  </a:cubicBezTo>
                  <a:lnTo>
                    <a:pt x="513204" y="517144"/>
                  </a:lnTo>
                  <a:cubicBezTo>
                    <a:pt x="515871" y="516255"/>
                    <a:pt x="517649" y="513842"/>
                    <a:pt x="517649" y="510921"/>
                  </a:cubicBezTo>
                  <a:lnTo>
                    <a:pt x="517649" y="6477"/>
                  </a:lnTo>
                  <a:cubicBezTo>
                    <a:pt x="517649" y="2921"/>
                    <a:pt x="514728" y="0"/>
                    <a:pt x="511172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237743" y="316611"/>
              <a:ext cx="555749" cy="549402"/>
            </a:xfrm>
            <a:custGeom>
              <a:avLst/>
              <a:gdLst/>
              <a:ahLst/>
              <a:cxnLst/>
              <a:rect r="r" b="b" t="t" l="l"/>
              <a:pathLst>
                <a:path h="549402" w="555749">
                  <a:moveTo>
                    <a:pt x="555749" y="0"/>
                  </a:moveTo>
                  <a:lnTo>
                    <a:pt x="376426" y="14097"/>
                  </a:lnTo>
                  <a:lnTo>
                    <a:pt x="426972" y="64643"/>
                  </a:lnTo>
                  <a:lnTo>
                    <a:pt x="0" y="491363"/>
                  </a:lnTo>
                  <a:lnTo>
                    <a:pt x="58039" y="549402"/>
                  </a:lnTo>
                  <a:lnTo>
                    <a:pt x="484884" y="122682"/>
                  </a:lnTo>
                  <a:lnTo>
                    <a:pt x="541398" y="179197"/>
                  </a:lnTo>
                  <a:lnTo>
                    <a:pt x="555495" y="0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231266" y="310245"/>
              <a:ext cx="568719" cy="562245"/>
            </a:xfrm>
            <a:custGeom>
              <a:avLst/>
              <a:gdLst/>
              <a:ahLst/>
              <a:cxnLst/>
              <a:rect r="r" b="b" t="t" l="l"/>
              <a:pathLst>
                <a:path h="562245" w="568719">
                  <a:moveTo>
                    <a:pt x="64643" y="562245"/>
                  </a:moveTo>
                  <a:cubicBezTo>
                    <a:pt x="62992" y="562245"/>
                    <a:pt x="61341" y="561610"/>
                    <a:pt x="59944" y="560340"/>
                  </a:cubicBezTo>
                  <a:lnTo>
                    <a:pt x="1905" y="502301"/>
                  </a:lnTo>
                  <a:cubicBezTo>
                    <a:pt x="635" y="501031"/>
                    <a:pt x="0" y="499380"/>
                    <a:pt x="0" y="497602"/>
                  </a:cubicBezTo>
                  <a:cubicBezTo>
                    <a:pt x="0" y="495824"/>
                    <a:pt x="762" y="494173"/>
                    <a:pt x="1905" y="492903"/>
                  </a:cubicBezTo>
                  <a:lnTo>
                    <a:pt x="424178" y="71136"/>
                  </a:lnTo>
                  <a:lnTo>
                    <a:pt x="378331" y="25162"/>
                  </a:lnTo>
                  <a:cubicBezTo>
                    <a:pt x="376553" y="23384"/>
                    <a:pt x="375918" y="20590"/>
                    <a:pt x="376807" y="18304"/>
                  </a:cubicBezTo>
                  <a:cubicBezTo>
                    <a:pt x="377696" y="16018"/>
                    <a:pt x="379855" y="14240"/>
                    <a:pt x="382395" y="14113"/>
                  </a:cubicBezTo>
                  <a:lnTo>
                    <a:pt x="561591" y="16"/>
                  </a:lnTo>
                  <a:cubicBezTo>
                    <a:pt x="563369" y="-111"/>
                    <a:pt x="565401" y="524"/>
                    <a:pt x="566798" y="1921"/>
                  </a:cubicBezTo>
                  <a:cubicBezTo>
                    <a:pt x="568195" y="3318"/>
                    <a:pt x="568830" y="5096"/>
                    <a:pt x="568703" y="7128"/>
                  </a:cubicBezTo>
                  <a:lnTo>
                    <a:pt x="554606" y="186198"/>
                  </a:lnTo>
                  <a:cubicBezTo>
                    <a:pt x="554352" y="188738"/>
                    <a:pt x="552701" y="190897"/>
                    <a:pt x="550415" y="191786"/>
                  </a:cubicBezTo>
                  <a:cubicBezTo>
                    <a:pt x="548129" y="192675"/>
                    <a:pt x="545335" y="192040"/>
                    <a:pt x="543557" y="190262"/>
                  </a:cubicBezTo>
                  <a:lnTo>
                    <a:pt x="491615" y="138446"/>
                  </a:lnTo>
                  <a:lnTo>
                    <a:pt x="69342" y="560467"/>
                  </a:lnTo>
                  <a:cubicBezTo>
                    <a:pt x="67945" y="561610"/>
                    <a:pt x="66294" y="562245"/>
                    <a:pt x="64643" y="562245"/>
                  </a:cubicBezTo>
                  <a:close/>
                  <a:moveTo>
                    <a:pt x="15748" y="497729"/>
                  </a:moveTo>
                  <a:lnTo>
                    <a:pt x="64516" y="546497"/>
                  </a:lnTo>
                  <a:lnTo>
                    <a:pt x="486916" y="124476"/>
                  </a:lnTo>
                  <a:cubicBezTo>
                    <a:pt x="489456" y="121936"/>
                    <a:pt x="493647" y="121936"/>
                    <a:pt x="496187" y="124476"/>
                  </a:cubicBezTo>
                  <a:lnTo>
                    <a:pt x="542795" y="170958"/>
                  </a:lnTo>
                  <a:lnTo>
                    <a:pt x="555241" y="13605"/>
                  </a:lnTo>
                  <a:lnTo>
                    <a:pt x="397762" y="26051"/>
                  </a:lnTo>
                  <a:lnTo>
                    <a:pt x="438275" y="66691"/>
                  </a:lnTo>
                  <a:cubicBezTo>
                    <a:pt x="440815" y="69231"/>
                    <a:pt x="440815" y="73295"/>
                    <a:pt x="438275" y="75962"/>
                  </a:cubicBezTo>
                  <a:lnTo>
                    <a:pt x="15748" y="4977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71374" y="797179"/>
              <a:ext cx="241299" cy="241173"/>
            </a:xfrm>
            <a:custGeom>
              <a:avLst/>
              <a:gdLst/>
              <a:ahLst/>
              <a:cxnLst/>
              <a:rect r="r" b="b" t="t" l="l"/>
              <a:pathLst>
                <a:path h="241173" w="241299">
                  <a:moveTo>
                    <a:pt x="0" y="0"/>
                  </a:moveTo>
                  <a:lnTo>
                    <a:pt x="241299" y="0"/>
                  </a:lnTo>
                  <a:lnTo>
                    <a:pt x="241299" y="241173"/>
                  </a:lnTo>
                  <a:lnTo>
                    <a:pt x="0" y="241173"/>
                  </a:lnTo>
                  <a:close/>
                </a:path>
              </a:pathLst>
            </a:custGeom>
            <a:solidFill>
              <a:srgbClr val="5A7845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4897" y="790702"/>
              <a:ext cx="254253" cy="253873"/>
            </a:xfrm>
            <a:custGeom>
              <a:avLst/>
              <a:gdLst/>
              <a:ahLst/>
              <a:cxnLst/>
              <a:rect r="r" b="b" t="t" l="l"/>
              <a:pathLst>
                <a:path h="253873" w="254253">
                  <a:moveTo>
                    <a:pt x="241299" y="12954"/>
                  </a:moveTo>
                  <a:lnTo>
                    <a:pt x="241299" y="241173"/>
                  </a:lnTo>
                  <a:lnTo>
                    <a:pt x="13081" y="241173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247650"/>
                  </a:lnTo>
                  <a:cubicBezTo>
                    <a:pt x="0" y="250571"/>
                    <a:pt x="1905" y="252984"/>
                    <a:pt x="4445" y="253873"/>
                  </a:cubicBezTo>
                  <a:lnTo>
                    <a:pt x="249808" y="253873"/>
                  </a:lnTo>
                  <a:cubicBezTo>
                    <a:pt x="252474" y="252984"/>
                    <a:pt x="254253" y="250571"/>
                    <a:pt x="254253" y="247650"/>
                  </a:cubicBezTo>
                  <a:lnTo>
                    <a:pt x="254253" y="6477"/>
                  </a:lnTo>
                  <a:cubicBezTo>
                    <a:pt x="254253" y="2921"/>
                    <a:pt x="251332" y="0"/>
                    <a:pt x="24777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63500" y="63500"/>
              <a:ext cx="958845" cy="978408"/>
            </a:xfrm>
            <a:custGeom>
              <a:avLst/>
              <a:gdLst/>
              <a:ahLst/>
              <a:cxnLst/>
              <a:rect r="r" b="b" t="t" l="l"/>
              <a:pathLst>
                <a:path h="978408" w="958845">
                  <a:moveTo>
                    <a:pt x="0" y="978408"/>
                  </a:moveTo>
                  <a:lnTo>
                    <a:pt x="958845" y="978408"/>
                  </a:lnTo>
                  <a:lnTo>
                    <a:pt x="9588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36853" y="3868821"/>
            <a:ext cx="7153041" cy="2655806"/>
            <a:chOff x="0" y="0"/>
            <a:chExt cx="11659305" cy="432892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423271" y="3868821"/>
            <a:ext cx="7153041" cy="2655806"/>
            <a:chOff x="0" y="0"/>
            <a:chExt cx="11659305" cy="432892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4813373" y="689781"/>
            <a:ext cx="8834304" cy="2331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Atividade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431126" y="3170872"/>
            <a:ext cx="91640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36853" y="6700003"/>
            <a:ext cx="7153041" cy="2655806"/>
            <a:chOff x="0" y="0"/>
            <a:chExt cx="11659305" cy="432892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2725722" y="6946816"/>
            <a:ext cx="5327060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que fazer: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Serão dadas ações de um software genérico. Cada uma dessas ações deve ser colocada nas 3 arquiteturas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725722" y="4544259"/>
            <a:ext cx="524331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Separar em grupos: 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Se separem em grupos de até 3 pessoas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423271" y="6700003"/>
            <a:ext cx="7153041" cy="2655806"/>
            <a:chOff x="0" y="0"/>
            <a:chExt cx="11659305" cy="432892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10720539" y="6946816"/>
            <a:ext cx="5668871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Exemplo e Correção: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Tera um exemplo e leve resumo de cada uma arquiteturas. 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Ao final será corrigido em geral como cada uma deveria ter ficado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720539" y="4329946"/>
            <a:ext cx="5318274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Material: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Irão receber uma folha com 3 tipos de arquiteturas. Precisarão de lápis ou caneta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739517" y="6726115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3°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739517" y="3894933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1°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736312" y="3894933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2°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736312" y="6726115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4°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43250" y="302848"/>
            <a:ext cx="8148397" cy="9287962"/>
          </a:xfrm>
          <a:custGeom>
            <a:avLst/>
            <a:gdLst/>
            <a:ahLst/>
            <a:cxnLst/>
            <a:rect r="r" b="b" t="t" l="l"/>
            <a:pathLst>
              <a:path h="9287962" w="8148397">
                <a:moveTo>
                  <a:pt x="0" y="0"/>
                </a:moveTo>
                <a:lnTo>
                  <a:pt x="8148397" y="0"/>
                </a:lnTo>
                <a:lnTo>
                  <a:pt x="8148397" y="9287962"/>
                </a:lnTo>
                <a:lnTo>
                  <a:pt x="0" y="92879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50288" y="461402"/>
            <a:ext cx="9485850" cy="9017664"/>
          </a:xfrm>
          <a:custGeom>
            <a:avLst/>
            <a:gdLst/>
            <a:ahLst/>
            <a:cxnLst/>
            <a:rect r="r" b="b" t="t" l="l"/>
            <a:pathLst>
              <a:path h="9017664" w="9485850">
                <a:moveTo>
                  <a:pt x="0" y="0"/>
                </a:moveTo>
                <a:lnTo>
                  <a:pt x="9485850" y="0"/>
                </a:lnTo>
                <a:lnTo>
                  <a:pt x="9485850" y="9017664"/>
                </a:lnTo>
                <a:lnTo>
                  <a:pt x="0" y="90176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0912" y="2890385"/>
            <a:ext cx="17986175" cy="4202955"/>
          </a:xfrm>
          <a:custGeom>
            <a:avLst/>
            <a:gdLst/>
            <a:ahLst/>
            <a:cxnLst/>
            <a:rect r="r" b="b" t="t" l="l"/>
            <a:pathLst>
              <a:path h="4202955" w="17986175">
                <a:moveTo>
                  <a:pt x="0" y="0"/>
                </a:moveTo>
                <a:lnTo>
                  <a:pt x="17986176" y="0"/>
                </a:lnTo>
                <a:lnTo>
                  <a:pt x="17986176" y="4202956"/>
                </a:lnTo>
                <a:lnTo>
                  <a:pt x="0" y="42029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1034" y="1970578"/>
            <a:ext cx="17805932" cy="4874374"/>
          </a:xfrm>
          <a:custGeom>
            <a:avLst/>
            <a:gdLst/>
            <a:ahLst/>
            <a:cxnLst/>
            <a:rect r="r" b="b" t="t" l="l"/>
            <a:pathLst>
              <a:path h="4874374" w="17805932">
                <a:moveTo>
                  <a:pt x="0" y="0"/>
                </a:moveTo>
                <a:lnTo>
                  <a:pt x="17805932" y="0"/>
                </a:lnTo>
                <a:lnTo>
                  <a:pt x="17805932" y="4874374"/>
                </a:lnTo>
                <a:lnTo>
                  <a:pt x="0" y="48743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28962" y="624966"/>
            <a:ext cx="9832027" cy="9382626"/>
          </a:xfrm>
          <a:custGeom>
            <a:avLst/>
            <a:gdLst/>
            <a:ahLst/>
            <a:cxnLst/>
            <a:rect r="r" b="b" t="t" l="l"/>
            <a:pathLst>
              <a:path h="9382626" w="9832027">
                <a:moveTo>
                  <a:pt x="0" y="0"/>
                </a:moveTo>
                <a:lnTo>
                  <a:pt x="9832028" y="0"/>
                </a:lnTo>
                <a:lnTo>
                  <a:pt x="9832028" y="9382626"/>
                </a:lnTo>
                <a:lnTo>
                  <a:pt x="0" y="9382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44143" y="509748"/>
            <a:ext cx="9623518" cy="9267504"/>
          </a:xfrm>
          <a:custGeom>
            <a:avLst/>
            <a:gdLst/>
            <a:ahLst/>
            <a:cxnLst/>
            <a:rect r="r" b="b" t="t" l="l"/>
            <a:pathLst>
              <a:path h="9267504" w="9623518">
                <a:moveTo>
                  <a:pt x="0" y="0"/>
                </a:moveTo>
                <a:lnTo>
                  <a:pt x="9623518" y="0"/>
                </a:lnTo>
                <a:lnTo>
                  <a:pt x="9623518" y="9267504"/>
                </a:lnTo>
                <a:lnTo>
                  <a:pt x="0" y="92675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35702" y="3082273"/>
            <a:ext cx="13616597" cy="3145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0"/>
              </a:lnSpc>
            </a:pPr>
            <a:r>
              <a:rPr lang="en-US" b="true" sz="20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DAHV8IcQMeY</dc:identifier>
  <dcterms:modified xsi:type="dcterms:W3CDTF">2011-08-01T06:04:30Z</dcterms:modified>
  <cp:revision>1</cp:revision>
  <dc:title>Blue and Beige Bold Creative Brief Presentation.pdf</dc:title>
</cp:coreProperties>
</file>